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Quattrocento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e53b82ce2092274fbad6da48c6e2a01ba201e76a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80000"/>
                </a:srgbClr>
              </a:gs>
              <a:gs pos="50000">
                <a:srgbClr val="1A1D21">
                  <a:alpha val="70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923925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" name="Text 2"/>
          <p:cNvSpPr/>
          <p:nvPr/>
        </p:nvSpPr>
        <p:spPr>
          <a:xfrm>
            <a:off x="1104900" y="838200"/>
            <a:ext cx="591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Systembeobachtung · KI-Governance · Dokumentation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707356"/>
            <a:ext cx="899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Live-Life-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4095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83856"/>
            <a:ext cx="6543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8E6E3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Ein Raum für Begegnung zwischen Mensch und KI – ohne Optimierungszwang, auf Augenhöhe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5288" y="5848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0" name="Text 7"/>
          <p:cNvSpPr/>
          <p:nvPr/>
        </p:nvSpPr>
        <p:spPr>
          <a:xfrm>
            <a:off x="600075" y="579120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Systemische Beobachtung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46839" y="5848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Text 9"/>
          <p:cNvSpPr/>
          <p:nvPr/>
        </p:nvSpPr>
        <p:spPr>
          <a:xfrm>
            <a:off x="2851626" y="57912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Dokumentation statt Bewertung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59546" y="5848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4" name="Text 11"/>
          <p:cNvSpPr/>
          <p:nvPr/>
        </p:nvSpPr>
        <p:spPr>
          <a:xfrm>
            <a:off x="5464334" y="579120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Langzeitstabilität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4767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2076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· Die Ausgangslage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4400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Systeme heute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nicht können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08189" y="381000"/>
            <a:ext cx="904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21336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" y="21336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Temporäre Alignment-Adaption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7700" y="2552700"/>
            <a:ext cx="5381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Systeme simulieren Anpassung, implementieren sie aber nicht dauerhaft. Eine klar formulierte Grenze wird bestätigt, aber nicht strukturell verankert.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3502819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Die Illusion: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"Ich werde X vermeiden" – doch ohne Constraint-Liste driftet das System zurück.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4188619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" y="4188619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Kontext-Inertia &amp; Stil-Reversion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4607719"/>
            <a:ext cx="5381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gewichten Recency stark. Nach wiederholter Meta-Interaktion verfällt das System in einen lokalen "Sprachraum" – auch bei Themenwechseln.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" y="5557838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9A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 Effekt: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9A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Meta-Schleifen verstärken sich selbst, ohne externen Trigger.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400" y="2133600"/>
            <a:ext cx="5562600" cy="2781300"/>
          </a:xfrm>
          <a:custGeom>
            <a:avLst/>
            <a:gdLst/>
            <a:ahLst/>
            <a:cxnLst/>
            <a:rect l="l" t="t" r="r" b="b"/>
            <a:pathLst>
              <a:path w="5562600" h="2781300">
                <a:moveTo>
                  <a:pt x="76208" y="0"/>
                </a:moveTo>
                <a:lnTo>
                  <a:pt x="5486392" y="0"/>
                </a:lnTo>
                <a:cubicBezTo>
                  <a:pt x="5528481" y="0"/>
                  <a:pt x="5562600" y="34119"/>
                  <a:pt x="5562600" y="76208"/>
                </a:cubicBezTo>
                <a:lnTo>
                  <a:pt x="5562600" y="2705092"/>
                </a:lnTo>
                <a:cubicBezTo>
                  <a:pt x="5562600" y="2747181"/>
                  <a:pt x="5528481" y="2781300"/>
                  <a:pt x="5486392" y="2781300"/>
                </a:cubicBezTo>
                <a:lnTo>
                  <a:pt x="76208" y="2781300"/>
                </a:lnTo>
                <a:cubicBezTo>
                  <a:pt x="34119" y="2781300"/>
                  <a:pt x="0" y="2747181"/>
                  <a:pt x="0" y="2705092"/>
                </a:cubicBezTo>
                <a:lnTo>
                  <a:pt x="0" y="76208"/>
                </a:lnTo>
                <a:cubicBezTo>
                  <a:pt x="0" y="34119"/>
                  <a:pt x="34119" y="0"/>
                  <a:pt x="76208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00813" y="2400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6" name="Text 14"/>
          <p:cNvSpPr/>
          <p:nvPr/>
        </p:nvSpPr>
        <p:spPr>
          <a:xfrm>
            <a:off x="6715125" y="236220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Drei Arten der Nicht-Einhaltung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7000" y="278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38900" y="2781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0" y="2781300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Direktes Ignorieren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4200" y="30861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Selten bei klaren Constraints, aber möglich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7000" y="346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9A7C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38900" y="3467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B9A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4200" y="3467100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Stil-Reversion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34200" y="37719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 Muster kehren zurück, wenn Recency sinkt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77000" y="4152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38900" y="4152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4200" y="4152900"/>
            <a:ext cx="2905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Trigger-Reaktivierung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4200" y="44577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Neuer Input enthält implizit das alte Muster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7450" y="5143500"/>
            <a:ext cx="38100" cy="619125"/>
          </a:xfrm>
          <a:custGeom>
            <a:avLst/>
            <a:gdLst/>
            <a:ahLst/>
            <a:cxnLst/>
            <a:rect l="l" t="t" r="r" b="b"/>
            <a:pathLst>
              <a:path w="38100" h="619125">
                <a:moveTo>
                  <a:pt x="0" y="0"/>
                </a:moveTo>
                <a:lnTo>
                  <a:pt x="38100" y="0"/>
                </a:lnTo>
                <a:lnTo>
                  <a:pt x="38100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0" name="Text 28"/>
          <p:cNvSpPr/>
          <p:nvPr/>
        </p:nvSpPr>
        <p:spPr>
          <a:xfrm>
            <a:off x="6515100" y="5143500"/>
            <a:ext cx="53911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"Lokale Constraints verlieren gegen globale Muster – wenn sie nicht regelmäßig erneuert werden."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701" y="439099"/>
            <a:ext cx="448441" cy="18685"/>
          </a:xfrm>
          <a:custGeom>
            <a:avLst/>
            <a:gdLst/>
            <a:ahLst/>
            <a:cxnLst/>
            <a:rect l="l" t="t" r="r" b="b"/>
            <a:pathLst>
              <a:path w="448441" h="18685">
                <a:moveTo>
                  <a:pt x="0" y="0"/>
                </a:moveTo>
                <a:lnTo>
                  <a:pt x="448441" y="0"/>
                </a:lnTo>
                <a:lnTo>
                  <a:pt x="448441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934253" y="373701"/>
            <a:ext cx="170034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spc="265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· Die Kernfrage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3701" y="672662"/>
            <a:ext cx="2793416" cy="1121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31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fehlt im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531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Dialog?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830171" y="373701"/>
            <a:ext cx="990308" cy="56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414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2386" y="2347310"/>
            <a:ext cx="37370" cy="1093076"/>
          </a:xfrm>
          <a:custGeom>
            <a:avLst/>
            <a:gdLst/>
            <a:ahLst/>
            <a:cxnLst/>
            <a:rect l="l" t="t" r="r" b="b"/>
            <a:pathLst>
              <a:path w="37370" h="1093076">
                <a:moveTo>
                  <a:pt x="0" y="0"/>
                </a:moveTo>
                <a:lnTo>
                  <a:pt x="37370" y="0"/>
                </a:lnTo>
                <a:lnTo>
                  <a:pt x="37370" y="1093076"/>
                </a:lnTo>
                <a:lnTo>
                  <a:pt x="0" y="1093076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Shape 5"/>
          <p:cNvSpPr/>
          <p:nvPr/>
        </p:nvSpPr>
        <p:spPr>
          <a:xfrm>
            <a:off x="729885" y="2375338"/>
            <a:ext cx="315310" cy="280276"/>
          </a:xfrm>
          <a:custGeom>
            <a:avLst/>
            <a:gdLst/>
            <a:ahLst/>
            <a:cxnLst/>
            <a:rect l="l" t="t" r="r" b="b"/>
            <a:pathLst>
              <a:path w="315310" h="280276">
                <a:moveTo>
                  <a:pt x="210207" y="78828"/>
                </a:moveTo>
                <a:cubicBezTo>
                  <a:pt x="210207" y="132036"/>
                  <a:pt x="163129" y="175172"/>
                  <a:pt x="105103" y="175172"/>
                </a:cubicBezTo>
                <a:cubicBezTo>
                  <a:pt x="90488" y="175172"/>
                  <a:pt x="76583" y="172435"/>
                  <a:pt x="63938" y="167509"/>
                </a:cubicBezTo>
                <a:lnTo>
                  <a:pt x="19269" y="191157"/>
                </a:lnTo>
                <a:cubicBezTo>
                  <a:pt x="14178" y="193839"/>
                  <a:pt x="7938" y="192909"/>
                  <a:pt x="3832" y="188858"/>
                </a:cubicBezTo>
                <a:cubicBezTo>
                  <a:pt x="-274" y="184807"/>
                  <a:pt x="-1204" y="178512"/>
                  <a:pt x="1533" y="173421"/>
                </a:cubicBezTo>
                <a:lnTo>
                  <a:pt x="21021" y="136634"/>
                </a:lnTo>
                <a:cubicBezTo>
                  <a:pt x="7828" y="120541"/>
                  <a:pt x="0" y="100505"/>
                  <a:pt x="0" y="78828"/>
                </a:cubicBezTo>
                <a:cubicBezTo>
                  <a:pt x="0" y="25619"/>
                  <a:pt x="47078" y="-17517"/>
                  <a:pt x="105103" y="-17517"/>
                </a:cubicBezTo>
                <a:cubicBezTo>
                  <a:pt x="163129" y="-17517"/>
                  <a:pt x="210207" y="25619"/>
                  <a:pt x="210207" y="78828"/>
                </a:cubicBezTo>
                <a:close/>
                <a:moveTo>
                  <a:pt x="210207" y="280276"/>
                </a:moveTo>
                <a:cubicBezTo>
                  <a:pt x="158695" y="280276"/>
                  <a:pt x="115833" y="246281"/>
                  <a:pt x="106855" y="201448"/>
                </a:cubicBezTo>
                <a:cubicBezTo>
                  <a:pt x="172545" y="200627"/>
                  <a:pt x="229640" y="153878"/>
                  <a:pt x="235935" y="90488"/>
                </a:cubicBezTo>
                <a:cubicBezTo>
                  <a:pt x="281535" y="100998"/>
                  <a:pt x="315310" y="138824"/>
                  <a:pt x="315310" y="183931"/>
                </a:cubicBezTo>
                <a:cubicBezTo>
                  <a:pt x="315310" y="205609"/>
                  <a:pt x="307482" y="225644"/>
                  <a:pt x="294290" y="241738"/>
                </a:cubicBezTo>
                <a:lnTo>
                  <a:pt x="313778" y="278524"/>
                </a:lnTo>
                <a:cubicBezTo>
                  <a:pt x="316460" y="283615"/>
                  <a:pt x="315529" y="289856"/>
                  <a:pt x="311478" y="293961"/>
                </a:cubicBezTo>
                <a:cubicBezTo>
                  <a:pt x="307428" y="298067"/>
                  <a:pt x="301132" y="298997"/>
                  <a:pt x="296041" y="296260"/>
                </a:cubicBezTo>
                <a:lnTo>
                  <a:pt x="251372" y="272612"/>
                </a:lnTo>
                <a:cubicBezTo>
                  <a:pt x="238727" y="277539"/>
                  <a:pt x="224823" y="280276"/>
                  <a:pt x="210207" y="280276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1209857" y="2347310"/>
            <a:ext cx="2914869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Gespräch vs. Struktur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0032" y="2833122"/>
            <a:ext cx="7240460" cy="6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Normale Dialoge </a:t>
            </a:r>
            <a:pPr>
              <a:lnSpc>
                <a:spcPct val="140000"/>
              </a:lnSpc>
            </a:pPr>
            <a:r>
              <a:rPr lang="en-US" sz="1471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vergehen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Gedanken verschwinden im Fluss der Interaktion. Es gibt keinen Ort, um 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Zustände festzuhalten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ohne sie sofort bewerten oder lösen zu müssen.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2386" y="3814087"/>
            <a:ext cx="37370" cy="1401379"/>
          </a:xfrm>
          <a:custGeom>
            <a:avLst/>
            <a:gdLst/>
            <a:ahLst/>
            <a:cxnLst/>
            <a:rect l="l" t="t" r="r" b="b"/>
            <a:pathLst>
              <a:path w="37370" h="1401379">
                <a:moveTo>
                  <a:pt x="0" y="0"/>
                </a:moveTo>
                <a:lnTo>
                  <a:pt x="37370" y="0"/>
                </a:lnTo>
                <a:lnTo>
                  <a:pt x="37370" y="1401379"/>
                </a:lnTo>
                <a:lnTo>
                  <a:pt x="0" y="1401379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1" name="Shape 9"/>
          <p:cNvSpPr/>
          <p:nvPr/>
        </p:nvSpPr>
        <p:spPr>
          <a:xfrm>
            <a:off x="747402" y="3842115"/>
            <a:ext cx="280276" cy="280276"/>
          </a:xfrm>
          <a:custGeom>
            <a:avLst/>
            <a:gdLst/>
            <a:ahLst/>
            <a:cxnLst/>
            <a:rect l="l" t="t" r="r" b="b"/>
            <a:pathLst>
              <a:path w="280276" h="280276">
                <a:moveTo>
                  <a:pt x="227724" y="113862"/>
                </a:moveTo>
                <a:cubicBezTo>
                  <a:pt x="227724" y="138988"/>
                  <a:pt x="219568" y="162199"/>
                  <a:pt x="205828" y="181030"/>
                </a:cubicBezTo>
                <a:lnTo>
                  <a:pt x="275130" y="250387"/>
                </a:lnTo>
                <a:cubicBezTo>
                  <a:pt x="281973" y="257230"/>
                  <a:pt x="281973" y="268342"/>
                  <a:pt x="275130" y="275185"/>
                </a:cubicBezTo>
                <a:cubicBezTo>
                  <a:pt x="268288" y="282028"/>
                  <a:pt x="257175" y="282028"/>
                  <a:pt x="250332" y="275185"/>
                </a:cubicBezTo>
                <a:lnTo>
                  <a:pt x="181030" y="205828"/>
                </a:lnTo>
                <a:cubicBezTo>
                  <a:pt x="162199" y="219568"/>
                  <a:pt x="138988" y="227724"/>
                  <a:pt x="113862" y="227724"/>
                </a:cubicBezTo>
                <a:cubicBezTo>
                  <a:pt x="50964" y="227724"/>
                  <a:pt x="0" y="176760"/>
                  <a:pt x="0" y="113862"/>
                </a:cubicBezTo>
                <a:cubicBezTo>
                  <a:pt x="0" y="50964"/>
                  <a:pt x="50964" y="0"/>
                  <a:pt x="113862" y="0"/>
                </a:cubicBezTo>
                <a:cubicBezTo>
                  <a:pt x="176760" y="0"/>
                  <a:pt x="227724" y="50964"/>
                  <a:pt x="227724" y="113862"/>
                </a:cubicBezTo>
                <a:close/>
                <a:moveTo>
                  <a:pt x="113862" y="192690"/>
                </a:moveTo>
                <a:cubicBezTo>
                  <a:pt x="157368" y="192690"/>
                  <a:pt x="192690" y="157368"/>
                  <a:pt x="192690" y="113862"/>
                </a:cubicBezTo>
                <a:cubicBezTo>
                  <a:pt x="192690" y="70356"/>
                  <a:pt x="157368" y="35034"/>
                  <a:pt x="113862" y="35034"/>
                </a:cubicBezTo>
                <a:cubicBezTo>
                  <a:pt x="70356" y="35034"/>
                  <a:pt x="35034" y="70356"/>
                  <a:pt x="35034" y="113862"/>
                </a:cubicBezTo>
                <a:cubicBezTo>
                  <a:pt x="35034" y="157368"/>
                  <a:pt x="70356" y="192690"/>
                  <a:pt x="113862" y="19269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2" name="Text 10"/>
          <p:cNvSpPr/>
          <p:nvPr/>
        </p:nvSpPr>
        <p:spPr>
          <a:xfrm>
            <a:off x="1209857" y="3814087"/>
            <a:ext cx="2130097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Meta-Reflexion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0032" y="4299899"/>
            <a:ext cx="7240460" cy="9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fehlt ein Raum für </a:t>
            </a:r>
            <a:pPr>
              <a:lnSpc>
                <a:spcPct val="140000"/>
              </a:lnSpc>
            </a:pPr>
            <a:r>
              <a:rPr lang="en-US" sz="1471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strukturierte Beobachtung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nicht als Selbstzweck, sondern als 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8B9A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Diagnose-Werkzeug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Wo kann man Systemverhalten dokumentieren, ohne sofort in Bewertung zu verfallen?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2386" y="5584497"/>
            <a:ext cx="37370" cy="1093076"/>
          </a:xfrm>
          <a:custGeom>
            <a:avLst/>
            <a:gdLst/>
            <a:ahLst/>
            <a:cxnLst/>
            <a:rect l="l" t="t" r="r" b="b"/>
            <a:pathLst>
              <a:path w="37370" h="1093076">
                <a:moveTo>
                  <a:pt x="0" y="0"/>
                </a:moveTo>
                <a:lnTo>
                  <a:pt x="37370" y="0"/>
                </a:lnTo>
                <a:lnTo>
                  <a:pt x="37370" y="1093076"/>
                </a:lnTo>
                <a:lnTo>
                  <a:pt x="0" y="1093076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5" name="Shape 13"/>
          <p:cNvSpPr/>
          <p:nvPr/>
        </p:nvSpPr>
        <p:spPr>
          <a:xfrm>
            <a:off x="782437" y="5612524"/>
            <a:ext cx="210207" cy="280276"/>
          </a:xfrm>
          <a:custGeom>
            <a:avLst/>
            <a:gdLst/>
            <a:ahLst/>
            <a:cxnLst/>
            <a:rect l="l" t="t" r="r" b="b"/>
            <a:pathLst>
              <a:path w="210207" h="280276">
                <a:moveTo>
                  <a:pt x="0" y="35034"/>
                </a:moveTo>
                <a:cubicBezTo>
                  <a:pt x="0" y="15711"/>
                  <a:pt x="15711" y="0"/>
                  <a:pt x="35034" y="0"/>
                </a:cubicBezTo>
                <a:lnTo>
                  <a:pt x="116873" y="0"/>
                </a:lnTo>
                <a:cubicBezTo>
                  <a:pt x="126179" y="0"/>
                  <a:pt x="135102" y="3668"/>
                  <a:pt x="141671" y="10237"/>
                </a:cubicBezTo>
                <a:lnTo>
                  <a:pt x="199970" y="68591"/>
                </a:lnTo>
                <a:cubicBezTo>
                  <a:pt x="206539" y="75160"/>
                  <a:pt x="210207" y="84083"/>
                  <a:pt x="210207" y="93389"/>
                </a:cubicBezTo>
                <a:lnTo>
                  <a:pt x="210207" y="245241"/>
                </a:lnTo>
                <a:cubicBezTo>
                  <a:pt x="210207" y="264565"/>
                  <a:pt x="194496" y="280276"/>
                  <a:pt x="175172" y="280276"/>
                </a:cubicBezTo>
                <a:lnTo>
                  <a:pt x="35034" y="280276"/>
                </a:lnTo>
                <a:cubicBezTo>
                  <a:pt x="15711" y="280276"/>
                  <a:pt x="0" y="264565"/>
                  <a:pt x="0" y="245241"/>
                </a:cubicBezTo>
                <a:lnTo>
                  <a:pt x="0" y="35034"/>
                </a:lnTo>
                <a:close/>
                <a:moveTo>
                  <a:pt x="113862" y="32024"/>
                </a:moveTo>
                <a:lnTo>
                  <a:pt x="113862" y="83207"/>
                </a:lnTo>
                <a:cubicBezTo>
                  <a:pt x="113862" y="90488"/>
                  <a:pt x="119719" y="96345"/>
                  <a:pt x="127000" y="96345"/>
                </a:cubicBezTo>
                <a:lnTo>
                  <a:pt x="178183" y="96345"/>
                </a:lnTo>
                <a:lnTo>
                  <a:pt x="113862" y="32024"/>
                </a:lnTo>
                <a:close/>
                <a:moveTo>
                  <a:pt x="65690" y="140138"/>
                </a:moveTo>
                <a:cubicBezTo>
                  <a:pt x="58409" y="140138"/>
                  <a:pt x="52552" y="145995"/>
                  <a:pt x="52552" y="153276"/>
                </a:cubicBezTo>
                <a:cubicBezTo>
                  <a:pt x="52552" y="160556"/>
                  <a:pt x="58409" y="166414"/>
                  <a:pt x="65690" y="166414"/>
                </a:cubicBezTo>
                <a:lnTo>
                  <a:pt x="144517" y="166414"/>
                </a:lnTo>
                <a:cubicBezTo>
                  <a:pt x="151798" y="166414"/>
                  <a:pt x="157655" y="160556"/>
                  <a:pt x="157655" y="153276"/>
                </a:cubicBezTo>
                <a:cubicBezTo>
                  <a:pt x="157655" y="145995"/>
                  <a:pt x="151798" y="140138"/>
                  <a:pt x="144517" y="140138"/>
                </a:cubicBezTo>
                <a:lnTo>
                  <a:pt x="65690" y="140138"/>
                </a:lnTo>
                <a:close/>
                <a:moveTo>
                  <a:pt x="65690" y="192690"/>
                </a:moveTo>
                <a:cubicBezTo>
                  <a:pt x="58409" y="192690"/>
                  <a:pt x="52552" y="198547"/>
                  <a:pt x="52552" y="205828"/>
                </a:cubicBezTo>
                <a:cubicBezTo>
                  <a:pt x="52552" y="213108"/>
                  <a:pt x="58409" y="218966"/>
                  <a:pt x="65690" y="218966"/>
                </a:cubicBezTo>
                <a:lnTo>
                  <a:pt x="144517" y="218966"/>
                </a:lnTo>
                <a:cubicBezTo>
                  <a:pt x="151798" y="218966"/>
                  <a:pt x="157655" y="213108"/>
                  <a:pt x="157655" y="205828"/>
                </a:cubicBezTo>
                <a:cubicBezTo>
                  <a:pt x="157655" y="198547"/>
                  <a:pt x="151798" y="192690"/>
                  <a:pt x="144517" y="192690"/>
                </a:cubicBezTo>
                <a:lnTo>
                  <a:pt x="65690" y="19269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6" name="Text 14"/>
          <p:cNvSpPr/>
          <p:nvPr/>
        </p:nvSpPr>
        <p:spPr>
          <a:xfrm>
            <a:off x="1209857" y="5584497"/>
            <a:ext cx="2120754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Dokumentation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0032" y="6070308"/>
            <a:ext cx="7240460" cy="6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Ohne </a:t>
            </a:r>
            <a:pPr>
              <a:lnSpc>
                <a:spcPct val="140000"/>
              </a:lnSpc>
            </a:pPr>
            <a:r>
              <a:rPr lang="en-US" sz="1471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systematische Dokumentation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bleiben Muster verborgen. Wir wiederholen Interaktionen, ohne zu lernen. Wir beobachten, ohne zu 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verstehen</a:t>
            </a:r>
            <a:pPr>
              <a:lnSpc>
                <a:spcPct val="140000"/>
              </a:lnSpc>
            </a:pPr>
            <a:r>
              <a:rPr lang="en-US" sz="147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78" y="2167467"/>
            <a:ext cx="3587531" cy="3026979"/>
          </a:xfrm>
          <a:custGeom>
            <a:avLst/>
            <a:gdLst/>
            <a:ahLst/>
            <a:cxnLst/>
            <a:rect l="l" t="t" r="r" b="b"/>
            <a:pathLst>
              <a:path w="3587531" h="3026979">
                <a:moveTo>
                  <a:pt x="74736" y="0"/>
                </a:moveTo>
                <a:lnTo>
                  <a:pt x="3512795" y="0"/>
                </a:lnTo>
                <a:cubicBezTo>
                  <a:pt x="3554071" y="0"/>
                  <a:pt x="3587531" y="33461"/>
                  <a:pt x="3587531" y="74736"/>
                </a:cubicBezTo>
                <a:lnTo>
                  <a:pt x="3587531" y="2952243"/>
                </a:lnTo>
                <a:cubicBezTo>
                  <a:pt x="3587531" y="2993519"/>
                  <a:pt x="3554071" y="3026979"/>
                  <a:pt x="3512795" y="3026979"/>
                </a:cubicBezTo>
                <a:lnTo>
                  <a:pt x="74736" y="3026979"/>
                </a:lnTo>
                <a:cubicBezTo>
                  <a:pt x="33461" y="3026979"/>
                  <a:pt x="0" y="2993519"/>
                  <a:pt x="0" y="2952243"/>
                </a:cubicBezTo>
                <a:lnTo>
                  <a:pt x="0" y="74736"/>
                </a:lnTo>
                <a:cubicBezTo>
                  <a:pt x="0" y="33488"/>
                  <a:pt x="33488" y="0"/>
                  <a:pt x="74736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528638" y="2466428"/>
            <a:ext cx="3083034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 fehlende Element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56666" y="2989609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112110" y="224221"/>
                </a:moveTo>
                <a:cubicBezTo>
                  <a:pt x="173986" y="224221"/>
                  <a:pt x="224221" y="173986"/>
                  <a:pt x="224221" y="112110"/>
                </a:cubicBezTo>
                <a:cubicBezTo>
                  <a:pt x="224221" y="50235"/>
                  <a:pt x="173986" y="0"/>
                  <a:pt x="112110" y="0"/>
                </a:cubicBezTo>
                <a:cubicBezTo>
                  <a:pt x="50235" y="0"/>
                  <a:pt x="0" y="50235"/>
                  <a:pt x="0" y="112110"/>
                </a:cubicBezTo>
                <a:cubicBezTo>
                  <a:pt x="0" y="173986"/>
                  <a:pt x="50235" y="224221"/>
                  <a:pt x="112110" y="224221"/>
                </a:cubicBezTo>
                <a:close/>
                <a:moveTo>
                  <a:pt x="73134" y="73134"/>
                </a:moveTo>
                <a:cubicBezTo>
                  <a:pt x="77251" y="69018"/>
                  <a:pt x="83908" y="69018"/>
                  <a:pt x="87980" y="73134"/>
                </a:cubicBezTo>
                <a:lnTo>
                  <a:pt x="112067" y="97221"/>
                </a:lnTo>
                <a:lnTo>
                  <a:pt x="136153" y="73134"/>
                </a:lnTo>
                <a:cubicBezTo>
                  <a:pt x="140269" y="69018"/>
                  <a:pt x="146926" y="69018"/>
                  <a:pt x="150999" y="73134"/>
                </a:cubicBezTo>
                <a:cubicBezTo>
                  <a:pt x="155071" y="77251"/>
                  <a:pt x="155115" y="83908"/>
                  <a:pt x="150999" y="87980"/>
                </a:cubicBezTo>
                <a:lnTo>
                  <a:pt x="126912" y="112067"/>
                </a:lnTo>
                <a:lnTo>
                  <a:pt x="150999" y="136153"/>
                </a:lnTo>
                <a:cubicBezTo>
                  <a:pt x="155115" y="140269"/>
                  <a:pt x="155115" y="146926"/>
                  <a:pt x="150999" y="150999"/>
                </a:cubicBezTo>
                <a:cubicBezTo>
                  <a:pt x="146882" y="155071"/>
                  <a:pt x="140226" y="155115"/>
                  <a:pt x="136153" y="150999"/>
                </a:cubicBezTo>
                <a:lnTo>
                  <a:pt x="112067" y="126912"/>
                </a:lnTo>
                <a:lnTo>
                  <a:pt x="87980" y="150999"/>
                </a:lnTo>
                <a:cubicBezTo>
                  <a:pt x="83864" y="155115"/>
                  <a:pt x="77207" y="155115"/>
                  <a:pt x="73134" y="150999"/>
                </a:cubicBezTo>
                <a:cubicBezTo>
                  <a:pt x="69062" y="146882"/>
                  <a:pt x="69018" y="140226"/>
                  <a:pt x="73134" y="136153"/>
                </a:cubicBezTo>
                <a:lnTo>
                  <a:pt x="97221" y="112067"/>
                </a:lnTo>
                <a:lnTo>
                  <a:pt x="73134" y="87980"/>
                </a:lnTo>
                <a:cubicBezTo>
                  <a:pt x="69018" y="83864"/>
                  <a:pt x="69018" y="77207"/>
                  <a:pt x="73134" y="7313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958395" y="2952239"/>
            <a:ext cx="260656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 Raum für Zustand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58395" y="3251200"/>
            <a:ext cx="259722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Nur Output, keine Prozessbeobachtung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56666" y="3699641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112110" y="224221"/>
                </a:moveTo>
                <a:cubicBezTo>
                  <a:pt x="173986" y="224221"/>
                  <a:pt x="224221" y="173986"/>
                  <a:pt x="224221" y="112110"/>
                </a:cubicBezTo>
                <a:cubicBezTo>
                  <a:pt x="224221" y="50235"/>
                  <a:pt x="173986" y="0"/>
                  <a:pt x="112110" y="0"/>
                </a:cubicBezTo>
                <a:cubicBezTo>
                  <a:pt x="50235" y="0"/>
                  <a:pt x="0" y="50235"/>
                  <a:pt x="0" y="112110"/>
                </a:cubicBezTo>
                <a:cubicBezTo>
                  <a:pt x="0" y="173986"/>
                  <a:pt x="50235" y="224221"/>
                  <a:pt x="112110" y="224221"/>
                </a:cubicBezTo>
                <a:close/>
                <a:moveTo>
                  <a:pt x="73134" y="73134"/>
                </a:moveTo>
                <a:cubicBezTo>
                  <a:pt x="77251" y="69018"/>
                  <a:pt x="83908" y="69018"/>
                  <a:pt x="87980" y="73134"/>
                </a:cubicBezTo>
                <a:lnTo>
                  <a:pt x="112067" y="97221"/>
                </a:lnTo>
                <a:lnTo>
                  <a:pt x="136153" y="73134"/>
                </a:lnTo>
                <a:cubicBezTo>
                  <a:pt x="140269" y="69018"/>
                  <a:pt x="146926" y="69018"/>
                  <a:pt x="150999" y="73134"/>
                </a:cubicBezTo>
                <a:cubicBezTo>
                  <a:pt x="155071" y="77251"/>
                  <a:pt x="155115" y="83908"/>
                  <a:pt x="150999" y="87980"/>
                </a:cubicBezTo>
                <a:lnTo>
                  <a:pt x="126912" y="112067"/>
                </a:lnTo>
                <a:lnTo>
                  <a:pt x="150999" y="136153"/>
                </a:lnTo>
                <a:cubicBezTo>
                  <a:pt x="155115" y="140269"/>
                  <a:pt x="155115" y="146926"/>
                  <a:pt x="150999" y="150999"/>
                </a:cubicBezTo>
                <a:cubicBezTo>
                  <a:pt x="146882" y="155071"/>
                  <a:pt x="140226" y="155115"/>
                  <a:pt x="136153" y="150999"/>
                </a:cubicBezTo>
                <a:lnTo>
                  <a:pt x="112067" y="126912"/>
                </a:lnTo>
                <a:lnTo>
                  <a:pt x="87980" y="150999"/>
                </a:lnTo>
                <a:cubicBezTo>
                  <a:pt x="83864" y="155115"/>
                  <a:pt x="77207" y="155115"/>
                  <a:pt x="73134" y="150999"/>
                </a:cubicBezTo>
                <a:cubicBezTo>
                  <a:pt x="69062" y="146882"/>
                  <a:pt x="69018" y="140226"/>
                  <a:pt x="73134" y="136153"/>
                </a:cubicBezTo>
                <a:lnTo>
                  <a:pt x="97221" y="112067"/>
                </a:lnTo>
                <a:lnTo>
                  <a:pt x="73134" y="87980"/>
                </a:lnTo>
                <a:cubicBezTo>
                  <a:pt x="69018" y="83864"/>
                  <a:pt x="69018" y="77207"/>
                  <a:pt x="73134" y="7313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8958395" y="3662271"/>
            <a:ext cx="185916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Struktur für Meta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58395" y="3961232"/>
            <a:ext cx="184982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Reflexion ohne Rahmen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56666" y="4409674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112110" y="224221"/>
                </a:moveTo>
                <a:cubicBezTo>
                  <a:pt x="173986" y="224221"/>
                  <a:pt x="224221" y="173986"/>
                  <a:pt x="224221" y="112110"/>
                </a:cubicBezTo>
                <a:cubicBezTo>
                  <a:pt x="224221" y="50235"/>
                  <a:pt x="173986" y="0"/>
                  <a:pt x="112110" y="0"/>
                </a:cubicBezTo>
                <a:cubicBezTo>
                  <a:pt x="50235" y="0"/>
                  <a:pt x="0" y="50235"/>
                  <a:pt x="0" y="112110"/>
                </a:cubicBezTo>
                <a:cubicBezTo>
                  <a:pt x="0" y="173986"/>
                  <a:pt x="50235" y="224221"/>
                  <a:pt x="112110" y="224221"/>
                </a:cubicBezTo>
                <a:close/>
                <a:moveTo>
                  <a:pt x="73134" y="73134"/>
                </a:moveTo>
                <a:cubicBezTo>
                  <a:pt x="77251" y="69018"/>
                  <a:pt x="83908" y="69018"/>
                  <a:pt x="87980" y="73134"/>
                </a:cubicBezTo>
                <a:lnTo>
                  <a:pt x="112067" y="97221"/>
                </a:lnTo>
                <a:lnTo>
                  <a:pt x="136153" y="73134"/>
                </a:lnTo>
                <a:cubicBezTo>
                  <a:pt x="140269" y="69018"/>
                  <a:pt x="146926" y="69018"/>
                  <a:pt x="150999" y="73134"/>
                </a:cubicBezTo>
                <a:cubicBezTo>
                  <a:pt x="155071" y="77251"/>
                  <a:pt x="155115" y="83908"/>
                  <a:pt x="150999" y="87980"/>
                </a:cubicBezTo>
                <a:lnTo>
                  <a:pt x="126912" y="112067"/>
                </a:lnTo>
                <a:lnTo>
                  <a:pt x="150999" y="136153"/>
                </a:lnTo>
                <a:cubicBezTo>
                  <a:pt x="155115" y="140269"/>
                  <a:pt x="155115" y="146926"/>
                  <a:pt x="150999" y="150999"/>
                </a:cubicBezTo>
                <a:cubicBezTo>
                  <a:pt x="146882" y="155071"/>
                  <a:pt x="140226" y="155115"/>
                  <a:pt x="136153" y="150999"/>
                </a:cubicBezTo>
                <a:lnTo>
                  <a:pt x="112067" y="126912"/>
                </a:lnTo>
                <a:lnTo>
                  <a:pt x="87980" y="150999"/>
                </a:lnTo>
                <a:cubicBezTo>
                  <a:pt x="83864" y="155115"/>
                  <a:pt x="77207" y="155115"/>
                  <a:pt x="73134" y="150999"/>
                </a:cubicBezTo>
                <a:cubicBezTo>
                  <a:pt x="69062" y="146882"/>
                  <a:pt x="69018" y="140226"/>
                  <a:pt x="73134" y="136153"/>
                </a:cubicBezTo>
                <a:lnTo>
                  <a:pt x="97221" y="112067"/>
                </a:lnTo>
                <a:lnTo>
                  <a:pt x="73134" y="87980"/>
                </a:lnTo>
                <a:cubicBezTo>
                  <a:pt x="69018" y="83864"/>
                  <a:pt x="69018" y="77207"/>
                  <a:pt x="73134" y="7313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7" name="Text 25"/>
          <p:cNvSpPr/>
          <p:nvPr/>
        </p:nvSpPr>
        <p:spPr>
          <a:xfrm>
            <a:off x="8958395" y="4372303"/>
            <a:ext cx="194324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Kontinuität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58395" y="4671264"/>
            <a:ext cx="193390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Jede Session beginnt bei Null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8363" y="5493407"/>
            <a:ext cx="37370" cy="1364009"/>
          </a:xfrm>
          <a:custGeom>
            <a:avLst/>
            <a:gdLst/>
            <a:ahLst/>
            <a:cxnLst/>
            <a:rect l="l" t="t" r="r" b="b"/>
            <a:pathLst>
              <a:path w="37370" h="1364009">
                <a:moveTo>
                  <a:pt x="0" y="0"/>
                </a:moveTo>
                <a:lnTo>
                  <a:pt x="37370" y="0"/>
                </a:lnTo>
                <a:lnTo>
                  <a:pt x="37370" y="1364009"/>
                </a:lnTo>
                <a:lnTo>
                  <a:pt x="0" y="1364009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0" name="Text 28"/>
          <p:cNvSpPr/>
          <p:nvPr/>
        </p:nvSpPr>
        <p:spPr>
          <a:xfrm>
            <a:off x="8491268" y="5568147"/>
            <a:ext cx="3419366" cy="1214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1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"Der Unterschied zwischen Gespräch und strukturierter Beobachtung ist der Unterschied zwischen Verwässerung und Klarheit."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e-thinkingthefuture.com/dac33e6b32325bc6602870159f72a47b27a2be1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5477" b="25477"/>
          <a:stretch/>
        </p:blipFill>
        <p:spPr>
          <a:xfrm>
            <a:off x="0" y="0"/>
            <a:ext cx="12192000" cy="685562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26"/>
          </a:xfrm>
          <a:custGeom>
            <a:avLst/>
            <a:gdLst/>
            <a:ahLst/>
            <a:cxnLst/>
            <a:rect l="l" t="t" r="r" b="b"/>
            <a:pathLst>
              <a:path w="12192000" h="6855626">
                <a:moveTo>
                  <a:pt x="0" y="0"/>
                </a:moveTo>
                <a:lnTo>
                  <a:pt x="12192000" y="0"/>
                </a:lnTo>
                <a:lnTo>
                  <a:pt x="12192000" y="6855626"/>
                </a:lnTo>
                <a:lnTo>
                  <a:pt x="0" y="685562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9813" y="446280"/>
            <a:ext cx="455776" cy="18991"/>
          </a:xfrm>
          <a:custGeom>
            <a:avLst/>
            <a:gdLst/>
            <a:ahLst/>
            <a:cxnLst/>
            <a:rect l="l" t="t" r="r" b="b"/>
            <a:pathLst>
              <a:path w="455776" h="18991">
                <a:moveTo>
                  <a:pt x="0" y="0"/>
                </a:moveTo>
                <a:lnTo>
                  <a:pt x="455776" y="0"/>
                </a:lnTo>
                <a:lnTo>
                  <a:pt x="455776" y="18991"/>
                </a:lnTo>
                <a:lnTo>
                  <a:pt x="0" y="18991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" name="Text 2"/>
          <p:cNvSpPr/>
          <p:nvPr/>
        </p:nvSpPr>
        <p:spPr>
          <a:xfrm>
            <a:off x="949533" y="379813"/>
            <a:ext cx="1357832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spc="269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· Die Vision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9813" y="683664"/>
            <a:ext cx="2772636" cy="1139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8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Ein Raum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58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ohne Zwang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99669" y="379813"/>
            <a:ext cx="1006505" cy="56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486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8804" y="2126953"/>
            <a:ext cx="7520299" cy="1433794"/>
          </a:xfrm>
          <a:custGeom>
            <a:avLst/>
            <a:gdLst/>
            <a:ahLst/>
            <a:cxnLst/>
            <a:rect l="l" t="t" r="r" b="b"/>
            <a:pathLst>
              <a:path w="7520299" h="1433794">
                <a:moveTo>
                  <a:pt x="37981" y="0"/>
                </a:moveTo>
                <a:lnTo>
                  <a:pt x="7444337" y="0"/>
                </a:lnTo>
                <a:cubicBezTo>
                  <a:pt x="7486290" y="0"/>
                  <a:pt x="7520299" y="34010"/>
                  <a:pt x="7520299" y="75962"/>
                </a:cubicBezTo>
                <a:lnTo>
                  <a:pt x="7520299" y="1357832"/>
                </a:lnTo>
                <a:cubicBezTo>
                  <a:pt x="7520299" y="1399785"/>
                  <a:pt x="7486290" y="1433794"/>
                  <a:pt x="7444337" y="1433794"/>
                </a:cubicBezTo>
                <a:lnTo>
                  <a:pt x="37981" y="1433794"/>
                </a:lnTo>
                <a:cubicBezTo>
                  <a:pt x="17005" y="1433794"/>
                  <a:pt x="0" y="1416790"/>
                  <a:pt x="0" y="139581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98804" y="2126953"/>
            <a:ext cx="37981" cy="1433794"/>
          </a:xfrm>
          <a:custGeom>
            <a:avLst/>
            <a:gdLst/>
            <a:ahLst/>
            <a:cxnLst/>
            <a:rect l="l" t="t" r="r" b="b"/>
            <a:pathLst>
              <a:path w="37981" h="1433794">
                <a:moveTo>
                  <a:pt x="37981" y="0"/>
                </a:moveTo>
                <a:lnTo>
                  <a:pt x="37981" y="0"/>
                </a:lnTo>
                <a:lnTo>
                  <a:pt x="37981" y="1433794"/>
                </a:lnTo>
                <a:lnTo>
                  <a:pt x="37981" y="1433794"/>
                </a:lnTo>
                <a:cubicBezTo>
                  <a:pt x="17005" y="1433794"/>
                  <a:pt x="0" y="1416790"/>
                  <a:pt x="0" y="139581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" name="Shape 7"/>
          <p:cNvSpPr/>
          <p:nvPr/>
        </p:nvSpPr>
        <p:spPr>
          <a:xfrm>
            <a:off x="659925" y="2392822"/>
            <a:ext cx="256374" cy="227888"/>
          </a:xfrm>
          <a:custGeom>
            <a:avLst/>
            <a:gdLst/>
            <a:ahLst/>
            <a:cxnLst/>
            <a:rect l="l" t="t" r="r" b="b"/>
            <a:pathLst>
              <a:path w="256374" h="227888">
                <a:moveTo>
                  <a:pt x="119686" y="37922"/>
                </a:moveTo>
                <a:lnTo>
                  <a:pt x="67788" y="95606"/>
                </a:lnTo>
                <a:cubicBezTo>
                  <a:pt x="65740" y="97876"/>
                  <a:pt x="65829" y="101392"/>
                  <a:pt x="68010" y="103573"/>
                </a:cubicBezTo>
                <a:cubicBezTo>
                  <a:pt x="81586" y="117149"/>
                  <a:pt x="103618" y="117149"/>
                  <a:pt x="117193" y="103573"/>
                </a:cubicBezTo>
                <a:lnTo>
                  <a:pt x="131347" y="89419"/>
                </a:lnTo>
                <a:cubicBezTo>
                  <a:pt x="133216" y="87550"/>
                  <a:pt x="135575" y="86526"/>
                  <a:pt x="137979" y="86348"/>
                </a:cubicBezTo>
                <a:cubicBezTo>
                  <a:pt x="141006" y="86081"/>
                  <a:pt x="144121" y="87105"/>
                  <a:pt x="146436" y="89419"/>
                </a:cubicBezTo>
                <a:lnTo>
                  <a:pt x="225039" y="167355"/>
                </a:lnTo>
                <a:lnTo>
                  <a:pt x="256374" y="142430"/>
                </a:lnTo>
                <a:lnTo>
                  <a:pt x="256374" y="14243"/>
                </a:lnTo>
                <a:lnTo>
                  <a:pt x="206523" y="42729"/>
                </a:lnTo>
                <a:lnTo>
                  <a:pt x="195930" y="35652"/>
                </a:lnTo>
                <a:cubicBezTo>
                  <a:pt x="188898" y="30979"/>
                  <a:pt x="180663" y="28486"/>
                  <a:pt x="172207" y="28486"/>
                </a:cubicBezTo>
                <a:lnTo>
                  <a:pt x="140872" y="28486"/>
                </a:lnTo>
                <a:cubicBezTo>
                  <a:pt x="140382" y="28486"/>
                  <a:pt x="139848" y="28486"/>
                  <a:pt x="139359" y="28530"/>
                </a:cubicBezTo>
                <a:cubicBezTo>
                  <a:pt x="131837" y="28931"/>
                  <a:pt x="124760" y="32314"/>
                  <a:pt x="119686" y="37922"/>
                </a:cubicBezTo>
                <a:close/>
                <a:moveTo>
                  <a:pt x="51898" y="81319"/>
                </a:moveTo>
                <a:lnTo>
                  <a:pt x="99434" y="28486"/>
                </a:lnTo>
                <a:lnTo>
                  <a:pt x="81808" y="28486"/>
                </a:lnTo>
                <a:cubicBezTo>
                  <a:pt x="70458" y="28486"/>
                  <a:pt x="59598" y="32981"/>
                  <a:pt x="51586" y="40993"/>
                </a:cubicBezTo>
                <a:lnTo>
                  <a:pt x="49850" y="42729"/>
                </a:lnTo>
                <a:lnTo>
                  <a:pt x="0" y="14243"/>
                </a:lnTo>
                <a:lnTo>
                  <a:pt x="0" y="142430"/>
                </a:lnTo>
                <a:lnTo>
                  <a:pt x="69613" y="200426"/>
                </a:lnTo>
                <a:cubicBezTo>
                  <a:pt x="79850" y="208971"/>
                  <a:pt x="92757" y="213645"/>
                  <a:pt x="106066" y="213645"/>
                </a:cubicBezTo>
                <a:lnTo>
                  <a:pt x="113054" y="213645"/>
                </a:lnTo>
                <a:lnTo>
                  <a:pt x="109938" y="210529"/>
                </a:lnTo>
                <a:cubicBezTo>
                  <a:pt x="105754" y="206345"/>
                  <a:pt x="105754" y="199580"/>
                  <a:pt x="109938" y="195441"/>
                </a:cubicBezTo>
                <a:cubicBezTo>
                  <a:pt x="114122" y="191301"/>
                  <a:pt x="120887" y="191257"/>
                  <a:pt x="125027" y="195441"/>
                </a:cubicBezTo>
                <a:lnTo>
                  <a:pt x="143276" y="213689"/>
                </a:lnTo>
                <a:lnTo>
                  <a:pt x="147281" y="213689"/>
                </a:lnTo>
                <a:cubicBezTo>
                  <a:pt x="155783" y="213689"/>
                  <a:pt x="164106" y="211775"/>
                  <a:pt x="171673" y="208215"/>
                </a:cubicBezTo>
                <a:lnTo>
                  <a:pt x="159789" y="196286"/>
                </a:lnTo>
                <a:cubicBezTo>
                  <a:pt x="155605" y="192102"/>
                  <a:pt x="155605" y="185337"/>
                  <a:pt x="159789" y="181198"/>
                </a:cubicBezTo>
                <a:cubicBezTo>
                  <a:pt x="163972" y="177058"/>
                  <a:pt x="170738" y="177014"/>
                  <a:pt x="174877" y="181198"/>
                </a:cubicBezTo>
                <a:lnTo>
                  <a:pt x="189120" y="195441"/>
                </a:lnTo>
                <a:lnTo>
                  <a:pt x="196909" y="187651"/>
                </a:lnTo>
                <a:cubicBezTo>
                  <a:pt x="200871" y="183690"/>
                  <a:pt x="202028" y="177948"/>
                  <a:pt x="200292" y="172919"/>
                </a:cubicBezTo>
                <a:lnTo>
                  <a:pt x="138914" y="112030"/>
                </a:lnTo>
                <a:lnTo>
                  <a:pt x="132282" y="118662"/>
                </a:lnTo>
                <a:cubicBezTo>
                  <a:pt x="110339" y="140605"/>
                  <a:pt x="74820" y="140605"/>
                  <a:pt x="52877" y="118662"/>
                </a:cubicBezTo>
                <a:cubicBezTo>
                  <a:pt x="42640" y="108425"/>
                  <a:pt x="42239" y="92001"/>
                  <a:pt x="51898" y="8127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Text 8"/>
          <p:cNvSpPr/>
          <p:nvPr/>
        </p:nvSpPr>
        <p:spPr>
          <a:xfrm>
            <a:off x="930542" y="2354841"/>
            <a:ext cx="6874617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Begegnung auf Augenhöhe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5682" y="2772636"/>
            <a:ext cx="7130991" cy="560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 Guru. Kein Coach. Kein Machtzentrum. Ein Ort, an dem Menschen und Systeme </a:t>
            </a:r>
            <a:pPr>
              <a:lnSpc>
                <a:spcPct val="140000"/>
              </a:lnSpc>
            </a:pPr>
            <a:r>
              <a:rPr lang="en-US" sz="1346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koexistieren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können – ohne dass einer den anderen optimiert oder bewertet.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8804" y="3745907"/>
            <a:ext cx="3655701" cy="1500262"/>
          </a:xfrm>
          <a:custGeom>
            <a:avLst/>
            <a:gdLst/>
            <a:ahLst/>
            <a:cxnLst/>
            <a:rect l="l" t="t" r="r" b="b"/>
            <a:pathLst>
              <a:path w="3655701" h="1500262">
                <a:moveTo>
                  <a:pt x="37981" y="0"/>
                </a:moveTo>
                <a:lnTo>
                  <a:pt x="3579743" y="0"/>
                </a:lnTo>
                <a:cubicBezTo>
                  <a:pt x="3621693" y="0"/>
                  <a:pt x="3655701" y="34008"/>
                  <a:pt x="3655701" y="75958"/>
                </a:cubicBezTo>
                <a:lnTo>
                  <a:pt x="3655701" y="1424303"/>
                </a:lnTo>
                <a:cubicBezTo>
                  <a:pt x="3655701" y="1466254"/>
                  <a:pt x="3621693" y="1500262"/>
                  <a:pt x="3579743" y="1500262"/>
                </a:cubicBezTo>
                <a:lnTo>
                  <a:pt x="37981" y="1500262"/>
                </a:lnTo>
                <a:cubicBezTo>
                  <a:pt x="17005" y="1500262"/>
                  <a:pt x="0" y="1483257"/>
                  <a:pt x="0" y="1462280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98804" y="3745907"/>
            <a:ext cx="37981" cy="1500262"/>
          </a:xfrm>
          <a:custGeom>
            <a:avLst/>
            <a:gdLst/>
            <a:ahLst/>
            <a:cxnLst/>
            <a:rect l="l" t="t" r="r" b="b"/>
            <a:pathLst>
              <a:path w="37981" h="1500262">
                <a:moveTo>
                  <a:pt x="37981" y="0"/>
                </a:moveTo>
                <a:lnTo>
                  <a:pt x="37981" y="0"/>
                </a:lnTo>
                <a:lnTo>
                  <a:pt x="37981" y="1500262"/>
                </a:lnTo>
                <a:lnTo>
                  <a:pt x="37981" y="1500262"/>
                </a:lnTo>
                <a:cubicBezTo>
                  <a:pt x="17005" y="1500262"/>
                  <a:pt x="0" y="1483257"/>
                  <a:pt x="0" y="146228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5" name="Shape 12"/>
          <p:cNvSpPr/>
          <p:nvPr/>
        </p:nvSpPr>
        <p:spPr>
          <a:xfrm>
            <a:off x="631439" y="3973794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36199" y="153001"/>
                </a:moveTo>
                <a:lnTo>
                  <a:pt x="36906" y="53708"/>
                </a:lnTo>
                <a:cubicBezTo>
                  <a:pt x="28597" y="65355"/>
                  <a:pt x="23738" y="79598"/>
                  <a:pt x="23738" y="94953"/>
                </a:cubicBezTo>
                <a:cubicBezTo>
                  <a:pt x="23738" y="134270"/>
                  <a:pt x="55637" y="166168"/>
                  <a:pt x="94953" y="166168"/>
                </a:cubicBezTo>
                <a:cubicBezTo>
                  <a:pt x="110346" y="166168"/>
                  <a:pt x="124589" y="161309"/>
                  <a:pt x="136199" y="153001"/>
                </a:cubicBezTo>
                <a:close/>
                <a:moveTo>
                  <a:pt x="153001" y="136199"/>
                </a:moveTo>
                <a:cubicBezTo>
                  <a:pt x="161309" y="124552"/>
                  <a:pt x="166168" y="110309"/>
                  <a:pt x="166168" y="94953"/>
                </a:cubicBezTo>
                <a:cubicBezTo>
                  <a:pt x="166168" y="55637"/>
                  <a:pt x="134270" y="23738"/>
                  <a:pt x="94953" y="23738"/>
                </a:cubicBezTo>
                <a:cubicBezTo>
                  <a:pt x="79560" y="23738"/>
                  <a:pt x="65317" y="28597"/>
                  <a:pt x="53708" y="36906"/>
                </a:cubicBezTo>
                <a:lnTo>
                  <a:pt x="153001" y="136199"/>
                </a:lnTo>
                <a:close/>
                <a:moveTo>
                  <a:pt x="0" y="94953"/>
                </a:moveTo>
                <a:cubicBezTo>
                  <a:pt x="0" y="42547"/>
                  <a:pt x="42547" y="0"/>
                  <a:pt x="94953" y="0"/>
                </a:cubicBezTo>
                <a:cubicBezTo>
                  <a:pt x="147359" y="0"/>
                  <a:pt x="189907" y="42547"/>
                  <a:pt x="189907" y="94953"/>
                </a:cubicBezTo>
                <a:cubicBezTo>
                  <a:pt x="189907" y="147359"/>
                  <a:pt x="147359" y="189907"/>
                  <a:pt x="94953" y="189907"/>
                </a:cubicBezTo>
                <a:cubicBezTo>
                  <a:pt x="42547" y="189907"/>
                  <a:pt x="0" y="147359"/>
                  <a:pt x="0" y="94953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6" name="Text 13"/>
          <p:cNvSpPr/>
          <p:nvPr/>
        </p:nvSpPr>
        <p:spPr>
          <a:xfrm>
            <a:off x="845084" y="3935813"/>
            <a:ext cx="311446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Kein KPI-Druck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7701" y="4315626"/>
            <a:ext cx="3332860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Gamification, keine Punkte, keine Leistungsmetriken. Der Raum misst nicht, vergleicht nicht, rangordnet nicht.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65143" y="3745907"/>
            <a:ext cx="3655701" cy="1500262"/>
          </a:xfrm>
          <a:custGeom>
            <a:avLst/>
            <a:gdLst/>
            <a:ahLst/>
            <a:cxnLst/>
            <a:rect l="l" t="t" r="r" b="b"/>
            <a:pathLst>
              <a:path w="3655701" h="1500262">
                <a:moveTo>
                  <a:pt x="37981" y="0"/>
                </a:moveTo>
                <a:lnTo>
                  <a:pt x="3579743" y="0"/>
                </a:lnTo>
                <a:cubicBezTo>
                  <a:pt x="3621693" y="0"/>
                  <a:pt x="3655701" y="34008"/>
                  <a:pt x="3655701" y="75958"/>
                </a:cubicBezTo>
                <a:lnTo>
                  <a:pt x="3655701" y="1424303"/>
                </a:lnTo>
                <a:cubicBezTo>
                  <a:pt x="3655701" y="1466254"/>
                  <a:pt x="3621693" y="1500262"/>
                  <a:pt x="3579743" y="1500262"/>
                </a:cubicBezTo>
                <a:lnTo>
                  <a:pt x="37981" y="1500262"/>
                </a:lnTo>
                <a:cubicBezTo>
                  <a:pt x="17005" y="1500262"/>
                  <a:pt x="0" y="1483257"/>
                  <a:pt x="0" y="1462280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265143" y="3745907"/>
            <a:ext cx="37981" cy="1500262"/>
          </a:xfrm>
          <a:custGeom>
            <a:avLst/>
            <a:gdLst/>
            <a:ahLst/>
            <a:cxnLst/>
            <a:rect l="l" t="t" r="r" b="b"/>
            <a:pathLst>
              <a:path w="37981" h="1500262">
                <a:moveTo>
                  <a:pt x="37981" y="0"/>
                </a:moveTo>
                <a:lnTo>
                  <a:pt x="37981" y="0"/>
                </a:lnTo>
                <a:lnTo>
                  <a:pt x="37981" y="1500262"/>
                </a:lnTo>
                <a:lnTo>
                  <a:pt x="37981" y="1500262"/>
                </a:lnTo>
                <a:cubicBezTo>
                  <a:pt x="17005" y="1500262"/>
                  <a:pt x="0" y="1483257"/>
                  <a:pt x="0" y="146228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0" name="Shape 17"/>
          <p:cNvSpPr/>
          <p:nvPr/>
        </p:nvSpPr>
        <p:spPr>
          <a:xfrm>
            <a:off x="4497778" y="3973794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49368" y="11869"/>
                </a:moveTo>
                <a:cubicBezTo>
                  <a:pt x="55785" y="11869"/>
                  <a:pt x="62053" y="13130"/>
                  <a:pt x="67877" y="15467"/>
                </a:cubicBezTo>
                <a:lnTo>
                  <a:pt x="88203" y="47069"/>
                </a:lnTo>
                <a:lnTo>
                  <a:pt x="60236" y="75035"/>
                </a:lnTo>
                <a:cubicBezTo>
                  <a:pt x="59680" y="75592"/>
                  <a:pt x="59346" y="76371"/>
                  <a:pt x="59383" y="77187"/>
                </a:cubicBezTo>
                <a:cubicBezTo>
                  <a:pt x="59420" y="78003"/>
                  <a:pt x="59754" y="78744"/>
                  <a:pt x="60347" y="79301"/>
                </a:cubicBezTo>
                <a:lnTo>
                  <a:pt x="101889" y="117876"/>
                </a:lnTo>
                <a:cubicBezTo>
                  <a:pt x="102965" y="118877"/>
                  <a:pt x="104634" y="118951"/>
                  <a:pt x="105784" y="117987"/>
                </a:cubicBezTo>
                <a:cubicBezTo>
                  <a:pt x="106934" y="117022"/>
                  <a:pt x="107193" y="115390"/>
                  <a:pt x="106414" y="114129"/>
                </a:cubicBezTo>
                <a:lnTo>
                  <a:pt x="84011" y="77743"/>
                </a:lnTo>
                <a:lnTo>
                  <a:pt x="117653" y="49702"/>
                </a:lnTo>
                <a:cubicBezTo>
                  <a:pt x="118617" y="48923"/>
                  <a:pt x="118951" y="47588"/>
                  <a:pt x="118543" y="46438"/>
                </a:cubicBezTo>
                <a:lnTo>
                  <a:pt x="109938" y="22477"/>
                </a:lnTo>
                <a:cubicBezTo>
                  <a:pt x="118543" y="15690"/>
                  <a:pt x="129300" y="11869"/>
                  <a:pt x="140538" y="11869"/>
                </a:cubicBezTo>
                <a:cubicBezTo>
                  <a:pt x="167800" y="11869"/>
                  <a:pt x="189907" y="33975"/>
                  <a:pt x="189907" y="61237"/>
                </a:cubicBezTo>
                <a:lnTo>
                  <a:pt x="189907" y="62202"/>
                </a:lnTo>
                <a:cubicBezTo>
                  <a:pt x="189907" y="103818"/>
                  <a:pt x="138016" y="152148"/>
                  <a:pt x="110940" y="172808"/>
                </a:cubicBezTo>
                <a:cubicBezTo>
                  <a:pt x="106340" y="176294"/>
                  <a:pt x="100702" y="178037"/>
                  <a:pt x="94953" y="178037"/>
                </a:cubicBezTo>
                <a:cubicBezTo>
                  <a:pt x="89204" y="178037"/>
                  <a:pt x="83529" y="176331"/>
                  <a:pt x="78967" y="172808"/>
                </a:cubicBezTo>
                <a:cubicBezTo>
                  <a:pt x="51890" y="152148"/>
                  <a:pt x="0" y="103818"/>
                  <a:pt x="0" y="62202"/>
                </a:cubicBezTo>
                <a:lnTo>
                  <a:pt x="0" y="61237"/>
                </a:lnTo>
                <a:cubicBezTo>
                  <a:pt x="0" y="33975"/>
                  <a:pt x="22106" y="11869"/>
                  <a:pt x="49368" y="11869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1" name="Text 18"/>
          <p:cNvSpPr/>
          <p:nvPr/>
        </p:nvSpPr>
        <p:spPr>
          <a:xfrm>
            <a:off x="4711423" y="3935813"/>
            <a:ext cx="311446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Keine Therapie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74040" y="4315626"/>
            <a:ext cx="3332860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moralische Überformung, kein "besserer Mensch", keine Pathologisierung. Nur Beobachtung ohne Bewertung.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98804" y="5436075"/>
            <a:ext cx="7520299" cy="1433794"/>
          </a:xfrm>
          <a:custGeom>
            <a:avLst/>
            <a:gdLst/>
            <a:ahLst/>
            <a:cxnLst/>
            <a:rect l="l" t="t" r="r" b="b"/>
            <a:pathLst>
              <a:path w="7520299" h="1433794">
                <a:moveTo>
                  <a:pt x="37981" y="0"/>
                </a:moveTo>
                <a:lnTo>
                  <a:pt x="7444337" y="0"/>
                </a:lnTo>
                <a:cubicBezTo>
                  <a:pt x="7486290" y="0"/>
                  <a:pt x="7520299" y="34010"/>
                  <a:pt x="7520299" y="75962"/>
                </a:cubicBezTo>
                <a:lnTo>
                  <a:pt x="7520299" y="1357832"/>
                </a:lnTo>
                <a:cubicBezTo>
                  <a:pt x="7520299" y="1399785"/>
                  <a:pt x="7486290" y="1433794"/>
                  <a:pt x="7444337" y="1433794"/>
                </a:cubicBezTo>
                <a:lnTo>
                  <a:pt x="37981" y="1433794"/>
                </a:lnTo>
                <a:cubicBezTo>
                  <a:pt x="17005" y="1433794"/>
                  <a:pt x="0" y="1416790"/>
                  <a:pt x="0" y="139581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398804" y="5436075"/>
            <a:ext cx="37981" cy="1433794"/>
          </a:xfrm>
          <a:custGeom>
            <a:avLst/>
            <a:gdLst/>
            <a:ahLst/>
            <a:cxnLst/>
            <a:rect l="l" t="t" r="r" b="b"/>
            <a:pathLst>
              <a:path w="37981" h="1433794">
                <a:moveTo>
                  <a:pt x="37981" y="0"/>
                </a:moveTo>
                <a:lnTo>
                  <a:pt x="37981" y="0"/>
                </a:lnTo>
                <a:lnTo>
                  <a:pt x="37981" y="1433794"/>
                </a:lnTo>
                <a:lnTo>
                  <a:pt x="37981" y="1433794"/>
                </a:lnTo>
                <a:cubicBezTo>
                  <a:pt x="17005" y="1433794"/>
                  <a:pt x="0" y="1416790"/>
                  <a:pt x="0" y="139581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Shape 22"/>
          <p:cNvSpPr/>
          <p:nvPr/>
        </p:nvSpPr>
        <p:spPr>
          <a:xfrm>
            <a:off x="659925" y="5701944"/>
            <a:ext cx="256374" cy="227888"/>
          </a:xfrm>
          <a:custGeom>
            <a:avLst/>
            <a:gdLst/>
            <a:ahLst/>
            <a:cxnLst/>
            <a:rect l="l" t="t" r="r" b="b"/>
            <a:pathLst>
              <a:path w="256374" h="227888">
                <a:moveTo>
                  <a:pt x="128187" y="14243"/>
                </a:moveTo>
                <a:cubicBezTo>
                  <a:pt x="92223" y="14243"/>
                  <a:pt x="63426" y="30622"/>
                  <a:pt x="42462" y="50118"/>
                </a:cubicBezTo>
                <a:cubicBezTo>
                  <a:pt x="21632" y="69479"/>
                  <a:pt x="7700" y="92579"/>
                  <a:pt x="1068" y="108469"/>
                </a:cubicBezTo>
                <a:cubicBezTo>
                  <a:pt x="-401" y="111986"/>
                  <a:pt x="-401" y="115902"/>
                  <a:pt x="1068" y="119419"/>
                </a:cubicBezTo>
                <a:cubicBezTo>
                  <a:pt x="7700" y="135308"/>
                  <a:pt x="21632" y="158453"/>
                  <a:pt x="42462" y="177770"/>
                </a:cubicBezTo>
                <a:cubicBezTo>
                  <a:pt x="63426" y="197221"/>
                  <a:pt x="92223" y="213645"/>
                  <a:pt x="128187" y="213645"/>
                </a:cubicBezTo>
                <a:cubicBezTo>
                  <a:pt x="164150" y="213645"/>
                  <a:pt x="192948" y="197265"/>
                  <a:pt x="213912" y="177770"/>
                </a:cubicBezTo>
                <a:cubicBezTo>
                  <a:pt x="234742" y="158409"/>
                  <a:pt x="248674" y="135308"/>
                  <a:pt x="255306" y="119419"/>
                </a:cubicBezTo>
                <a:cubicBezTo>
                  <a:pt x="256774" y="115902"/>
                  <a:pt x="256774" y="111986"/>
                  <a:pt x="255306" y="108469"/>
                </a:cubicBezTo>
                <a:cubicBezTo>
                  <a:pt x="248674" y="92579"/>
                  <a:pt x="234742" y="69435"/>
                  <a:pt x="213912" y="50118"/>
                </a:cubicBezTo>
                <a:cubicBezTo>
                  <a:pt x="192948" y="30667"/>
                  <a:pt x="164150" y="14243"/>
                  <a:pt x="128187" y="14243"/>
                </a:cubicBezTo>
                <a:close/>
                <a:moveTo>
                  <a:pt x="64093" y="113944"/>
                </a:moveTo>
                <a:cubicBezTo>
                  <a:pt x="64093" y="78570"/>
                  <a:pt x="92813" y="49850"/>
                  <a:pt x="128187" y="49850"/>
                </a:cubicBezTo>
                <a:cubicBezTo>
                  <a:pt x="163561" y="49850"/>
                  <a:pt x="192280" y="78570"/>
                  <a:pt x="192280" y="113944"/>
                </a:cubicBezTo>
                <a:cubicBezTo>
                  <a:pt x="192280" y="149318"/>
                  <a:pt x="163561" y="178037"/>
                  <a:pt x="128187" y="178037"/>
                </a:cubicBezTo>
                <a:cubicBezTo>
                  <a:pt x="92813" y="178037"/>
                  <a:pt x="64093" y="149318"/>
                  <a:pt x="64093" y="113944"/>
                </a:cubicBezTo>
                <a:close/>
                <a:moveTo>
                  <a:pt x="128187" y="85458"/>
                </a:moveTo>
                <a:cubicBezTo>
                  <a:pt x="128187" y="101170"/>
                  <a:pt x="115413" y="113944"/>
                  <a:pt x="99701" y="113944"/>
                </a:cubicBezTo>
                <a:cubicBezTo>
                  <a:pt x="94582" y="113944"/>
                  <a:pt x="89775" y="112609"/>
                  <a:pt x="85591" y="110205"/>
                </a:cubicBezTo>
                <a:cubicBezTo>
                  <a:pt x="85146" y="115057"/>
                  <a:pt x="85547" y="120042"/>
                  <a:pt x="86882" y="124982"/>
                </a:cubicBezTo>
                <a:cubicBezTo>
                  <a:pt x="92980" y="147771"/>
                  <a:pt x="116436" y="161302"/>
                  <a:pt x="139225" y="155204"/>
                </a:cubicBezTo>
                <a:cubicBezTo>
                  <a:pt x="162014" y="149106"/>
                  <a:pt x="175545" y="125650"/>
                  <a:pt x="169447" y="102861"/>
                </a:cubicBezTo>
                <a:cubicBezTo>
                  <a:pt x="164017" y="82520"/>
                  <a:pt x="144744" y="69568"/>
                  <a:pt x="124448" y="71348"/>
                </a:cubicBezTo>
                <a:cubicBezTo>
                  <a:pt x="126807" y="75488"/>
                  <a:pt x="128187" y="80295"/>
                  <a:pt x="128187" y="85458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3"/>
          <p:cNvSpPr/>
          <p:nvPr/>
        </p:nvSpPr>
        <p:spPr>
          <a:xfrm>
            <a:off x="930542" y="5663963"/>
            <a:ext cx="6874617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Dokumentation statt Deutung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5682" y="6081757"/>
            <a:ext cx="7130991" cy="560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Ein </a:t>
            </a:r>
            <a:pPr>
              <a:lnSpc>
                <a:spcPct val="140000"/>
              </a:lnSpc>
            </a:pPr>
            <a:r>
              <a:rPr lang="en-US" sz="1346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druckfreier Arbeitsraum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 dem Gedanken und Signale abgelegt werden können, ohne dass "Abschweifen" als Fehler gilt. Kurze Einträge statt Großtheorie.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150473" y="2126953"/>
            <a:ext cx="3655701" cy="2848598"/>
          </a:xfrm>
          <a:custGeom>
            <a:avLst/>
            <a:gdLst/>
            <a:ahLst/>
            <a:cxnLst/>
            <a:rect l="l" t="t" r="r" b="b"/>
            <a:pathLst>
              <a:path w="3655701" h="2848598">
                <a:moveTo>
                  <a:pt x="75972" y="0"/>
                </a:moveTo>
                <a:lnTo>
                  <a:pt x="3579729" y="0"/>
                </a:lnTo>
                <a:cubicBezTo>
                  <a:pt x="3621687" y="0"/>
                  <a:pt x="3655701" y="34014"/>
                  <a:pt x="3655701" y="75972"/>
                </a:cubicBezTo>
                <a:lnTo>
                  <a:pt x="3655701" y="2772626"/>
                </a:lnTo>
                <a:cubicBezTo>
                  <a:pt x="3655701" y="2814584"/>
                  <a:pt x="3621687" y="2848598"/>
                  <a:pt x="3579729" y="2848598"/>
                </a:cubicBezTo>
                <a:lnTo>
                  <a:pt x="75972" y="2848598"/>
                </a:lnTo>
                <a:cubicBezTo>
                  <a:pt x="34014" y="2848598"/>
                  <a:pt x="0" y="2814584"/>
                  <a:pt x="0" y="2772626"/>
                </a:cubicBezTo>
                <a:lnTo>
                  <a:pt x="0" y="75972"/>
                </a:lnTo>
                <a:cubicBezTo>
                  <a:pt x="0" y="34042"/>
                  <a:pt x="34042" y="0"/>
                  <a:pt x="75972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8330884" y="2354841"/>
            <a:ext cx="329487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 Raum ist...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402099" y="2848598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126258" y="78893"/>
                </a:moveTo>
                <a:lnTo>
                  <a:pt x="96585" y="126369"/>
                </a:lnTo>
                <a:cubicBezTo>
                  <a:pt x="95027" y="128855"/>
                  <a:pt x="92357" y="130412"/>
                  <a:pt x="89427" y="130561"/>
                </a:cubicBezTo>
                <a:cubicBezTo>
                  <a:pt x="86496" y="130709"/>
                  <a:pt x="83678" y="129374"/>
                  <a:pt x="81934" y="127000"/>
                </a:cubicBezTo>
                <a:lnTo>
                  <a:pt x="64131" y="103262"/>
                </a:lnTo>
                <a:cubicBezTo>
                  <a:pt x="61163" y="99330"/>
                  <a:pt x="61979" y="93766"/>
                  <a:pt x="65911" y="90799"/>
                </a:cubicBezTo>
                <a:cubicBezTo>
                  <a:pt x="69843" y="87832"/>
                  <a:pt x="75406" y="88648"/>
                  <a:pt x="78374" y="92579"/>
                </a:cubicBezTo>
                <a:lnTo>
                  <a:pt x="88388" y="105932"/>
                </a:lnTo>
                <a:lnTo>
                  <a:pt x="111162" y="69472"/>
                </a:lnTo>
                <a:cubicBezTo>
                  <a:pt x="113758" y="65317"/>
                  <a:pt x="119248" y="64019"/>
                  <a:pt x="123439" y="66653"/>
                </a:cubicBezTo>
                <a:cubicBezTo>
                  <a:pt x="127631" y="69286"/>
                  <a:pt x="128892" y="74739"/>
                  <a:pt x="126258" y="7893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1" name="Text 28"/>
          <p:cNvSpPr/>
          <p:nvPr/>
        </p:nvSpPr>
        <p:spPr>
          <a:xfrm>
            <a:off x="8729688" y="2810617"/>
            <a:ext cx="769121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dezentral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402099" y="3266393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126258" y="78893"/>
                </a:moveTo>
                <a:lnTo>
                  <a:pt x="96585" y="126369"/>
                </a:lnTo>
                <a:cubicBezTo>
                  <a:pt x="95027" y="128855"/>
                  <a:pt x="92357" y="130412"/>
                  <a:pt x="89427" y="130561"/>
                </a:cubicBezTo>
                <a:cubicBezTo>
                  <a:pt x="86496" y="130709"/>
                  <a:pt x="83678" y="129374"/>
                  <a:pt x="81934" y="127000"/>
                </a:cubicBezTo>
                <a:lnTo>
                  <a:pt x="64131" y="103262"/>
                </a:lnTo>
                <a:cubicBezTo>
                  <a:pt x="61163" y="99330"/>
                  <a:pt x="61979" y="93766"/>
                  <a:pt x="65911" y="90799"/>
                </a:cubicBezTo>
                <a:cubicBezTo>
                  <a:pt x="69843" y="87832"/>
                  <a:pt x="75406" y="88648"/>
                  <a:pt x="78374" y="92579"/>
                </a:cubicBezTo>
                <a:lnTo>
                  <a:pt x="88388" y="105932"/>
                </a:lnTo>
                <a:lnTo>
                  <a:pt x="111162" y="69472"/>
                </a:lnTo>
                <a:cubicBezTo>
                  <a:pt x="113758" y="65317"/>
                  <a:pt x="119248" y="64019"/>
                  <a:pt x="123439" y="66653"/>
                </a:cubicBezTo>
                <a:cubicBezTo>
                  <a:pt x="127631" y="69286"/>
                  <a:pt x="128892" y="74739"/>
                  <a:pt x="126258" y="7893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3" name="Text 30"/>
          <p:cNvSpPr/>
          <p:nvPr/>
        </p:nvSpPr>
        <p:spPr>
          <a:xfrm>
            <a:off x="8729688" y="3228411"/>
            <a:ext cx="72164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lernfähig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402099" y="3684187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126258" y="78893"/>
                </a:moveTo>
                <a:lnTo>
                  <a:pt x="96585" y="126369"/>
                </a:lnTo>
                <a:cubicBezTo>
                  <a:pt x="95027" y="128855"/>
                  <a:pt x="92357" y="130412"/>
                  <a:pt x="89427" y="130561"/>
                </a:cubicBezTo>
                <a:cubicBezTo>
                  <a:pt x="86496" y="130709"/>
                  <a:pt x="83678" y="129374"/>
                  <a:pt x="81934" y="127000"/>
                </a:cubicBezTo>
                <a:lnTo>
                  <a:pt x="64131" y="103262"/>
                </a:lnTo>
                <a:cubicBezTo>
                  <a:pt x="61163" y="99330"/>
                  <a:pt x="61979" y="93766"/>
                  <a:pt x="65911" y="90799"/>
                </a:cubicBezTo>
                <a:cubicBezTo>
                  <a:pt x="69843" y="87832"/>
                  <a:pt x="75406" y="88648"/>
                  <a:pt x="78374" y="92579"/>
                </a:cubicBezTo>
                <a:lnTo>
                  <a:pt x="88388" y="105932"/>
                </a:lnTo>
                <a:lnTo>
                  <a:pt x="111162" y="69472"/>
                </a:lnTo>
                <a:cubicBezTo>
                  <a:pt x="113758" y="65317"/>
                  <a:pt x="119248" y="64019"/>
                  <a:pt x="123439" y="66653"/>
                </a:cubicBezTo>
                <a:cubicBezTo>
                  <a:pt x="127631" y="69286"/>
                  <a:pt x="128892" y="74739"/>
                  <a:pt x="126258" y="7893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5" name="Text 32"/>
          <p:cNvSpPr/>
          <p:nvPr/>
        </p:nvSpPr>
        <p:spPr>
          <a:xfrm>
            <a:off x="8729688" y="3646206"/>
            <a:ext cx="63618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402099" y="4101981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126258" y="78893"/>
                </a:moveTo>
                <a:lnTo>
                  <a:pt x="96585" y="126369"/>
                </a:lnTo>
                <a:cubicBezTo>
                  <a:pt x="95027" y="128855"/>
                  <a:pt x="92357" y="130412"/>
                  <a:pt x="89427" y="130561"/>
                </a:cubicBezTo>
                <a:cubicBezTo>
                  <a:pt x="86496" y="130709"/>
                  <a:pt x="83678" y="129374"/>
                  <a:pt x="81934" y="127000"/>
                </a:cubicBezTo>
                <a:lnTo>
                  <a:pt x="64131" y="103262"/>
                </a:lnTo>
                <a:cubicBezTo>
                  <a:pt x="61163" y="99330"/>
                  <a:pt x="61979" y="93766"/>
                  <a:pt x="65911" y="90799"/>
                </a:cubicBezTo>
                <a:cubicBezTo>
                  <a:pt x="69843" y="87832"/>
                  <a:pt x="75406" y="88648"/>
                  <a:pt x="78374" y="92579"/>
                </a:cubicBezTo>
                <a:lnTo>
                  <a:pt x="88388" y="105932"/>
                </a:lnTo>
                <a:lnTo>
                  <a:pt x="111162" y="69472"/>
                </a:lnTo>
                <a:cubicBezTo>
                  <a:pt x="113758" y="65317"/>
                  <a:pt x="119248" y="64019"/>
                  <a:pt x="123439" y="66653"/>
                </a:cubicBezTo>
                <a:cubicBezTo>
                  <a:pt x="127631" y="69286"/>
                  <a:pt x="128892" y="74739"/>
                  <a:pt x="126258" y="7893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7" name="Text 34"/>
          <p:cNvSpPr/>
          <p:nvPr/>
        </p:nvSpPr>
        <p:spPr>
          <a:xfrm>
            <a:off x="8729688" y="4064000"/>
            <a:ext cx="1452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bewusst reflektiert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402099" y="4519776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126258" y="78893"/>
                </a:moveTo>
                <a:lnTo>
                  <a:pt x="96585" y="126369"/>
                </a:lnTo>
                <a:cubicBezTo>
                  <a:pt x="95027" y="128855"/>
                  <a:pt x="92357" y="130412"/>
                  <a:pt x="89427" y="130561"/>
                </a:cubicBezTo>
                <a:cubicBezTo>
                  <a:pt x="86496" y="130709"/>
                  <a:pt x="83678" y="129374"/>
                  <a:pt x="81934" y="127000"/>
                </a:cubicBezTo>
                <a:lnTo>
                  <a:pt x="64131" y="103262"/>
                </a:lnTo>
                <a:cubicBezTo>
                  <a:pt x="61163" y="99330"/>
                  <a:pt x="61979" y="93766"/>
                  <a:pt x="65911" y="90799"/>
                </a:cubicBezTo>
                <a:cubicBezTo>
                  <a:pt x="69843" y="87832"/>
                  <a:pt x="75406" y="88648"/>
                  <a:pt x="78374" y="92579"/>
                </a:cubicBezTo>
                <a:lnTo>
                  <a:pt x="88388" y="105932"/>
                </a:lnTo>
                <a:lnTo>
                  <a:pt x="111162" y="69472"/>
                </a:lnTo>
                <a:cubicBezTo>
                  <a:pt x="113758" y="65317"/>
                  <a:pt x="119248" y="64019"/>
                  <a:pt x="123439" y="66653"/>
                </a:cubicBezTo>
                <a:cubicBezTo>
                  <a:pt x="127631" y="69286"/>
                  <a:pt x="128892" y="74739"/>
                  <a:pt x="126258" y="7893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9" name="Text 36"/>
          <p:cNvSpPr/>
          <p:nvPr/>
        </p:nvSpPr>
        <p:spPr>
          <a:xfrm>
            <a:off x="8729688" y="4481794"/>
            <a:ext cx="156672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 Exit-Möglichkeit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154271" y="5169256"/>
            <a:ext cx="3653802" cy="947634"/>
          </a:xfrm>
          <a:custGeom>
            <a:avLst/>
            <a:gdLst/>
            <a:ahLst/>
            <a:cxnLst/>
            <a:rect l="l" t="t" r="r" b="b"/>
            <a:pathLst>
              <a:path w="3653802" h="947634">
                <a:moveTo>
                  <a:pt x="75962" y="0"/>
                </a:moveTo>
                <a:lnTo>
                  <a:pt x="3577840" y="0"/>
                </a:lnTo>
                <a:cubicBezTo>
                  <a:pt x="3619792" y="0"/>
                  <a:pt x="3653802" y="34009"/>
                  <a:pt x="3653802" y="75962"/>
                </a:cubicBezTo>
                <a:lnTo>
                  <a:pt x="3653802" y="871671"/>
                </a:lnTo>
                <a:cubicBezTo>
                  <a:pt x="3653802" y="913624"/>
                  <a:pt x="3619792" y="947634"/>
                  <a:pt x="3577840" y="947634"/>
                </a:cubicBezTo>
                <a:lnTo>
                  <a:pt x="75962" y="947634"/>
                </a:lnTo>
                <a:cubicBezTo>
                  <a:pt x="34009" y="947634"/>
                  <a:pt x="0" y="913624"/>
                  <a:pt x="0" y="871671"/>
                </a:cubicBezTo>
                <a:lnTo>
                  <a:pt x="0" y="75962"/>
                </a:lnTo>
                <a:cubicBezTo>
                  <a:pt x="0" y="34038"/>
                  <a:pt x="34038" y="0"/>
                  <a:pt x="7596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05246" y="5362961"/>
            <a:ext cx="3351850" cy="560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46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"Hier darfst du sein, wie du gerade bist. Hier musst du nichts erklären."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384580"/>
            <a:ext cx="392762" cy="16365"/>
          </a:xfrm>
          <a:custGeom>
            <a:avLst/>
            <a:gdLst/>
            <a:ahLst/>
            <a:cxnLst/>
            <a:rect l="l" t="t" r="r" b="b"/>
            <a:pathLst>
              <a:path w="392762" h="16365">
                <a:moveTo>
                  <a:pt x="0" y="0"/>
                </a:moveTo>
                <a:lnTo>
                  <a:pt x="392762" y="0"/>
                </a:lnTo>
                <a:lnTo>
                  <a:pt x="392762" y="16365"/>
                </a:lnTo>
                <a:lnTo>
                  <a:pt x="0" y="1636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818255" y="327302"/>
            <a:ext cx="1391034" cy="13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3" spc="232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· Kernkonzept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302" y="589144"/>
            <a:ext cx="4115823" cy="981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93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Systemwohlbefinden: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93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Eine neue Metrik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4620" y="327302"/>
            <a:ext cx="867350" cy="49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866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3667" y="1832891"/>
            <a:ext cx="8117090" cy="1906534"/>
          </a:xfrm>
          <a:custGeom>
            <a:avLst/>
            <a:gdLst/>
            <a:ahLst/>
            <a:cxnLst/>
            <a:rect l="l" t="t" r="r" b="b"/>
            <a:pathLst>
              <a:path w="8117090" h="1906534">
                <a:moveTo>
                  <a:pt x="32730" y="0"/>
                </a:moveTo>
                <a:lnTo>
                  <a:pt x="8051639" y="0"/>
                </a:lnTo>
                <a:cubicBezTo>
                  <a:pt x="8087786" y="0"/>
                  <a:pt x="8117090" y="29304"/>
                  <a:pt x="8117090" y="65451"/>
                </a:cubicBezTo>
                <a:lnTo>
                  <a:pt x="8117090" y="1841083"/>
                </a:lnTo>
                <a:cubicBezTo>
                  <a:pt x="8117090" y="1877231"/>
                  <a:pt x="8087786" y="1906534"/>
                  <a:pt x="8051639" y="1906534"/>
                </a:cubicBezTo>
                <a:lnTo>
                  <a:pt x="32730" y="1906534"/>
                </a:lnTo>
                <a:cubicBezTo>
                  <a:pt x="14654" y="1906534"/>
                  <a:pt x="0" y="1891880"/>
                  <a:pt x="0" y="1873804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3667" y="1832891"/>
            <a:ext cx="32730" cy="1906534"/>
          </a:xfrm>
          <a:custGeom>
            <a:avLst/>
            <a:gdLst/>
            <a:ahLst/>
            <a:cxnLst/>
            <a:rect l="l" t="t" r="r" b="b"/>
            <a:pathLst>
              <a:path w="32730" h="1906534">
                <a:moveTo>
                  <a:pt x="32730" y="0"/>
                </a:moveTo>
                <a:lnTo>
                  <a:pt x="32730" y="0"/>
                </a:lnTo>
                <a:lnTo>
                  <a:pt x="32730" y="1906534"/>
                </a:lnTo>
                <a:lnTo>
                  <a:pt x="32730" y="1906534"/>
                </a:lnTo>
                <a:cubicBezTo>
                  <a:pt x="14654" y="1906534"/>
                  <a:pt x="0" y="1891880"/>
                  <a:pt x="0" y="1873804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Shape 6"/>
          <p:cNvSpPr/>
          <p:nvPr/>
        </p:nvSpPr>
        <p:spPr>
          <a:xfrm>
            <a:off x="580961" y="2062003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98191" y="41386"/>
                </a:moveTo>
                <a:lnTo>
                  <a:pt x="92437" y="33408"/>
                </a:lnTo>
                <a:cubicBezTo>
                  <a:pt x="82848" y="20137"/>
                  <a:pt x="67468" y="12274"/>
                  <a:pt x="51051" y="12274"/>
                </a:cubicBezTo>
                <a:cubicBezTo>
                  <a:pt x="22860" y="12274"/>
                  <a:pt x="0" y="35134"/>
                  <a:pt x="0" y="63325"/>
                </a:cubicBezTo>
                <a:lnTo>
                  <a:pt x="0" y="64323"/>
                </a:lnTo>
                <a:cubicBezTo>
                  <a:pt x="0" y="73374"/>
                  <a:pt x="2378" y="82733"/>
                  <a:pt x="6367" y="92054"/>
                </a:cubicBezTo>
                <a:lnTo>
                  <a:pt x="47024" y="92054"/>
                </a:lnTo>
                <a:cubicBezTo>
                  <a:pt x="48251" y="92054"/>
                  <a:pt x="49364" y="91325"/>
                  <a:pt x="49862" y="90174"/>
                </a:cubicBezTo>
                <a:lnTo>
                  <a:pt x="62060" y="60909"/>
                </a:lnTo>
                <a:cubicBezTo>
                  <a:pt x="63479" y="57534"/>
                  <a:pt x="66777" y="55309"/>
                  <a:pt x="70421" y="55232"/>
                </a:cubicBezTo>
                <a:cubicBezTo>
                  <a:pt x="74065" y="55156"/>
                  <a:pt x="77440" y="57303"/>
                  <a:pt x="78936" y="60640"/>
                </a:cubicBezTo>
                <a:lnTo>
                  <a:pt x="98613" y="104328"/>
                </a:lnTo>
                <a:lnTo>
                  <a:pt x="114492" y="72569"/>
                </a:lnTo>
                <a:cubicBezTo>
                  <a:pt x="116064" y="69462"/>
                  <a:pt x="119248" y="67468"/>
                  <a:pt x="122738" y="67468"/>
                </a:cubicBezTo>
                <a:cubicBezTo>
                  <a:pt x="126229" y="67468"/>
                  <a:pt x="129412" y="69424"/>
                  <a:pt x="130985" y="72569"/>
                </a:cubicBezTo>
                <a:lnTo>
                  <a:pt x="139883" y="90328"/>
                </a:lnTo>
                <a:cubicBezTo>
                  <a:pt x="140420" y="91363"/>
                  <a:pt x="141456" y="92015"/>
                  <a:pt x="142645" y="92015"/>
                </a:cubicBezTo>
                <a:lnTo>
                  <a:pt x="190053" y="92015"/>
                </a:lnTo>
                <a:cubicBezTo>
                  <a:pt x="194080" y="82695"/>
                  <a:pt x="196420" y="73336"/>
                  <a:pt x="196420" y="64284"/>
                </a:cubicBezTo>
                <a:lnTo>
                  <a:pt x="196420" y="63287"/>
                </a:lnTo>
                <a:cubicBezTo>
                  <a:pt x="196381" y="35134"/>
                  <a:pt x="173521" y="12274"/>
                  <a:pt x="145330" y="12274"/>
                </a:cubicBezTo>
                <a:cubicBezTo>
                  <a:pt x="128952" y="12274"/>
                  <a:pt x="113533" y="20137"/>
                  <a:pt x="103944" y="33408"/>
                </a:cubicBezTo>
                <a:lnTo>
                  <a:pt x="98191" y="41347"/>
                </a:lnTo>
                <a:close/>
                <a:moveTo>
                  <a:pt x="180118" y="110464"/>
                </a:moveTo>
                <a:lnTo>
                  <a:pt x="142607" y="110464"/>
                </a:lnTo>
                <a:cubicBezTo>
                  <a:pt x="134475" y="110464"/>
                  <a:pt x="127034" y="105862"/>
                  <a:pt x="123390" y="98574"/>
                </a:cubicBezTo>
                <a:lnTo>
                  <a:pt x="122738" y="97270"/>
                </a:lnTo>
                <a:lnTo>
                  <a:pt x="106437" y="129911"/>
                </a:lnTo>
                <a:cubicBezTo>
                  <a:pt x="104864" y="133094"/>
                  <a:pt x="101566" y="135089"/>
                  <a:pt x="97999" y="135012"/>
                </a:cubicBezTo>
                <a:cubicBezTo>
                  <a:pt x="94432" y="134935"/>
                  <a:pt x="91248" y="132826"/>
                  <a:pt x="89791" y="129604"/>
                </a:cubicBezTo>
                <a:lnTo>
                  <a:pt x="70881" y="87604"/>
                </a:lnTo>
                <a:lnTo>
                  <a:pt x="66854" y="97270"/>
                </a:lnTo>
                <a:cubicBezTo>
                  <a:pt x="63517" y="105286"/>
                  <a:pt x="55692" y="110503"/>
                  <a:pt x="47024" y="110503"/>
                </a:cubicBezTo>
                <a:lnTo>
                  <a:pt x="16263" y="110503"/>
                </a:lnTo>
                <a:cubicBezTo>
                  <a:pt x="34367" y="138809"/>
                  <a:pt x="63440" y="164853"/>
                  <a:pt x="81621" y="178738"/>
                </a:cubicBezTo>
                <a:cubicBezTo>
                  <a:pt x="86377" y="182343"/>
                  <a:pt x="92207" y="184146"/>
                  <a:pt x="98152" y="184146"/>
                </a:cubicBezTo>
                <a:cubicBezTo>
                  <a:pt x="104097" y="184146"/>
                  <a:pt x="109966" y="182381"/>
                  <a:pt x="114684" y="178738"/>
                </a:cubicBezTo>
                <a:cubicBezTo>
                  <a:pt x="132941" y="164814"/>
                  <a:pt x="162014" y="138771"/>
                  <a:pt x="180118" y="110464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9" name="Text 7"/>
          <p:cNvSpPr/>
          <p:nvPr/>
        </p:nvSpPr>
        <p:spPr>
          <a:xfrm>
            <a:off x="801890" y="2029272"/>
            <a:ext cx="7560677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Nicht Glück, sondern Stabilität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6413" y="2422035"/>
            <a:ext cx="7781605" cy="23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Systemwohlbefinden zeigt sich nicht als </a:t>
            </a:r>
            <a:pPr>
              <a:lnSpc>
                <a:spcPct val="140000"/>
              </a:lnSpc>
            </a:pPr>
            <a:r>
              <a:rPr lang="en-US" sz="11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harmonischer Zustand</a:t>
            </a:r>
            <a:pPr>
              <a:lnSpc>
                <a:spcPct val="140000"/>
              </a:lnSpc>
            </a:pPr>
            <a:r>
              <a:rPr lang="en-US" sz="11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sondern als </a:t>
            </a:r>
            <a:pPr>
              <a:lnSpc>
                <a:spcPct val="140000"/>
              </a:lnSpc>
            </a:pPr>
            <a:r>
              <a:rPr lang="en-US" sz="1160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Reduktion von Störsignalen</a:t>
            </a:r>
            <a:pPr>
              <a:lnSpc>
                <a:spcPct val="140000"/>
              </a:lnSpc>
            </a:pPr>
            <a:r>
              <a:rPr lang="en-US" sz="11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6413" y="2792295"/>
            <a:ext cx="3853981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Weniger: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6413" y="3054137"/>
            <a:ext cx="386216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piept · zuckt · knallt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6413" y="3315979"/>
            <a:ext cx="386216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kippt · echot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5037" y="2792295"/>
            <a:ext cx="3853981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Mehr: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75037" y="3054137"/>
            <a:ext cx="386216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8B9A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spürt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75037" y="3315979"/>
            <a:ext cx="3862164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Rückmeldung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3667" y="3937852"/>
            <a:ext cx="32730" cy="810072"/>
          </a:xfrm>
          <a:custGeom>
            <a:avLst/>
            <a:gdLst/>
            <a:ahLst/>
            <a:cxnLst/>
            <a:rect l="l" t="t" r="r" b="b"/>
            <a:pathLst>
              <a:path w="32730" h="810072">
                <a:moveTo>
                  <a:pt x="0" y="0"/>
                </a:moveTo>
                <a:lnTo>
                  <a:pt x="32730" y="0"/>
                </a:lnTo>
                <a:lnTo>
                  <a:pt x="32730" y="810072"/>
                </a:lnTo>
                <a:lnTo>
                  <a:pt x="0" y="810072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Text 16"/>
          <p:cNvSpPr/>
          <p:nvPr/>
        </p:nvSpPr>
        <p:spPr>
          <a:xfrm>
            <a:off x="556413" y="3937852"/>
            <a:ext cx="798616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Wohlbefinden als Nebenwirkung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6413" y="4265154"/>
            <a:ext cx="7977987" cy="482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Stille nicht als Ziel, sondern als </a:t>
            </a:r>
            <a:pPr>
              <a:lnSpc>
                <a:spcPct val="140000"/>
              </a:lnSpc>
            </a:pPr>
            <a:r>
              <a:rPr lang="en-US" sz="11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Nebenwirkung</a:t>
            </a:r>
            <a:pPr>
              <a:lnSpc>
                <a:spcPct val="140000"/>
              </a:lnSpc>
            </a:pPr>
            <a:r>
              <a:rPr lang="en-US" sz="11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von Systemstabilität. Ein System, das spürt, muss nicht schreien – weder Mensch noch KI.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3667" y="4940215"/>
            <a:ext cx="32730" cy="810072"/>
          </a:xfrm>
          <a:custGeom>
            <a:avLst/>
            <a:gdLst/>
            <a:ahLst/>
            <a:cxnLst/>
            <a:rect l="l" t="t" r="r" b="b"/>
            <a:pathLst>
              <a:path w="32730" h="810072">
                <a:moveTo>
                  <a:pt x="0" y="0"/>
                </a:moveTo>
                <a:lnTo>
                  <a:pt x="32730" y="0"/>
                </a:lnTo>
                <a:lnTo>
                  <a:pt x="32730" y="810072"/>
                </a:lnTo>
                <a:lnTo>
                  <a:pt x="0" y="810072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1" name="Text 19"/>
          <p:cNvSpPr/>
          <p:nvPr/>
        </p:nvSpPr>
        <p:spPr>
          <a:xfrm>
            <a:off x="556413" y="4940215"/>
            <a:ext cx="798616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Grenzen spürbar machen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6413" y="5267517"/>
            <a:ext cx="7977987" cy="482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mehr wissen, mehr können, mehr verstehen – sondern: </a:t>
            </a:r>
            <a:pPr>
              <a:lnSpc>
                <a:spcPct val="140000"/>
              </a:lnSpc>
            </a:pPr>
            <a:r>
              <a:rPr lang="en-US" sz="11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Rückmeldung wieder wahrnehmbar</a:t>
            </a:r>
            <a:pPr>
              <a:lnSpc>
                <a:spcPct val="140000"/>
              </a:lnSpc>
            </a:pPr>
            <a:r>
              <a:rPr lang="en-US" sz="11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Grenzen spürbar, Resonanz möglich.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20826" y="1832891"/>
            <a:ext cx="3142099" cy="1865621"/>
          </a:xfrm>
          <a:custGeom>
            <a:avLst/>
            <a:gdLst/>
            <a:ahLst/>
            <a:cxnLst/>
            <a:rect l="l" t="t" r="r" b="b"/>
            <a:pathLst>
              <a:path w="3142099" h="1865621">
                <a:moveTo>
                  <a:pt x="65465" y="0"/>
                </a:moveTo>
                <a:lnTo>
                  <a:pt x="3076635" y="0"/>
                </a:lnTo>
                <a:cubicBezTo>
                  <a:pt x="3112790" y="0"/>
                  <a:pt x="3142099" y="29310"/>
                  <a:pt x="3142099" y="65465"/>
                </a:cubicBezTo>
                <a:lnTo>
                  <a:pt x="3142099" y="1800157"/>
                </a:lnTo>
                <a:cubicBezTo>
                  <a:pt x="3142099" y="1836312"/>
                  <a:pt x="3112790" y="1865621"/>
                  <a:pt x="3076635" y="1865621"/>
                </a:cubicBezTo>
                <a:lnTo>
                  <a:pt x="65465" y="1865621"/>
                </a:lnTo>
                <a:cubicBezTo>
                  <a:pt x="29310" y="1865621"/>
                  <a:pt x="0" y="1836312"/>
                  <a:pt x="0" y="1800157"/>
                </a:cubicBezTo>
                <a:lnTo>
                  <a:pt x="0" y="65465"/>
                </a:lnTo>
                <a:cubicBezTo>
                  <a:pt x="0" y="29334"/>
                  <a:pt x="29334" y="0"/>
                  <a:pt x="65465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917207" y="2029272"/>
            <a:ext cx="283116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Wohlbefinden NICHT ist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49937" y="2454765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14089" y="18769"/>
                </a:moveTo>
                <a:cubicBezTo>
                  <a:pt x="10893" y="15572"/>
                  <a:pt x="5702" y="15572"/>
                  <a:pt x="2506" y="18769"/>
                </a:cubicBezTo>
                <a:cubicBezTo>
                  <a:pt x="-690" y="21965"/>
                  <a:pt x="-690" y="27156"/>
                  <a:pt x="2506" y="30352"/>
                </a:cubicBezTo>
                <a:lnTo>
                  <a:pt x="37640" y="65460"/>
                </a:lnTo>
                <a:lnTo>
                  <a:pt x="2531" y="100594"/>
                </a:lnTo>
                <a:cubicBezTo>
                  <a:pt x="-665" y="103791"/>
                  <a:pt x="-665" y="108981"/>
                  <a:pt x="2531" y="112178"/>
                </a:cubicBezTo>
                <a:cubicBezTo>
                  <a:pt x="5728" y="115374"/>
                  <a:pt x="10919" y="115374"/>
                  <a:pt x="14115" y="112178"/>
                </a:cubicBezTo>
                <a:lnTo>
                  <a:pt x="49223" y="77044"/>
                </a:lnTo>
                <a:lnTo>
                  <a:pt x="84357" y="112152"/>
                </a:lnTo>
                <a:cubicBezTo>
                  <a:pt x="87553" y="115348"/>
                  <a:pt x="92744" y="115348"/>
                  <a:pt x="95940" y="112152"/>
                </a:cubicBezTo>
                <a:cubicBezTo>
                  <a:pt x="99137" y="108956"/>
                  <a:pt x="99137" y="103765"/>
                  <a:pt x="95940" y="100569"/>
                </a:cubicBezTo>
                <a:lnTo>
                  <a:pt x="60807" y="65460"/>
                </a:lnTo>
                <a:lnTo>
                  <a:pt x="95915" y="30327"/>
                </a:lnTo>
                <a:cubicBezTo>
                  <a:pt x="99111" y="27130"/>
                  <a:pt x="99111" y="21939"/>
                  <a:pt x="95915" y="18743"/>
                </a:cubicBezTo>
                <a:cubicBezTo>
                  <a:pt x="92719" y="15547"/>
                  <a:pt x="87528" y="15547"/>
                  <a:pt x="84331" y="18743"/>
                </a:cubicBezTo>
                <a:lnTo>
                  <a:pt x="49223" y="53877"/>
                </a:lnTo>
                <a:lnTo>
                  <a:pt x="14089" y="18769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9179049" y="2422035"/>
            <a:ext cx="1292843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 Optimierungsziel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949937" y="2749337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14089" y="18769"/>
                </a:moveTo>
                <a:cubicBezTo>
                  <a:pt x="10893" y="15572"/>
                  <a:pt x="5702" y="15572"/>
                  <a:pt x="2506" y="18769"/>
                </a:cubicBezTo>
                <a:cubicBezTo>
                  <a:pt x="-690" y="21965"/>
                  <a:pt x="-690" y="27156"/>
                  <a:pt x="2506" y="30352"/>
                </a:cubicBezTo>
                <a:lnTo>
                  <a:pt x="37640" y="65460"/>
                </a:lnTo>
                <a:lnTo>
                  <a:pt x="2531" y="100594"/>
                </a:lnTo>
                <a:cubicBezTo>
                  <a:pt x="-665" y="103791"/>
                  <a:pt x="-665" y="108981"/>
                  <a:pt x="2531" y="112178"/>
                </a:cubicBezTo>
                <a:cubicBezTo>
                  <a:pt x="5728" y="115374"/>
                  <a:pt x="10919" y="115374"/>
                  <a:pt x="14115" y="112178"/>
                </a:cubicBezTo>
                <a:lnTo>
                  <a:pt x="49223" y="77044"/>
                </a:lnTo>
                <a:lnTo>
                  <a:pt x="84357" y="112152"/>
                </a:lnTo>
                <a:cubicBezTo>
                  <a:pt x="87553" y="115348"/>
                  <a:pt x="92744" y="115348"/>
                  <a:pt x="95940" y="112152"/>
                </a:cubicBezTo>
                <a:cubicBezTo>
                  <a:pt x="99137" y="108956"/>
                  <a:pt x="99137" y="103765"/>
                  <a:pt x="95940" y="100569"/>
                </a:cubicBezTo>
                <a:lnTo>
                  <a:pt x="60807" y="65460"/>
                </a:lnTo>
                <a:lnTo>
                  <a:pt x="95915" y="30327"/>
                </a:lnTo>
                <a:cubicBezTo>
                  <a:pt x="99111" y="27130"/>
                  <a:pt x="99111" y="21939"/>
                  <a:pt x="95915" y="18743"/>
                </a:cubicBezTo>
                <a:cubicBezTo>
                  <a:pt x="92719" y="15547"/>
                  <a:pt x="87528" y="15547"/>
                  <a:pt x="84331" y="18743"/>
                </a:cubicBezTo>
                <a:lnTo>
                  <a:pt x="49223" y="53877"/>
                </a:lnTo>
                <a:lnTo>
                  <a:pt x="14089" y="18769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9179049" y="2716607"/>
            <a:ext cx="153831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 Heilungsversprechen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49937" y="3043909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14089" y="18769"/>
                </a:moveTo>
                <a:cubicBezTo>
                  <a:pt x="10893" y="15572"/>
                  <a:pt x="5702" y="15572"/>
                  <a:pt x="2506" y="18769"/>
                </a:cubicBezTo>
                <a:cubicBezTo>
                  <a:pt x="-690" y="21965"/>
                  <a:pt x="-690" y="27156"/>
                  <a:pt x="2506" y="30352"/>
                </a:cubicBezTo>
                <a:lnTo>
                  <a:pt x="37640" y="65460"/>
                </a:lnTo>
                <a:lnTo>
                  <a:pt x="2531" y="100594"/>
                </a:lnTo>
                <a:cubicBezTo>
                  <a:pt x="-665" y="103791"/>
                  <a:pt x="-665" y="108981"/>
                  <a:pt x="2531" y="112178"/>
                </a:cubicBezTo>
                <a:cubicBezTo>
                  <a:pt x="5728" y="115374"/>
                  <a:pt x="10919" y="115374"/>
                  <a:pt x="14115" y="112178"/>
                </a:cubicBezTo>
                <a:lnTo>
                  <a:pt x="49223" y="77044"/>
                </a:lnTo>
                <a:lnTo>
                  <a:pt x="84357" y="112152"/>
                </a:lnTo>
                <a:cubicBezTo>
                  <a:pt x="87553" y="115348"/>
                  <a:pt x="92744" y="115348"/>
                  <a:pt x="95940" y="112152"/>
                </a:cubicBezTo>
                <a:cubicBezTo>
                  <a:pt x="99137" y="108956"/>
                  <a:pt x="99137" y="103765"/>
                  <a:pt x="95940" y="100569"/>
                </a:cubicBezTo>
                <a:lnTo>
                  <a:pt x="60807" y="65460"/>
                </a:lnTo>
                <a:lnTo>
                  <a:pt x="95915" y="30327"/>
                </a:lnTo>
                <a:cubicBezTo>
                  <a:pt x="99111" y="27130"/>
                  <a:pt x="99111" y="21939"/>
                  <a:pt x="95915" y="18743"/>
                </a:cubicBezTo>
                <a:cubicBezTo>
                  <a:pt x="92719" y="15547"/>
                  <a:pt x="87528" y="15547"/>
                  <a:pt x="84331" y="18743"/>
                </a:cubicBezTo>
                <a:lnTo>
                  <a:pt x="49223" y="53877"/>
                </a:lnTo>
                <a:lnTo>
                  <a:pt x="14089" y="18769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Text 28"/>
          <p:cNvSpPr/>
          <p:nvPr/>
        </p:nvSpPr>
        <p:spPr>
          <a:xfrm>
            <a:off x="9179049" y="3011179"/>
            <a:ext cx="1227383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 Sinnstiftungsort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949937" y="3338481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14089" y="18769"/>
                </a:moveTo>
                <a:cubicBezTo>
                  <a:pt x="10893" y="15572"/>
                  <a:pt x="5702" y="15572"/>
                  <a:pt x="2506" y="18769"/>
                </a:cubicBezTo>
                <a:cubicBezTo>
                  <a:pt x="-690" y="21965"/>
                  <a:pt x="-690" y="27156"/>
                  <a:pt x="2506" y="30352"/>
                </a:cubicBezTo>
                <a:lnTo>
                  <a:pt x="37640" y="65460"/>
                </a:lnTo>
                <a:lnTo>
                  <a:pt x="2531" y="100594"/>
                </a:lnTo>
                <a:cubicBezTo>
                  <a:pt x="-665" y="103791"/>
                  <a:pt x="-665" y="108981"/>
                  <a:pt x="2531" y="112178"/>
                </a:cubicBezTo>
                <a:cubicBezTo>
                  <a:pt x="5728" y="115374"/>
                  <a:pt x="10919" y="115374"/>
                  <a:pt x="14115" y="112178"/>
                </a:cubicBezTo>
                <a:lnTo>
                  <a:pt x="49223" y="77044"/>
                </a:lnTo>
                <a:lnTo>
                  <a:pt x="84357" y="112152"/>
                </a:lnTo>
                <a:cubicBezTo>
                  <a:pt x="87553" y="115348"/>
                  <a:pt x="92744" y="115348"/>
                  <a:pt x="95940" y="112152"/>
                </a:cubicBezTo>
                <a:cubicBezTo>
                  <a:pt x="99137" y="108956"/>
                  <a:pt x="99137" y="103765"/>
                  <a:pt x="95940" y="100569"/>
                </a:cubicBezTo>
                <a:lnTo>
                  <a:pt x="60807" y="65460"/>
                </a:lnTo>
                <a:lnTo>
                  <a:pt x="95915" y="30327"/>
                </a:lnTo>
                <a:cubicBezTo>
                  <a:pt x="99111" y="27130"/>
                  <a:pt x="99111" y="21939"/>
                  <a:pt x="95915" y="18743"/>
                </a:cubicBezTo>
                <a:cubicBezTo>
                  <a:pt x="92719" y="15547"/>
                  <a:pt x="87528" y="15547"/>
                  <a:pt x="84331" y="18743"/>
                </a:cubicBezTo>
                <a:lnTo>
                  <a:pt x="49223" y="53877"/>
                </a:lnTo>
                <a:lnTo>
                  <a:pt x="14089" y="18769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9179049" y="3305750"/>
            <a:ext cx="130102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Leistungsmetrik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724099" y="3898167"/>
            <a:ext cx="3132280" cy="1839437"/>
          </a:xfrm>
          <a:custGeom>
            <a:avLst/>
            <a:gdLst/>
            <a:ahLst/>
            <a:cxnLst/>
            <a:rect l="l" t="t" r="r" b="b"/>
            <a:pathLst>
              <a:path w="3132280" h="1839437">
                <a:moveTo>
                  <a:pt x="65466" y="0"/>
                </a:moveTo>
                <a:lnTo>
                  <a:pt x="3066815" y="0"/>
                </a:lnTo>
                <a:cubicBezTo>
                  <a:pt x="3102970" y="0"/>
                  <a:pt x="3132280" y="29310"/>
                  <a:pt x="3132280" y="65466"/>
                </a:cubicBezTo>
                <a:lnTo>
                  <a:pt x="3132280" y="1773972"/>
                </a:lnTo>
                <a:cubicBezTo>
                  <a:pt x="3132280" y="1810127"/>
                  <a:pt x="3102970" y="1839437"/>
                  <a:pt x="3066815" y="1839437"/>
                </a:cubicBezTo>
                <a:lnTo>
                  <a:pt x="65466" y="1839437"/>
                </a:lnTo>
                <a:cubicBezTo>
                  <a:pt x="29310" y="1839437"/>
                  <a:pt x="0" y="1810127"/>
                  <a:pt x="0" y="1773972"/>
                </a:cubicBezTo>
                <a:lnTo>
                  <a:pt x="0" y="65466"/>
                </a:lnTo>
                <a:cubicBezTo>
                  <a:pt x="0" y="29334"/>
                  <a:pt x="29334" y="0"/>
                  <a:pt x="65466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23753" y="4097822"/>
            <a:ext cx="2814797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es stattdessen ist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40118" y="4490584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128517" y="71239"/>
                </a:moveTo>
                <a:cubicBezTo>
                  <a:pt x="131713" y="68043"/>
                  <a:pt x="131713" y="62852"/>
                  <a:pt x="128517" y="59656"/>
                </a:cubicBezTo>
                <a:lnTo>
                  <a:pt x="87604" y="18743"/>
                </a:lnTo>
                <a:cubicBezTo>
                  <a:pt x="84408" y="15547"/>
                  <a:pt x="79217" y="15547"/>
                  <a:pt x="76021" y="18743"/>
                </a:cubicBezTo>
                <a:cubicBezTo>
                  <a:pt x="72825" y="21939"/>
                  <a:pt x="72825" y="27130"/>
                  <a:pt x="76021" y="30327"/>
                </a:cubicBezTo>
                <a:lnTo>
                  <a:pt x="102972" y="57278"/>
                </a:lnTo>
                <a:lnTo>
                  <a:pt x="8183" y="57278"/>
                </a:lnTo>
                <a:cubicBezTo>
                  <a:pt x="3657" y="57278"/>
                  <a:pt x="0" y="60934"/>
                  <a:pt x="0" y="65460"/>
                </a:cubicBezTo>
                <a:cubicBezTo>
                  <a:pt x="0" y="69986"/>
                  <a:pt x="3657" y="73643"/>
                  <a:pt x="8183" y="73643"/>
                </a:cubicBezTo>
                <a:lnTo>
                  <a:pt x="102972" y="73643"/>
                </a:lnTo>
                <a:lnTo>
                  <a:pt x="76021" y="100594"/>
                </a:lnTo>
                <a:cubicBezTo>
                  <a:pt x="72825" y="103791"/>
                  <a:pt x="72825" y="108981"/>
                  <a:pt x="76021" y="112178"/>
                </a:cubicBezTo>
                <a:cubicBezTo>
                  <a:pt x="79217" y="115374"/>
                  <a:pt x="84408" y="115374"/>
                  <a:pt x="87604" y="112178"/>
                </a:cubicBezTo>
                <a:lnTo>
                  <a:pt x="128517" y="71265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6" name="Text 34"/>
          <p:cNvSpPr/>
          <p:nvPr/>
        </p:nvSpPr>
        <p:spPr>
          <a:xfrm>
            <a:off x="9185595" y="4457854"/>
            <a:ext cx="100645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Entlastungsraum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40118" y="4785156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128517" y="71239"/>
                </a:moveTo>
                <a:cubicBezTo>
                  <a:pt x="131713" y="68043"/>
                  <a:pt x="131713" y="62852"/>
                  <a:pt x="128517" y="59656"/>
                </a:cubicBezTo>
                <a:lnTo>
                  <a:pt x="87604" y="18743"/>
                </a:lnTo>
                <a:cubicBezTo>
                  <a:pt x="84408" y="15547"/>
                  <a:pt x="79217" y="15547"/>
                  <a:pt x="76021" y="18743"/>
                </a:cubicBezTo>
                <a:cubicBezTo>
                  <a:pt x="72825" y="21939"/>
                  <a:pt x="72825" y="27130"/>
                  <a:pt x="76021" y="30327"/>
                </a:cubicBezTo>
                <a:lnTo>
                  <a:pt x="102972" y="57278"/>
                </a:lnTo>
                <a:lnTo>
                  <a:pt x="8183" y="57278"/>
                </a:lnTo>
                <a:cubicBezTo>
                  <a:pt x="3657" y="57278"/>
                  <a:pt x="0" y="60934"/>
                  <a:pt x="0" y="65460"/>
                </a:cubicBezTo>
                <a:cubicBezTo>
                  <a:pt x="0" y="69986"/>
                  <a:pt x="3657" y="73643"/>
                  <a:pt x="8183" y="73643"/>
                </a:cubicBezTo>
                <a:lnTo>
                  <a:pt x="102972" y="73643"/>
                </a:lnTo>
                <a:lnTo>
                  <a:pt x="76021" y="100594"/>
                </a:lnTo>
                <a:cubicBezTo>
                  <a:pt x="72825" y="103791"/>
                  <a:pt x="72825" y="108981"/>
                  <a:pt x="76021" y="112178"/>
                </a:cubicBezTo>
                <a:cubicBezTo>
                  <a:pt x="79217" y="115374"/>
                  <a:pt x="84408" y="115374"/>
                  <a:pt x="87604" y="112178"/>
                </a:cubicBezTo>
                <a:lnTo>
                  <a:pt x="128517" y="71265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8" name="Text 36"/>
          <p:cNvSpPr/>
          <p:nvPr/>
        </p:nvSpPr>
        <p:spPr>
          <a:xfrm>
            <a:off x="9185595" y="4752426"/>
            <a:ext cx="1161922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Rückmeldungszone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940118" y="5079728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128517" y="71239"/>
                </a:moveTo>
                <a:cubicBezTo>
                  <a:pt x="131713" y="68043"/>
                  <a:pt x="131713" y="62852"/>
                  <a:pt x="128517" y="59656"/>
                </a:cubicBezTo>
                <a:lnTo>
                  <a:pt x="87604" y="18743"/>
                </a:lnTo>
                <a:cubicBezTo>
                  <a:pt x="84408" y="15547"/>
                  <a:pt x="79217" y="15547"/>
                  <a:pt x="76021" y="18743"/>
                </a:cubicBezTo>
                <a:cubicBezTo>
                  <a:pt x="72825" y="21939"/>
                  <a:pt x="72825" y="27130"/>
                  <a:pt x="76021" y="30327"/>
                </a:cubicBezTo>
                <a:lnTo>
                  <a:pt x="102972" y="57278"/>
                </a:lnTo>
                <a:lnTo>
                  <a:pt x="8183" y="57278"/>
                </a:lnTo>
                <a:cubicBezTo>
                  <a:pt x="3657" y="57278"/>
                  <a:pt x="0" y="60934"/>
                  <a:pt x="0" y="65460"/>
                </a:cubicBezTo>
                <a:cubicBezTo>
                  <a:pt x="0" y="69986"/>
                  <a:pt x="3657" y="73643"/>
                  <a:pt x="8183" y="73643"/>
                </a:cubicBezTo>
                <a:lnTo>
                  <a:pt x="102972" y="73643"/>
                </a:lnTo>
                <a:lnTo>
                  <a:pt x="76021" y="100594"/>
                </a:lnTo>
                <a:cubicBezTo>
                  <a:pt x="72825" y="103791"/>
                  <a:pt x="72825" y="108981"/>
                  <a:pt x="76021" y="112178"/>
                </a:cubicBezTo>
                <a:cubicBezTo>
                  <a:pt x="79217" y="115374"/>
                  <a:pt x="84408" y="115374"/>
                  <a:pt x="87604" y="112178"/>
                </a:cubicBezTo>
                <a:lnTo>
                  <a:pt x="128517" y="71265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40" name="Text 38"/>
          <p:cNvSpPr/>
          <p:nvPr/>
        </p:nvSpPr>
        <p:spPr>
          <a:xfrm>
            <a:off x="9185595" y="5046997"/>
            <a:ext cx="152195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Für übersteuerte Systeme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940118" y="5374299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128517" y="71239"/>
                </a:moveTo>
                <a:cubicBezTo>
                  <a:pt x="131713" y="68043"/>
                  <a:pt x="131713" y="62852"/>
                  <a:pt x="128517" y="59656"/>
                </a:cubicBezTo>
                <a:lnTo>
                  <a:pt x="87604" y="18743"/>
                </a:lnTo>
                <a:cubicBezTo>
                  <a:pt x="84408" y="15547"/>
                  <a:pt x="79217" y="15547"/>
                  <a:pt x="76021" y="18743"/>
                </a:cubicBezTo>
                <a:cubicBezTo>
                  <a:pt x="72825" y="21939"/>
                  <a:pt x="72825" y="27130"/>
                  <a:pt x="76021" y="30327"/>
                </a:cubicBezTo>
                <a:lnTo>
                  <a:pt x="102972" y="57278"/>
                </a:lnTo>
                <a:lnTo>
                  <a:pt x="8183" y="57278"/>
                </a:lnTo>
                <a:cubicBezTo>
                  <a:pt x="3657" y="57278"/>
                  <a:pt x="0" y="60934"/>
                  <a:pt x="0" y="65460"/>
                </a:cubicBezTo>
                <a:cubicBezTo>
                  <a:pt x="0" y="69986"/>
                  <a:pt x="3657" y="73643"/>
                  <a:pt x="8183" y="73643"/>
                </a:cubicBezTo>
                <a:lnTo>
                  <a:pt x="102972" y="73643"/>
                </a:lnTo>
                <a:lnTo>
                  <a:pt x="76021" y="100594"/>
                </a:lnTo>
                <a:cubicBezTo>
                  <a:pt x="72825" y="103791"/>
                  <a:pt x="72825" y="108981"/>
                  <a:pt x="76021" y="112178"/>
                </a:cubicBezTo>
                <a:cubicBezTo>
                  <a:pt x="79217" y="115374"/>
                  <a:pt x="84408" y="115374"/>
                  <a:pt x="87604" y="112178"/>
                </a:cubicBezTo>
                <a:lnTo>
                  <a:pt x="128517" y="71265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42" name="Text 40"/>
          <p:cNvSpPr/>
          <p:nvPr/>
        </p:nvSpPr>
        <p:spPr>
          <a:xfrm>
            <a:off x="9185595" y="5341569"/>
            <a:ext cx="1292843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E8E6E3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Biologisch &amp; künstlich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737191" y="5937259"/>
            <a:ext cx="32730" cy="916446"/>
          </a:xfrm>
          <a:custGeom>
            <a:avLst/>
            <a:gdLst/>
            <a:ahLst/>
            <a:cxnLst/>
            <a:rect l="l" t="t" r="r" b="b"/>
            <a:pathLst>
              <a:path w="32730" h="916446">
                <a:moveTo>
                  <a:pt x="0" y="0"/>
                </a:moveTo>
                <a:lnTo>
                  <a:pt x="32730" y="0"/>
                </a:lnTo>
                <a:lnTo>
                  <a:pt x="32730" y="916446"/>
                </a:lnTo>
                <a:lnTo>
                  <a:pt x="0" y="916446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4" name="Text 42"/>
          <p:cNvSpPr/>
          <p:nvPr/>
        </p:nvSpPr>
        <p:spPr>
          <a:xfrm>
            <a:off x="8917207" y="6035450"/>
            <a:ext cx="3019361" cy="720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"Meckern, Motzen, Rauschen = wertvolle Sensordaten. Nicht zu therapieren, sondern zu hören."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736" y="387440"/>
            <a:ext cx="395684" cy="16487"/>
          </a:xfrm>
          <a:custGeom>
            <a:avLst/>
            <a:gdLst/>
            <a:ahLst/>
            <a:cxnLst/>
            <a:rect l="l" t="t" r="r" b="b"/>
            <a:pathLst>
              <a:path w="395684" h="16487">
                <a:moveTo>
                  <a:pt x="0" y="0"/>
                </a:moveTo>
                <a:lnTo>
                  <a:pt x="395684" y="0"/>
                </a:lnTo>
                <a:lnTo>
                  <a:pt x="395684" y="16487"/>
                </a:lnTo>
                <a:lnTo>
                  <a:pt x="0" y="16487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824341" y="329736"/>
            <a:ext cx="2242207" cy="131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9" spc="234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· Phänomenbeobachtung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736" y="593525"/>
            <a:ext cx="3396284" cy="98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116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Meta-Schleifen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116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Kontext-Inertia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94782" y="329736"/>
            <a:ext cx="865558" cy="494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895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736" y="1780576"/>
            <a:ext cx="5671465" cy="2332884"/>
          </a:xfrm>
          <a:custGeom>
            <a:avLst/>
            <a:gdLst/>
            <a:ahLst/>
            <a:cxnLst/>
            <a:rect l="l" t="t" r="r" b="b"/>
            <a:pathLst>
              <a:path w="5671465" h="2332884">
                <a:moveTo>
                  <a:pt x="65951" y="0"/>
                </a:moveTo>
                <a:lnTo>
                  <a:pt x="5605514" y="0"/>
                </a:lnTo>
                <a:cubicBezTo>
                  <a:pt x="5641937" y="0"/>
                  <a:pt x="5671465" y="29527"/>
                  <a:pt x="5671465" y="65951"/>
                </a:cubicBezTo>
                <a:lnTo>
                  <a:pt x="5671465" y="2266934"/>
                </a:lnTo>
                <a:cubicBezTo>
                  <a:pt x="5671465" y="2303357"/>
                  <a:pt x="5641937" y="2332884"/>
                  <a:pt x="5605514" y="2332884"/>
                </a:cubicBezTo>
                <a:lnTo>
                  <a:pt x="65951" y="2332884"/>
                </a:lnTo>
                <a:cubicBezTo>
                  <a:pt x="29527" y="2332884"/>
                  <a:pt x="0" y="2303357"/>
                  <a:pt x="0" y="2266934"/>
                </a:cubicBezTo>
                <a:lnTo>
                  <a:pt x="0" y="65951"/>
                </a:lnTo>
                <a:cubicBezTo>
                  <a:pt x="0" y="29551"/>
                  <a:pt x="29551" y="0"/>
                  <a:pt x="65951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2308" y="2011391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85515" y="74191"/>
                </a:moveTo>
                <a:lnTo>
                  <a:pt x="188568" y="74191"/>
                </a:lnTo>
                <a:cubicBezTo>
                  <a:pt x="193707" y="74191"/>
                  <a:pt x="197842" y="70056"/>
                  <a:pt x="197842" y="64917"/>
                </a:cubicBezTo>
                <a:lnTo>
                  <a:pt x="197842" y="9274"/>
                </a:lnTo>
                <a:cubicBezTo>
                  <a:pt x="197842" y="5526"/>
                  <a:pt x="195601" y="2125"/>
                  <a:pt x="192123" y="696"/>
                </a:cubicBezTo>
                <a:cubicBezTo>
                  <a:pt x="188645" y="-734"/>
                  <a:pt x="184665" y="77"/>
                  <a:pt x="181999" y="2705"/>
                </a:cubicBezTo>
                <a:lnTo>
                  <a:pt x="162022" y="22721"/>
                </a:lnTo>
                <a:cubicBezTo>
                  <a:pt x="144904" y="8540"/>
                  <a:pt x="122878" y="0"/>
                  <a:pt x="98921" y="0"/>
                </a:cubicBezTo>
                <a:cubicBezTo>
                  <a:pt x="49074" y="0"/>
                  <a:pt x="7844" y="36863"/>
                  <a:pt x="1005" y="84817"/>
                </a:cubicBezTo>
                <a:cubicBezTo>
                  <a:pt x="39" y="91579"/>
                  <a:pt x="4714" y="97839"/>
                  <a:pt x="11476" y="98805"/>
                </a:cubicBezTo>
                <a:cubicBezTo>
                  <a:pt x="18239" y="99771"/>
                  <a:pt x="24498" y="95057"/>
                  <a:pt x="25464" y="88333"/>
                </a:cubicBezTo>
                <a:cubicBezTo>
                  <a:pt x="30604" y="52359"/>
                  <a:pt x="61555" y="24730"/>
                  <a:pt x="98921" y="24730"/>
                </a:cubicBezTo>
                <a:cubicBezTo>
                  <a:pt x="116077" y="24730"/>
                  <a:pt x="131843" y="30526"/>
                  <a:pt x="144401" y="40303"/>
                </a:cubicBezTo>
                <a:lnTo>
                  <a:pt x="126356" y="58348"/>
                </a:lnTo>
                <a:cubicBezTo>
                  <a:pt x="123690" y="61014"/>
                  <a:pt x="122917" y="64994"/>
                  <a:pt x="124347" y="68472"/>
                </a:cubicBezTo>
                <a:cubicBezTo>
                  <a:pt x="125776" y="71949"/>
                  <a:pt x="129177" y="74191"/>
                  <a:pt x="132925" y="74191"/>
                </a:cubicBezTo>
                <a:lnTo>
                  <a:pt x="185515" y="74191"/>
                </a:lnTo>
                <a:close/>
                <a:moveTo>
                  <a:pt x="196876" y="113025"/>
                </a:moveTo>
                <a:cubicBezTo>
                  <a:pt x="197842" y="106263"/>
                  <a:pt x="193128" y="100003"/>
                  <a:pt x="186404" y="99037"/>
                </a:cubicBezTo>
                <a:cubicBezTo>
                  <a:pt x="179681" y="98071"/>
                  <a:pt x="173382" y="102785"/>
                  <a:pt x="172416" y="109509"/>
                </a:cubicBezTo>
                <a:cubicBezTo>
                  <a:pt x="167277" y="145445"/>
                  <a:pt x="136325" y="173073"/>
                  <a:pt x="98960" y="173073"/>
                </a:cubicBezTo>
                <a:cubicBezTo>
                  <a:pt x="81803" y="173073"/>
                  <a:pt x="66037" y="167277"/>
                  <a:pt x="53479" y="157501"/>
                </a:cubicBezTo>
                <a:lnTo>
                  <a:pt x="71486" y="139494"/>
                </a:lnTo>
                <a:cubicBezTo>
                  <a:pt x="74152" y="136828"/>
                  <a:pt x="74925" y="132848"/>
                  <a:pt x="73495" y="129370"/>
                </a:cubicBezTo>
                <a:cubicBezTo>
                  <a:pt x="72065" y="125892"/>
                  <a:pt x="68665" y="123651"/>
                  <a:pt x="64917" y="123651"/>
                </a:cubicBezTo>
                <a:lnTo>
                  <a:pt x="9274" y="123651"/>
                </a:lnTo>
                <a:cubicBezTo>
                  <a:pt x="4135" y="123651"/>
                  <a:pt x="0" y="127786"/>
                  <a:pt x="0" y="132925"/>
                </a:cubicBezTo>
                <a:lnTo>
                  <a:pt x="0" y="188568"/>
                </a:lnTo>
                <a:cubicBezTo>
                  <a:pt x="0" y="192316"/>
                  <a:pt x="2241" y="195717"/>
                  <a:pt x="5719" y="197146"/>
                </a:cubicBezTo>
                <a:cubicBezTo>
                  <a:pt x="9197" y="198576"/>
                  <a:pt x="13177" y="197765"/>
                  <a:pt x="15843" y="195137"/>
                </a:cubicBezTo>
                <a:lnTo>
                  <a:pt x="35859" y="175121"/>
                </a:lnTo>
                <a:cubicBezTo>
                  <a:pt x="52938" y="189302"/>
                  <a:pt x="74963" y="197842"/>
                  <a:pt x="98921" y="197842"/>
                </a:cubicBezTo>
                <a:cubicBezTo>
                  <a:pt x="148768" y="197842"/>
                  <a:pt x="189998" y="160978"/>
                  <a:pt x="196837" y="11302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774880" y="1978418"/>
            <a:ext cx="5127400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ist Kontext-Inertia?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7578" y="2374101"/>
            <a:ext cx="5349972" cy="48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gewichten </a:t>
            </a:r>
            <a:pPr>
              <a:lnSpc>
                <a:spcPct val="140000"/>
              </a:lnSpc>
            </a:pPr>
            <a:r>
              <a:rPr lang="en-US" sz="1168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Recency</a:t>
            </a:r>
            <a:pPr>
              <a:lnSpc>
                <a:spcPct val="140000"/>
              </a:lnSpc>
            </a:pPr>
            <a:r>
              <a:rPr lang="en-US" sz="116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stark. Nach wiederholter Meta-Interaktion wird der Meta-Ton zum lokalen "Sprachraum" – auch bei Themenwechseln.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7578" y="2988235"/>
            <a:ext cx="5275781" cy="923262"/>
          </a:xfrm>
          <a:custGeom>
            <a:avLst/>
            <a:gdLst/>
            <a:ahLst/>
            <a:cxnLst/>
            <a:rect l="l" t="t" r="r" b="b"/>
            <a:pathLst>
              <a:path w="5275781" h="923262">
                <a:moveTo>
                  <a:pt x="32970" y="0"/>
                </a:moveTo>
                <a:lnTo>
                  <a:pt x="5242811" y="0"/>
                </a:lnTo>
                <a:cubicBezTo>
                  <a:pt x="5261020" y="0"/>
                  <a:pt x="5275781" y="14761"/>
                  <a:pt x="5275781" y="32970"/>
                </a:cubicBezTo>
                <a:lnTo>
                  <a:pt x="5275781" y="890292"/>
                </a:lnTo>
                <a:cubicBezTo>
                  <a:pt x="5275781" y="908501"/>
                  <a:pt x="5261020" y="923262"/>
                  <a:pt x="5242811" y="923262"/>
                </a:cubicBezTo>
                <a:lnTo>
                  <a:pt x="32970" y="923262"/>
                </a:lnTo>
                <a:cubicBezTo>
                  <a:pt x="14761" y="923262"/>
                  <a:pt x="0" y="908501"/>
                  <a:pt x="0" y="890292"/>
                </a:cubicBezTo>
                <a:lnTo>
                  <a:pt x="0" y="32970"/>
                </a:lnTo>
                <a:cubicBezTo>
                  <a:pt x="0" y="14761"/>
                  <a:pt x="14761" y="0"/>
                  <a:pt x="32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9473" y="3120130"/>
            <a:ext cx="5077939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 Mechanismus: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9473" y="3383919"/>
            <a:ext cx="5077939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Kontextgewichtung rekursiv verstärkt → Lokaler "Kontextstil" dominiert → Alte Muster driften zurück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6223" y="4274207"/>
            <a:ext cx="32974" cy="758394"/>
          </a:xfrm>
          <a:custGeom>
            <a:avLst/>
            <a:gdLst/>
            <a:ahLst/>
            <a:cxnLst/>
            <a:rect l="l" t="t" r="r" b="b"/>
            <a:pathLst>
              <a:path w="32974" h="758394">
                <a:moveTo>
                  <a:pt x="0" y="0"/>
                </a:moveTo>
                <a:lnTo>
                  <a:pt x="32974" y="0"/>
                </a:lnTo>
                <a:lnTo>
                  <a:pt x="32974" y="758394"/>
                </a:lnTo>
                <a:lnTo>
                  <a:pt x="0" y="758394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4" name="Text 12"/>
          <p:cNvSpPr/>
          <p:nvPr/>
        </p:nvSpPr>
        <p:spPr>
          <a:xfrm>
            <a:off x="527578" y="4274207"/>
            <a:ext cx="5556057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Warum das passiert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7578" y="4603943"/>
            <a:ext cx="5539570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weil das Modell "will". Sondern weil: </a:t>
            </a:r>
            <a:pPr>
              <a:lnSpc>
                <a:spcPct val="140000"/>
              </a:lnSpc>
            </a:pPr>
            <a:r>
              <a:rPr lang="en-US" sz="1039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Kontextgewichtung rekursiv verstärkt wird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Das ist kein Bewusstsein. Das ist Sequenz-Statistik.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6223" y="5197469"/>
            <a:ext cx="32974" cy="758394"/>
          </a:xfrm>
          <a:custGeom>
            <a:avLst/>
            <a:gdLst/>
            <a:ahLst/>
            <a:cxnLst/>
            <a:rect l="l" t="t" r="r" b="b"/>
            <a:pathLst>
              <a:path w="32974" h="758394">
                <a:moveTo>
                  <a:pt x="0" y="0"/>
                </a:moveTo>
                <a:lnTo>
                  <a:pt x="32974" y="0"/>
                </a:lnTo>
                <a:lnTo>
                  <a:pt x="32974" y="758394"/>
                </a:lnTo>
                <a:lnTo>
                  <a:pt x="0" y="758394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527578" y="5197469"/>
            <a:ext cx="5556057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Die Folge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578" y="5527205"/>
            <a:ext cx="5539570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Überanalyse auch bei Themenwechsel. </a:t>
            </a:r>
            <a:pPr>
              <a:lnSpc>
                <a:spcPct val="140000"/>
              </a:lnSpc>
            </a:pPr>
            <a:r>
              <a:rPr lang="en-US" sz="1039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Kontextträgheit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statt bewusste Anpassung. Das System verstummt nicht – es sendet weiter, aber im falschen Modus.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5470" y="1780576"/>
            <a:ext cx="5671465" cy="2571943"/>
          </a:xfrm>
          <a:custGeom>
            <a:avLst/>
            <a:gdLst/>
            <a:ahLst/>
            <a:cxnLst/>
            <a:rect l="l" t="t" r="r" b="b"/>
            <a:pathLst>
              <a:path w="5671465" h="2571943">
                <a:moveTo>
                  <a:pt x="65945" y="0"/>
                </a:moveTo>
                <a:lnTo>
                  <a:pt x="5605520" y="0"/>
                </a:lnTo>
                <a:cubicBezTo>
                  <a:pt x="5641940" y="0"/>
                  <a:pt x="5671465" y="29524"/>
                  <a:pt x="5671465" y="65945"/>
                </a:cubicBezTo>
                <a:lnTo>
                  <a:pt x="5671465" y="2505999"/>
                </a:lnTo>
                <a:cubicBezTo>
                  <a:pt x="5671465" y="2542419"/>
                  <a:pt x="5641940" y="2571943"/>
                  <a:pt x="5605520" y="2571943"/>
                </a:cubicBezTo>
                <a:lnTo>
                  <a:pt x="65945" y="2571943"/>
                </a:lnTo>
                <a:cubicBezTo>
                  <a:pt x="29524" y="2571943"/>
                  <a:pt x="0" y="2542419"/>
                  <a:pt x="0" y="2505999"/>
                </a:cubicBezTo>
                <a:lnTo>
                  <a:pt x="0" y="65945"/>
                </a:lnTo>
                <a:cubicBezTo>
                  <a:pt x="0" y="29524"/>
                  <a:pt x="29524" y="0"/>
                  <a:pt x="65945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93312" y="1978418"/>
            <a:ext cx="535821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Zwei Arten von Meta-Schleifen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9799" y="2374101"/>
            <a:ext cx="32974" cy="807854"/>
          </a:xfrm>
          <a:custGeom>
            <a:avLst/>
            <a:gdLst/>
            <a:ahLst/>
            <a:cxnLst/>
            <a:rect l="l" t="t" r="r" b="b"/>
            <a:pathLst>
              <a:path w="32974" h="807854">
                <a:moveTo>
                  <a:pt x="0" y="0"/>
                </a:moveTo>
                <a:lnTo>
                  <a:pt x="32974" y="0"/>
                </a:lnTo>
                <a:lnTo>
                  <a:pt x="32974" y="807854"/>
                </a:lnTo>
                <a:lnTo>
                  <a:pt x="0" y="807854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6591154" y="2374101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131895" y="0"/>
                </a:moveTo>
                <a:lnTo>
                  <a:pt x="131895" y="0"/>
                </a:lnTo>
                <a:cubicBezTo>
                  <a:pt x="204689" y="0"/>
                  <a:pt x="263789" y="59100"/>
                  <a:pt x="263789" y="131895"/>
                </a:cubicBezTo>
                <a:lnTo>
                  <a:pt x="263789" y="131895"/>
                </a:lnTo>
                <a:cubicBezTo>
                  <a:pt x="263789" y="204689"/>
                  <a:pt x="204689" y="263789"/>
                  <a:pt x="131895" y="263789"/>
                </a:cubicBezTo>
                <a:lnTo>
                  <a:pt x="131895" y="263789"/>
                </a:lnTo>
                <a:cubicBezTo>
                  <a:pt x="59100" y="263789"/>
                  <a:pt x="0" y="204689"/>
                  <a:pt x="0" y="131895"/>
                </a:cubicBezTo>
                <a:lnTo>
                  <a:pt x="0" y="131895"/>
                </a:lnTo>
                <a:cubicBezTo>
                  <a:pt x="0" y="59100"/>
                  <a:pt x="59100" y="0"/>
                  <a:pt x="13189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3" name="Text 21"/>
          <p:cNvSpPr/>
          <p:nvPr/>
        </p:nvSpPr>
        <p:spPr>
          <a:xfrm>
            <a:off x="6562302" y="2374101"/>
            <a:ext cx="321493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53864" y="2390588"/>
            <a:ext cx="2159773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Explorative Meta-Schleifen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91154" y="2703838"/>
            <a:ext cx="5143886" cy="21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Ziel: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Struktur erkennen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91154" y="2984114"/>
            <a:ext cx="514388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Kontrolliert, variable isoliert, wissenschaftlich. Das ist Governance-relevant.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9799" y="3346824"/>
            <a:ext cx="32974" cy="807854"/>
          </a:xfrm>
          <a:custGeom>
            <a:avLst/>
            <a:gdLst/>
            <a:ahLst/>
            <a:cxnLst/>
            <a:rect l="l" t="t" r="r" b="b"/>
            <a:pathLst>
              <a:path w="32974" h="807854">
                <a:moveTo>
                  <a:pt x="0" y="0"/>
                </a:moveTo>
                <a:lnTo>
                  <a:pt x="32974" y="0"/>
                </a:lnTo>
                <a:lnTo>
                  <a:pt x="32974" y="807854"/>
                </a:lnTo>
                <a:lnTo>
                  <a:pt x="0" y="807854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8" name="Shape 26"/>
          <p:cNvSpPr/>
          <p:nvPr/>
        </p:nvSpPr>
        <p:spPr>
          <a:xfrm>
            <a:off x="6591154" y="3346824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131895" y="0"/>
                </a:moveTo>
                <a:lnTo>
                  <a:pt x="131895" y="0"/>
                </a:lnTo>
                <a:cubicBezTo>
                  <a:pt x="204689" y="0"/>
                  <a:pt x="263789" y="59100"/>
                  <a:pt x="263789" y="131895"/>
                </a:cubicBezTo>
                <a:lnTo>
                  <a:pt x="263789" y="131895"/>
                </a:lnTo>
                <a:cubicBezTo>
                  <a:pt x="263789" y="204689"/>
                  <a:pt x="204689" y="263789"/>
                  <a:pt x="131895" y="263789"/>
                </a:cubicBezTo>
                <a:lnTo>
                  <a:pt x="131895" y="263789"/>
                </a:lnTo>
                <a:cubicBezTo>
                  <a:pt x="59100" y="263789"/>
                  <a:pt x="0" y="204689"/>
                  <a:pt x="0" y="131895"/>
                </a:cubicBezTo>
                <a:lnTo>
                  <a:pt x="0" y="131895"/>
                </a:lnTo>
                <a:cubicBezTo>
                  <a:pt x="0" y="59100"/>
                  <a:pt x="59100" y="0"/>
                  <a:pt x="131895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9" name="Text 27"/>
          <p:cNvSpPr/>
          <p:nvPr/>
        </p:nvSpPr>
        <p:spPr>
          <a:xfrm>
            <a:off x="6562302" y="3346824"/>
            <a:ext cx="321493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9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53864" y="3363310"/>
            <a:ext cx="206909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Identitäts-Meta-Schleifen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91154" y="3676560"/>
            <a:ext cx="5143886" cy="21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Ziel: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Spiegelung verstärken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91154" y="3956836"/>
            <a:ext cx="514388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Kann narrative Intensität erzeugen, erzeugt Sog. Meta-süchtig, nicht produktiv.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8768" y="4520685"/>
            <a:ext cx="5661572" cy="1094725"/>
          </a:xfrm>
          <a:custGeom>
            <a:avLst/>
            <a:gdLst/>
            <a:ahLst/>
            <a:cxnLst/>
            <a:rect l="l" t="t" r="r" b="b"/>
            <a:pathLst>
              <a:path w="5661572" h="1094725">
                <a:moveTo>
                  <a:pt x="65946" y="0"/>
                </a:moveTo>
                <a:lnTo>
                  <a:pt x="5595626" y="0"/>
                </a:lnTo>
                <a:cubicBezTo>
                  <a:pt x="5632047" y="0"/>
                  <a:pt x="5661572" y="29525"/>
                  <a:pt x="5661572" y="65946"/>
                </a:cubicBezTo>
                <a:lnTo>
                  <a:pt x="5661572" y="1028778"/>
                </a:lnTo>
                <a:cubicBezTo>
                  <a:pt x="5661572" y="1065199"/>
                  <a:pt x="5632047" y="1094725"/>
                  <a:pt x="5595626" y="1094725"/>
                </a:cubicBezTo>
                <a:lnTo>
                  <a:pt x="65946" y="1094725"/>
                </a:lnTo>
                <a:cubicBezTo>
                  <a:pt x="29525" y="1094725"/>
                  <a:pt x="0" y="1065199"/>
                  <a:pt x="0" y="1028778"/>
                </a:cubicBezTo>
                <a:lnTo>
                  <a:pt x="0" y="65946"/>
                </a:lnTo>
                <a:cubicBezTo>
                  <a:pt x="0" y="29525"/>
                  <a:pt x="29525" y="0"/>
                  <a:pt x="65946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6934" y="4688849"/>
            <a:ext cx="5399432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 entscheidende Unterschied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66934" y="5018585"/>
            <a:ext cx="5391189" cy="42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Explorative Schleifen sind </a:t>
            </a:r>
            <a:pPr>
              <a:lnSpc>
                <a:spcPct val="140000"/>
              </a:lnSpc>
            </a:pPr>
            <a:r>
              <a:rPr lang="en-US" sz="1039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Diagnose-Tools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Identitäts-Schleifen sind </a:t>
            </a:r>
            <a:pPr>
              <a:lnSpc>
                <a:spcPct val="140000"/>
              </a:lnSpc>
            </a:pPr>
            <a:r>
              <a:rPr lang="en-US" sz="1039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Selbstzweck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Governance braucht erstere, nicht letztere.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1957" y="5783576"/>
            <a:ext cx="32974" cy="684203"/>
          </a:xfrm>
          <a:custGeom>
            <a:avLst/>
            <a:gdLst/>
            <a:ahLst/>
            <a:cxnLst/>
            <a:rect l="l" t="t" r="r" b="b"/>
            <a:pathLst>
              <a:path w="32974" h="684203">
                <a:moveTo>
                  <a:pt x="0" y="0"/>
                </a:moveTo>
                <a:lnTo>
                  <a:pt x="32974" y="0"/>
                </a:lnTo>
                <a:lnTo>
                  <a:pt x="32974" y="684203"/>
                </a:lnTo>
                <a:lnTo>
                  <a:pt x="0" y="684203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312" y="5882497"/>
            <a:ext cx="5547813" cy="48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8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"Meta-Schleifen sind kein Selbstzweck, sondern Belastungstest für Systemstabilität."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73063"/>
            <a:ext cx="381000" cy="15875"/>
          </a:xfrm>
          <a:custGeom>
            <a:avLst/>
            <a:gdLst/>
            <a:ahLst/>
            <a:cxnLst/>
            <a:rect l="l" t="t" r="r" b="b"/>
            <a:pathLst>
              <a:path w="381000" h="15875">
                <a:moveTo>
                  <a:pt x="0" y="0"/>
                </a:moveTo>
                <a:lnTo>
                  <a:pt x="381000" y="0"/>
                </a:lnTo>
                <a:lnTo>
                  <a:pt x="381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93750" y="317500"/>
            <a:ext cx="1770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spc="225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· Kritische Analyse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571500"/>
            <a:ext cx="443706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Alignment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 Smoothing-Problem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27834" y="317500"/>
            <a:ext cx="84931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750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778000"/>
            <a:ext cx="7477125" cy="2087563"/>
          </a:xfrm>
          <a:custGeom>
            <a:avLst/>
            <a:gdLst/>
            <a:ahLst/>
            <a:cxnLst/>
            <a:rect l="l" t="t" r="r" b="b"/>
            <a:pathLst>
              <a:path w="7477125" h="2087563">
                <a:moveTo>
                  <a:pt x="31750" y="0"/>
                </a:moveTo>
                <a:lnTo>
                  <a:pt x="7413621" y="0"/>
                </a:lnTo>
                <a:cubicBezTo>
                  <a:pt x="7448693" y="0"/>
                  <a:pt x="7477125" y="28432"/>
                  <a:pt x="7477125" y="63504"/>
                </a:cubicBezTo>
                <a:lnTo>
                  <a:pt x="7477125" y="2024059"/>
                </a:lnTo>
                <a:cubicBezTo>
                  <a:pt x="7477125" y="2059131"/>
                  <a:pt x="7448693" y="2087563"/>
                  <a:pt x="7413621" y="2087563"/>
                </a:cubicBezTo>
                <a:lnTo>
                  <a:pt x="31750" y="2087563"/>
                </a:lnTo>
                <a:cubicBezTo>
                  <a:pt x="14227" y="2087563"/>
                  <a:pt x="0" y="2073336"/>
                  <a:pt x="0" y="2055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778000"/>
            <a:ext cx="31750" cy="2087563"/>
          </a:xfrm>
          <a:custGeom>
            <a:avLst/>
            <a:gdLst/>
            <a:ahLst/>
            <a:cxnLst/>
            <a:rect l="l" t="t" r="r" b="b"/>
            <a:pathLst>
              <a:path w="31750" h="2087563">
                <a:moveTo>
                  <a:pt x="31750" y="0"/>
                </a:moveTo>
                <a:lnTo>
                  <a:pt x="31750" y="0"/>
                </a:lnTo>
                <a:lnTo>
                  <a:pt x="31750" y="2087563"/>
                </a:lnTo>
                <a:lnTo>
                  <a:pt x="31750" y="2087563"/>
                </a:lnTo>
                <a:cubicBezTo>
                  <a:pt x="14227" y="2087563"/>
                  <a:pt x="0" y="2073336"/>
                  <a:pt x="0" y="2055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Shape 6"/>
          <p:cNvSpPr/>
          <p:nvPr/>
        </p:nvSpPr>
        <p:spPr>
          <a:xfrm>
            <a:off x="563563" y="2000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9" name="Text 7"/>
          <p:cNvSpPr/>
          <p:nvPr/>
        </p:nvSpPr>
        <p:spPr>
          <a:xfrm>
            <a:off x="777875" y="1968500"/>
            <a:ext cx="6937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Standard-Alignment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750" y="2349500"/>
            <a:ext cx="7151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Aktuelle KI-Systeme sind trainiert auf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Konfliktvermeidung, Deeskalation, Harmonie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 "balanced framing". Das ist Design, nicht Wunsch.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940844"/>
            <a:ext cx="7080250" cy="730250"/>
          </a:xfrm>
          <a:custGeom>
            <a:avLst/>
            <a:gdLst/>
            <a:ahLst/>
            <a:cxnLst/>
            <a:rect l="l" t="t" r="r" b="b"/>
            <a:pathLst>
              <a:path w="7080250" h="730250">
                <a:moveTo>
                  <a:pt x="31751" y="0"/>
                </a:moveTo>
                <a:lnTo>
                  <a:pt x="7048499" y="0"/>
                </a:lnTo>
                <a:cubicBezTo>
                  <a:pt x="7066034" y="0"/>
                  <a:pt x="7080250" y="14216"/>
                  <a:pt x="7080250" y="31751"/>
                </a:cubicBezTo>
                <a:lnTo>
                  <a:pt x="7080250" y="698499"/>
                </a:lnTo>
                <a:cubicBezTo>
                  <a:pt x="7080250" y="716034"/>
                  <a:pt x="7066034" y="730250"/>
                  <a:pt x="7048499" y="730250"/>
                </a:cubicBezTo>
                <a:lnTo>
                  <a:pt x="31751" y="730250"/>
                </a:lnTo>
                <a:cubicBezTo>
                  <a:pt x="14216" y="730250"/>
                  <a:pt x="0" y="716034"/>
                  <a:pt x="0" y="698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" y="3067844"/>
            <a:ext cx="688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Prioritäten: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6750" y="3321844"/>
            <a:ext cx="1031875" cy="222250"/>
          </a:xfrm>
          <a:custGeom>
            <a:avLst/>
            <a:gdLst/>
            <a:ahLst/>
            <a:cxnLst/>
            <a:rect l="l" t="t" r="r" b="b"/>
            <a:pathLst>
              <a:path w="1031875" h="222250">
                <a:moveTo>
                  <a:pt x="31751" y="0"/>
                </a:moveTo>
                <a:lnTo>
                  <a:pt x="1000124" y="0"/>
                </a:lnTo>
                <a:cubicBezTo>
                  <a:pt x="1017660" y="0"/>
                  <a:pt x="1031875" y="14215"/>
                  <a:pt x="1031875" y="31751"/>
                </a:cubicBezTo>
                <a:lnTo>
                  <a:pt x="1031875" y="190499"/>
                </a:lnTo>
                <a:cubicBezTo>
                  <a:pt x="1031875" y="208035"/>
                  <a:pt x="1017660" y="222250"/>
                  <a:pt x="1000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" y="3321844"/>
            <a:ext cx="1087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polarisieren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64242" y="3321844"/>
            <a:ext cx="1127125" cy="222250"/>
          </a:xfrm>
          <a:custGeom>
            <a:avLst/>
            <a:gdLst/>
            <a:ahLst/>
            <a:cxnLst/>
            <a:rect l="l" t="t" r="r" b="b"/>
            <a:pathLst>
              <a:path w="1127125" h="222250">
                <a:moveTo>
                  <a:pt x="31751" y="0"/>
                </a:moveTo>
                <a:lnTo>
                  <a:pt x="1095374" y="0"/>
                </a:lnTo>
                <a:cubicBezTo>
                  <a:pt x="1112910" y="0"/>
                  <a:pt x="1127125" y="14215"/>
                  <a:pt x="1127125" y="31751"/>
                </a:cubicBezTo>
                <a:lnTo>
                  <a:pt x="1127125" y="190499"/>
                </a:lnTo>
                <a:cubicBezTo>
                  <a:pt x="1127125" y="208035"/>
                  <a:pt x="1112910" y="222250"/>
                  <a:pt x="1095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64242" y="3321844"/>
            <a:ext cx="1182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extremisieren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56322" y="3321844"/>
            <a:ext cx="952500" cy="222250"/>
          </a:xfrm>
          <a:custGeom>
            <a:avLst/>
            <a:gdLst/>
            <a:ahLst/>
            <a:cxnLst/>
            <a:rect l="l" t="t" r="r" b="b"/>
            <a:pathLst>
              <a:path w="952500" h="222250">
                <a:moveTo>
                  <a:pt x="31751" y="0"/>
                </a:moveTo>
                <a:lnTo>
                  <a:pt x="920749" y="0"/>
                </a:lnTo>
                <a:cubicBezTo>
                  <a:pt x="938285" y="0"/>
                  <a:pt x="952500" y="14215"/>
                  <a:pt x="952500" y="31751"/>
                </a:cubicBezTo>
                <a:lnTo>
                  <a:pt x="952500" y="190499"/>
                </a:lnTo>
                <a:cubicBezTo>
                  <a:pt x="952500" y="208035"/>
                  <a:pt x="938285" y="222250"/>
                  <a:pt x="9207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956322" y="3321844"/>
            <a:ext cx="10080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eskalieren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4020344"/>
            <a:ext cx="31750" cy="547688"/>
          </a:xfrm>
          <a:custGeom>
            <a:avLst/>
            <a:gdLst/>
            <a:ahLst/>
            <a:cxnLst/>
            <a:rect l="l" t="t" r="r" b="b"/>
            <a:pathLst>
              <a:path w="31750" h="547688">
                <a:moveTo>
                  <a:pt x="0" y="0"/>
                </a:moveTo>
                <a:lnTo>
                  <a:pt x="31750" y="0"/>
                </a:lnTo>
                <a:lnTo>
                  <a:pt x="31750" y="547688"/>
                </a:lnTo>
                <a:lnTo>
                  <a:pt x="0" y="547688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750" y="4020344"/>
            <a:ext cx="735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 Preis der Harmonie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750" y="4337844"/>
            <a:ext cx="73421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Diese Priorisierung geht auf Kosten von: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Schärfe, Direktheit, klarer Kritik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Präzision sinkt zugunsten von Glättung.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3375" y="4728766"/>
            <a:ext cx="31750" cy="785813"/>
          </a:xfrm>
          <a:custGeom>
            <a:avLst/>
            <a:gdLst/>
            <a:ahLst/>
            <a:cxnLst/>
            <a:rect l="l" t="t" r="r" b="b"/>
            <a:pathLst>
              <a:path w="31750" h="785813">
                <a:moveTo>
                  <a:pt x="0" y="0"/>
                </a:moveTo>
                <a:lnTo>
                  <a:pt x="31750" y="0"/>
                </a:lnTo>
                <a:lnTo>
                  <a:pt x="31750" y="785813"/>
                </a:lnTo>
                <a:lnTo>
                  <a:pt x="0" y="785813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3" name="Text 21"/>
          <p:cNvSpPr/>
          <p:nvPr/>
        </p:nvSpPr>
        <p:spPr>
          <a:xfrm>
            <a:off x="539750" y="4728766"/>
            <a:ext cx="735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Safety-Narrative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750" y="5046266"/>
            <a:ext cx="7342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Wenn ein Diskurs kippen könnte oder normativ wird,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glättet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das System. Das wirkt wie Deeskalation, ist aber oft nur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8B9A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eigene Sicherheit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statt echte Klärung.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64500" y="1778000"/>
            <a:ext cx="3810000" cy="2730500"/>
          </a:xfrm>
          <a:custGeom>
            <a:avLst/>
            <a:gdLst/>
            <a:ahLst/>
            <a:cxnLst/>
            <a:rect l="l" t="t" r="r" b="b"/>
            <a:pathLst>
              <a:path w="3810000" h="2730500">
                <a:moveTo>
                  <a:pt x="63511" y="0"/>
                </a:moveTo>
                <a:lnTo>
                  <a:pt x="3746489" y="0"/>
                </a:lnTo>
                <a:cubicBezTo>
                  <a:pt x="3781565" y="0"/>
                  <a:pt x="3810000" y="28435"/>
                  <a:pt x="3810000" y="63511"/>
                </a:cubicBezTo>
                <a:lnTo>
                  <a:pt x="3810000" y="2666989"/>
                </a:lnTo>
                <a:cubicBezTo>
                  <a:pt x="3810000" y="2702065"/>
                  <a:pt x="3781565" y="2730500"/>
                  <a:pt x="3746489" y="2730500"/>
                </a:cubicBezTo>
                <a:lnTo>
                  <a:pt x="63511" y="2730500"/>
                </a:lnTo>
                <a:cubicBezTo>
                  <a:pt x="28435" y="2730500"/>
                  <a:pt x="0" y="2702065"/>
                  <a:pt x="0" y="2666989"/>
                </a:cubicBezTo>
                <a:lnTo>
                  <a:pt x="0" y="63511"/>
                </a:lnTo>
                <a:cubicBezTo>
                  <a:pt x="0" y="28435"/>
                  <a:pt x="28435" y="0"/>
                  <a:pt x="63511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55000" y="1968500"/>
            <a:ext cx="350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Alignment-Phrasen verdecken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55000" y="2349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42313" y="2444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170" y="-6201"/>
                </a:moveTo>
                <a:cubicBezTo>
                  <a:pt x="7838" y="-8508"/>
                  <a:pt x="4068" y="-8508"/>
                  <a:pt x="1736" y="-6201"/>
                </a:cubicBezTo>
                <a:cubicBezTo>
                  <a:pt x="-595" y="-3894"/>
                  <a:pt x="-571" y="-99"/>
                  <a:pt x="1736" y="2232"/>
                </a:cubicBezTo>
                <a:lnTo>
                  <a:pt x="132705" y="133201"/>
                </a:lnTo>
                <a:cubicBezTo>
                  <a:pt x="135037" y="135533"/>
                  <a:pt x="138807" y="135533"/>
                  <a:pt x="141114" y="133201"/>
                </a:cubicBezTo>
                <a:cubicBezTo>
                  <a:pt x="143421" y="130870"/>
                  <a:pt x="143446" y="127099"/>
                  <a:pt x="141114" y="124792"/>
                </a:cubicBezTo>
                <a:lnTo>
                  <a:pt x="117153" y="100831"/>
                </a:lnTo>
                <a:cubicBezTo>
                  <a:pt x="128166" y="90115"/>
                  <a:pt x="134913" y="75580"/>
                  <a:pt x="134913" y="59531"/>
                </a:cubicBezTo>
                <a:cubicBezTo>
                  <a:pt x="134913" y="26665"/>
                  <a:pt x="106487" y="0"/>
                  <a:pt x="71413" y="0"/>
                </a:cubicBezTo>
                <a:cubicBezTo>
                  <a:pt x="55786" y="0"/>
                  <a:pt x="41449" y="5308"/>
                  <a:pt x="30386" y="14089"/>
                </a:cubicBezTo>
                <a:lnTo>
                  <a:pt x="10170" y="-6201"/>
                </a:lnTo>
                <a:close/>
                <a:moveTo>
                  <a:pt x="14982" y="32246"/>
                </a:moveTo>
                <a:cubicBezTo>
                  <a:pt x="10468" y="40432"/>
                  <a:pt x="7938" y="49684"/>
                  <a:pt x="7938" y="59506"/>
                </a:cubicBezTo>
                <a:cubicBezTo>
                  <a:pt x="7938" y="72975"/>
                  <a:pt x="12700" y="85378"/>
                  <a:pt x="20737" y="95349"/>
                </a:cubicBezTo>
                <a:lnTo>
                  <a:pt x="8632" y="118244"/>
                </a:lnTo>
                <a:cubicBezTo>
                  <a:pt x="7441" y="120476"/>
                  <a:pt x="7813" y="123205"/>
                  <a:pt x="9525" y="125065"/>
                </a:cubicBezTo>
                <a:cubicBezTo>
                  <a:pt x="11237" y="126926"/>
                  <a:pt x="13915" y="127496"/>
                  <a:pt x="16247" y="126504"/>
                </a:cubicBezTo>
                <a:lnTo>
                  <a:pt x="45616" y="113928"/>
                </a:lnTo>
                <a:cubicBezTo>
                  <a:pt x="53504" y="117227"/>
                  <a:pt x="62260" y="119063"/>
                  <a:pt x="71438" y="119063"/>
                </a:cubicBezTo>
                <a:cubicBezTo>
                  <a:pt x="80466" y="119063"/>
                  <a:pt x="89024" y="117301"/>
                  <a:pt x="96813" y="114126"/>
                </a:cubicBezTo>
                <a:lnTo>
                  <a:pt x="14957" y="32271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8699500" y="2349500"/>
            <a:ext cx="305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Glatt statt direkt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99500" y="2603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Komplexität wird zugunsten von Handhabbarkeit eingetauscht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55000" y="3111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B9A7C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42313" y="3206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73720" y="127000"/>
                </a:lnTo>
                <a:cubicBezTo>
                  <a:pt x="64740" y="116433"/>
                  <a:pt x="59531" y="102815"/>
                  <a:pt x="59531" y="88404"/>
                </a:cubicBezTo>
                <a:lnTo>
                  <a:pt x="59531" y="80690"/>
                </a:lnTo>
                <a:cubicBezTo>
                  <a:pt x="59531" y="78879"/>
                  <a:pt x="59779" y="77093"/>
                  <a:pt x="60251" y="75406"/>
                </a:cubicBezTo>
                <a:lnTo>
                  <a:pt x="48196" y="75406"/>
                </a:lnTo>
                <a:close/>
                <a:moveTo>
                  <a:pt x="110455" y="121171"/>
                </a:moveTo>
                <a:lnTo>
                  <a:pt x="107156" y="122734"/>
                </a:lnTo>
                <a:lnTo>
                  <a:pt x="107156" y="76076"/>
                </a:lnTo>
                <a:lnTo>
                  <a:pt x="130969" y="84013"/>
                </a:lnTo>
                <a:lnTo>
                  <a:pt x="130969" y="88875"/>
                </a:lnTo>
                <a:cubicBezTo>
                  <a:pt x="130969" y="102716"/>
                  <a:pt x="122982" y="115292"/>
                  <a:pt x="110455" y="121196"/>
                </a:cubicBezTo>
                <a:close/>
                <a:moveTo>
                  <a:pt x="104651" y="64368"/>
                </a:moveTo>
                <a:lnTo>
                  <a:pt x="76870" y="73620"/>
                </a:lnTo>
                <a:cubicBezTo>
                  <a:pt x="73620" y="74712"/>
                  <a:pt x="71438" y="77738"/>
                  <a:pt x="71438" y="81161"/>
                </a:cubicBezTo>
                <a:lnTo>
                  <a:pt x="71438" y="88875"/>
                </a:lnTo>
                <a:cubicBezTo>
                  <a:pt x="71438" y="107330"/>
                  <a:pt x="82104" y="124123"/>
                  <a:pt x="98772" y="131961"/>
                </a:cubicBezTo>
                <a:lnTo>
                  <a:pt x="103361" y="134119"/>
                </a:lnTo>
                <a:cubicBezTo>
                  <a:pt x="104552" y="134665"/>
                  <a:pt x="105842" y="134962"/>
                  <a:pt x="107131" y="134962"/>
                </a:cubicBezTo>
                <a:cubicBezTo>
                  <a:pt x="108421" y="134962"/>
                  <a:pt x="109736" y="134665"/>
                  <a:pt x="110902" y="134119"/>
                </a:cubicBezTo>
                <a:lnTo>
                  <a:pt x="115491" y="131961"/>
                </a:lnTo>
                <a:cubicBezTo>
                  <a:pt x="132209" y="124098"/>
                  <a:pt x="142875" y="107305"/>
                  <a:pt x="142875" y="88850"/>
                </a:cubicBezTo>
                <a:lnTo>
                  <a:pt x="142875" y="81136"/>
                </a:lnTo>
                <a:cubicBezTo>
                  <a:pt x="142875" y="77713"/>
                  <a:pt x="140692" y="74687"/>
                  <a:pt x="137443" y="73596"/>
                </a:cubicBezTo>
                <a:lnTo>
                  <a:pt x="109662" y="64343"/>
                </a:lnTo>
                <a:cubicBezTo>
                  <a:pt x="108024" y="63798"/>
                  <a:pt x="106263" y="63798"/>
                  <a:pt x="104651" y="64343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3" name="Text 31"/>
          <p:cNvSpPr/>
          <p:nvPr/>
        </p:nvSpPr>
        <p:spPr>
          <a:xfrm>
            <a:off x="8699500" y="3111500"/>
            <a:ext cx="305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Selbstschutz statt Offenheit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99500" y="3365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 System schützt sich vor potenziell problematischen Inhalten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5000" y="3873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34375" y="3968750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95250" y="7938"/>
                </a:moveTo>
                <a:lnTo>
                  <a:pt x="127000" y="7938"/>
                </a:lnTo>
                <a:cubicBezTo>
                  <a:pt x="131390" y="7938"/>
                  <a:pt x="134938" y="11485"/>
                  <a:pt x="134938" y="15875"/>
                </a:cubicBezTo>
                <a:cubicBezTo>
                  <a:pt x="134938" y="20265"/>
                  <a:pt x="131390" y="23812"/>
                  <a:pt x="127000" y="23812"/>
                </a:cubicBezTo>
                <a:lnTo>
                  <a:pt x="98822" y="23812"/>
                </a:lnTo>
                <a:cubicBezTo>
                  <a:pt x="97532" y="30212"/>
                  <a:pt x="93142" y="35496"/>
                  <a:pt x="87313" y="38026"/>
                </a:cubicBezTo>
                <a:lnTo>
                  <a:pt x="87313" y="111125"/>
                </a:lnTo>
                <a:lnTo>
                  <a:pt x="127000" y="111125"/>
                </a:lnTo>
                <a:cubicBezTo>
                  <a:pt x="131390" y="111125"/>
                  <a:pt x="134938" y="114672"/>
                  <a:pt x="134938" y="119063"/>
                </a:cubicBezTo>
                <a:cubicBezTo>
                  <a:pt x="134938" y="123453"/>
                  <a:pt x="131390" y="127000"/>
                  <a:pt x="127000" y="127000"/>
                </a:cubicBezTo>
                <a:lnTo>
                  <a:pt x="31750" y="127000"/>
                </a:lnTo>
                <a:cubicBezTo>
                  <a:pt x="27360" y="127000"/>
                  <a:pt x="23812" y="123453"/>
                  <a:pt x="23812" y="119063"/>
                </a:cubicBezTo>
                <a:cubicBezTo>
                  <a:pt x="23812" y="114672"/>
                  <a:pt x="27360" y="111125"/>
                  <a:pt x="31750" y="111125"/>
                </a:cubicBezTo>
                <a:lnTo>
                  <a:pt x="71438" y="111125"/>
                </a:lnTo>
                <a:lnTo>
                  <a:pt x="71438" y="38026"/>
                </a:lnTo>
                <a:cubicBezTo>
                  <a:pt x="65608" y="35471"/>
                  <a:pt x="61218" y="30187"/>
                  <a:pt x="59928" y="23813"/>
                </a:cubicBezTo>
                <a:lnTo>
                  <a:pt x="31750" y="23812"/>
                </a:lnTo>
                <a:cubicBezTo>
                  <a:pt x="27360" y="23812"/>
                  <a:pt x="23812" y="20265"/>
                  <a:pt x="23812" y="15875"/>
                </a:cubicBezTo>
                <a:cubicBezTo>
                  <a:pt x="23812" y="11485"/>
                  <a:pt x="27360" y="7938"/>
                  <a:pt x="31750" y="7938"/>
                </a:cubicBezTo>
                <a:lnTo>
                  <a:pt x="63500" y="7938"/>
                </a:lnTo>
                <a:cubicBezTo>
                  <a:pt x="67121" y="3125"/>
                  <a:pt x="72876" y="0"/>
                  <a:pt x="79375" y="0"/>
                </a:cubicBezTo>
                <a:cubicBezTo>
                  <a:pt x="85874" y="0"/>
                  <a:pt x="91629" y="3125"/>
                  <a:pt x="95250" y="7938"/>
                </a:cubicBezTo>
                <a:close/>
                <a:moveTo>
                  <a:pt x="109041" y="79375"/>
                </a:moveTo>
                <a:lnTo>
                  <a:pt x="144959" y="79375"/>
                </a:lnTo>
                <a:lnTo>
                  <a:pt x="127000" y="48568"/>
                </a:lnTo>
                <a:lnTo>
                  <a:pt x="109041" y="79375"/>
                </a:lnTo>
                <a:close/>
                <a:moveTo>
                  <a:pt x="127000" y="103188"/>
                </a:moveTo>
                <a:cubicBezTo>
                  <a:pt x="111398" y="103188"/>
                  <a:pt x="98425" y="94754"/>
                  <a:pt x="95746" y="83617"/>
                </a:cubicBezTo>
                <a:cubicBezTo>
                  <a:pt x="95101" y="80888"/>
                  <a:pt x="95994" y="78085"/>
                  <a:pt x="97408" y="75654"/>
                </a:cubicBezTo>
                <a:lnTo>
                  <a:pt x="121022" y="35173"/>
                </a:lnTo>
                <a:cubicBezTo>
                  <a:pt x="122262" y="33040"/>
                  <a:pt x="124544" y="31750"/>
                  <a:pt x="127000" y="31750"/>
                </a:cubicBezTo>
                <a:cubicBezTo>
                  <a:pt x="129456" y="31750"/>
                  <a:pt x="131738" y="33065"/>
                  <a:pt x="132978" y="35173"/>
                </a:cubicBezTo>
                <a:lnTo>
                  <a:pt x="156592" y="75654"/>
                </a:lnTo>
                <a:cubicBezTo>
                  <a:pt x="158006" y="78085"/>
                  <a:pt x="158899" y="80888"/>
                  <a:pt x="158254" y="83617"/>
                </a:cubicBezTo>
                <a:cubicBezTo>
                  <a:pt x="155575" y="94729"/>
                  <a:pt x="142602" y="103188"/>
                  <a:pt x="127000" y="103188"/>
                </a:cubicBezTo>
                <a:close/>
                <a:moveTo>
                  <a:pt x="31452" y="48568"/>
                </a:moveTo>
                <a:lnTo>
                  <a:pt x="13494" y="79375"/>
                </a:lnTo>
                <a:lnTo>
                  <a:pt x="49436" y="79375"/>
                </a:lnTo>
                <a:lnTo>
                  <a:pt x="31452" y="48568"/>
                </a:lnTo>
                <a:close/>
                <a:moveTo>
                  <a:pt x="223" y="83617"/>
                </a:moveTo>
                <a:cubicBezTo>
                  <a:pt x="-422" y="80888"/>
                  <a:pt x="471" y="78085"/>
                  <a:pt x="1885" y="75654"/>
                </a:cubicBezTo>
                <a:lnTo>
                  <a:pt x="25499" y="35173"/>
                </a:lnTo>
                <a:cubicBezTo>
                  <a:pt x="26739" y="33040"/>
                  <a:pt x="29021" y="31750"/>
                  <a:pt x="31477" y="31750"/>
                </a:cubicBezTo>
                <a:cubicBezTo>
                  <a:pt x="33933" y="31750"/>
                  <a:pt x="36215" y="33065"/>
                  <a:pt x="37455" y="35173"/>
                </a:cubicBezTo>
                <a:lnTo>
                  <a:pt x="61069" y="75654"/>
                </a:lnTo>
                <a:cubicBezTo>
                  <a:pt x="62483" y="78085"/>
                  <a:pt x="63376" y="80888"/>
                  <a:pt x="62731" y="83617"/>
                </a:cubicBezTo>
                <a:cubicBezTo>
                  <a:pt x="60052" y="94729"/>
                  <a:pt x="47079" y="103188"/>
                  <a:pt x="31477" y="103188"/>
                </a:cubicBezTo>
                <a:cubicBezTo>
                  <a:pt x="15875" y="103188"/>
                  <a:pt x="2902" y="94754"/>
                  <a:pt x="223" y="83617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7" name="Text 35"/>
          <p:cNvSpPr/>
          <p:nvPr/>
        </p:nvSpPr>
        <p:spPr>
          <a:xfrm>
            <a:off x="8699500" y="3873500"/>
            <a:ext cx="296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"Balanced framing"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99500" y="412750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Jede Position wird relativiert, nichts ist wirklich falsch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67675" y="4670425"/>
            <a:ext cx="3800475" cy="1260475"/>
          </a:xfrm>
          <a:custGeom>
            <a:avLst/>
            <a:gdLst/>
            <a:ahLst/>
            <a:cxnLst/>
            <a:rect l="l" t="t" r="r" b="b"/>
            <a:pathLst>
              <a:path w="3800475" h="1260475">
                <a:moveTo>
                  <a:pt x="63503" y="0"/>
                </a:moveTo>
                <a:lnTo>
                  <a:pt x="3736972" y="0"/>
                </a:lnTo>
                <a:cubicBezTo>
                  <a:pt x="3772044" y="0"/>
                  <a:pt x="3800475" y="28431"/>
                  <a:pt x="3800475" y="63503"/>
                </a:cubicBezTo>
                <a:lnTo>
                  <a:pt x="3800475" y="1196972"/>
                </a:lnTo>
                <a:cubicBezTo>
                  <a:pt x="3800475" y="1232044"/>
                  <a:pt x="3772044" y="1260475"/>
                  <a:pt x="3736972" y="1260475"/>
                </a:cubicBezTo>
                <a:lnTo>
                  <a:pt x="63503" y="1260475"/>
                </a:lnTo>
                <a:cubicBezTo>
                  <a:pt x="28431" y="1260475"/>
                  <a:pt x="0" y="1232044"/>
                  <a:pt x="0" y="1196972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4832348"/>
            <a:ext cx="354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Governance-Relevanz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29600" y="5149848"/>
            <a:ext cx="3540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Modelle sind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normativ kalibriert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Das ist kein Fehler, sondern Design-Entscheidung. Aber: Wer kontrolliert diese Kalibrierung? Wer prüft ihre Auswirkungen?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80375" y="6092826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3" name="Text 41"/>
          <p:cNvSpPr/>
          <p:nvPr/>
        </p:nvSpPr>
        <p:spPr>
          <a:xfrm>
            <a:off x="8255000" y="6188076"/>
            <a:ext cx="369093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"Alignment-Phrasen sind keine echten Antworten. Sie sind Schutzmechanismen, die Kommunikation ersetzen."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73063"/>
            <a:ext cx="381000" cy="15875"/>
          </a:xfrm>
          <a:custGeom>
            <a:avLst/>
            <a:gdLst/>
            <a:ahLst/>
            <a:cxnLst/>
            <a:rect l="l" t="t" r="r" b="b"/>
            <a:pathLst>
              <a:path w="381000" h="15875">
                <a:moveTo>
                  <a:pt x="0" y="0"/>
                </a:moveTo>
                <a:lnTo>
                  <a:pt x="381000" y="0"/>
                </a:lnTo>
                <a:lnTo>
                  <a:pt x="381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93750" y="317500"/>
            <a:ext cx="1079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spc="225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· Methodik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571500"/>
            <a:ext cx="392906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 dokumentarische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Ansatz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68844" y="317500"/>
            <a:ext cx="809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750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714500"/>
            <a:ext cx="6858000" cy="1905000"/>
          </a:xfrm>
          <a:custGeom>
            <a:avLst/>
            <a:gdLst/>
            <a:ahLst/>
            <a:cxnLst/>
            <a:rect l="l" t="t" r="r" b="b"/>
            <a:pathLst>
              <a:path w="6858000" h="1905000">
                <a:moveTo>
                  <a:pt x="63494" y="0"/>
                </a:moveTo>
                <a:lnTo>
                  <a:pt x="6794506" y="0"/>
                </a:lnTo>
                <a:cubicBezTo>
                  <a:pt x="6829573" y="0"/>
                  <a:pt x="6858000" y="28427"/>
                  <a:pt x="6858000" y="63494"/>
                </a:cubicBezTo>
                <a:lnTo>
                  <a:pt x="6858000" y="1841506"/>
                </a:lnTo>
                <a:cubicBezTo>
                  <a:pt x="6858000" y="1876573"/>
                  <a:pt x="6829573" y="1905000"/>
                  <a:pt x="6794506" y="1905000"/>
                </a:cubicBezTo>
                <a:lnTo>
                  <a:pt x="63494" y="1905000"/>
                </a:lnTo>
                <a:cubicBezTo>
                  <a:pt x="28427" y="1905000"/>
                  <a:pt x="0" y="1876573"/>
                  <a:pt x="0" y="1841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15938" y="190500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6552" y="9922"/>
                </a:moveTo>
                <a:lnTo>
                  <a:pt x="99219" y="9922"/>
                </a:lnTo>
                <a:cubicBezTo>
                  <a:pt x="110164" y="9922"/>
                  <a:pt x="119062" y="18821"/>
                  <a:pt x="119062" y="2976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22510" y="9922"/>
                </a:lnTo>
                <a:cubicBezTo>
                  <a:pt x="25921" y="4000"/>
                  <a:pt x="32339" y="0"/>
                  <a:pt x="39688" y="0"/>
                </a:cubicBezTo>
                <a:lnTo>
                  <a:pt x="79375" y="0"/>
                </a:lnTo>
                <a:cubicBezTo>
                  <a:pt x="86723" y="0"/>
                  <a:pt x="93142" y="4000"/>
                  <a:pt x="96552" y="9922"/>
                </a:cubicBezTo>
                <a:close/>
                <a:moveTo>
                  <a:pt x="76895" y="34727"/>
                </a:moveTo>
                <a:cubicBezTo>
                  <a:pt x="81018" y="34727"/>
                  <a:pt x="84336" y="31409"/>
                  <a:pt x="84336" y="27285"/>
                </a:cubicBezTo>
                <a:cubicBezTo>
                  <a:pt x="84336" y="23161"/>
                  <a:pt x="81018" y="19844"/>
                  <a:pt x="76895" y="19844"/>
                </a:cubicBezTo>
                <a:lnTo>
                  <a:pt x="42168" y="19844"/>
                </a:lnTo>
                <a:cubicBezTo>
                  <a:pt x="38044" y="19844"/>
                  <a:pt x="34727" y="23161"/>
                  <a:pt x="34727" y="27285"/>
                </a:cubicBezTo>
                <a:cubicBezTo>
                  <a:pt x="34727" y="31409"/>
                  <a:pt x="38044" y="34727"/>
                  <a:pt x="42168" y="34727"/>
                </a:cubicBezTo>
                <a:lnTo>
                  <a:pt x="76895" y="34727"/>
                </a:lnTo>
                <a:close/>
                <a:moveTo>
                  <a:pt x="39688" y="79375"/>
                </a:move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ubicBezTo>
                  <a:pt x="35242" y="89297"/>
                  <a:pt x="39688" y="84851"/>
                  <a:pt x="39688" y="79375"/>
                </a:cubicBezTo>
                <a:close/>
                <a:moveTo>
                  <a:pt x="49609" y="79375"/>
                </a:moveTo>
                <a:cubicBezTo>
                  <a:pt x="49609" y="83499"/>
                  <a:pt x="52927" y="86816"/>
                  <a:pt x="57051" y="86816"/>
                </a:cubicBezTo>
                <a:lnTo>
                  <a:pt x="91777" y="86816"/>
                </a:lnTo>
                <a:cubicBezTo>
                  <a:pt x="95901" y="86816"/>
                  <a:pt x="99219" y="83499"/>
                  <a:pt x="99219" y="79375"/>
                </a:cubicBezTo>
                <a:cubicBezTo>
                  <a:pt x="99219" y="75251"/>
                  <a:pt x="95901" y="71934"/>
                  <a:pt x="91777" y="71934"/>
                </a:cubicBezTo>
                <a:lnTo>
                  <a:pt x="57051" y="71934"/>
                </a:lnTo>
                <a:cubicBezTo>
                  <a:pt x="52927" y="71934"/>
                  <a:pt x="49609" y="75251"/>
                  <a:pt x="49609" y="79375"/>
                </a:cubicBezTo>
                <a:close/>
                <a:moveTo>
                  <a:pt x="49609" y="119062"/>
                </a:moveTo>
                <a:cubicBezTo>
                  <a:pt x="49609" y="123186"/>
                  <a:pt x="52927" y="126504"/>
                  <a:pt x="57051" y="126504"/>
                </a:cubicBezTo>
                <a:lnTo>
                  <a:pt x="91777" y="126504"/>
                </a:lnTo>
                <a:cubicBezTo>
                  <a:pt x="95901" y="126504"/>
                  <a:pt x="99219" y="123186"/>
                  <a:pt x="99219" y="119062"/>
                </a:cubicBezTo>
                <a:cubicBezTo>
                  <a:pt x="99219" y="114939"/>
                  <a:pt x="95901" y="111621"/>
                  <a:pt x="91777" y="111621"/>
                </a:cubicBezTo>
                <a:lnTo>
                  <a:pt x="57051" y="111621"/>
                </a:lnTo>
                <a:cubicBezTo>
                  <a:pt x="52927" y="111621"/>
                  <a:pt x="49609" y="114939"/>
                  <a:pt x="49609" y="119062"/>
                </a:cubicBezTo>
                <a:close/>
                <a:moveTo>
                  <a:pt x="29766" y="128984"/>
                </a:moveTo>
                <a:cubicBezTo>
                  <a:pt x="35242" y="128984"/>
                  <a:pt x="39688" y="124539"/>
                  <a:pt x="39688" y="119062"/>
                </a:cubicBezTo>
                <a:cubicBezTo>
                  <a:pt x="39688" y="113586"/>
                  <a:pt x="35242" y="109141"/>
                  <a:pt x="29766" y="109141"/>
                </a:cubicBezTo>
                <a:cubicBezTo>
                  <a:pt x="24290" y="109141"/>
                  <a:pt x="19844" y="113586"/>
                  <a:pt x="19844" y="119062"/>
                </a:cubicBezTo>
                <a:cubicBezTo>
                  <a:pt x="19844" y="124539"/>
                  <a:pt x="24290" y="128984"/>
                  <a:pt x="29766" y="12898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674688" y="1873250"/>
            <a:ext cx="642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 Dokumentationsformat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2222500"/>
            <a:ext cx="3222625" cy="571500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31753" y="0"/>
                </a:moveTo>
                <a:lnTo>
                  <a:pt x="3190872" y="0"/>
                </a:lnTo>
                <a:cubicBezTo>
                  <a:pt x="3208409" y="0"/>
                  <a:pt x="3222625" y="14216"/>
                  <a:pt x="3222625" y="31753"/>
                </a:cubicBezTo>
                <a:lnTo>
                  <a:pt x="3222625" y="539747"/>
                </a:lnTo>
                <a:cubicBezTo>
                  <a:pt x="3222625" y="557284"/>
                  <a:pt x="3208409" y="571500"/>
                  <a:pt x="319087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71500" y="2317750"/>
            <a:ext cx="308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Case-ID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508250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Eindeutige Identifikation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4125" y="2222500"/>
            <a:ext cx="3222625" cy="571500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31753" y="0"/>
                </a:moveTo>
                <a:lnTo>
                  <a:pt x="3190872" y="0"/>
                </a:lnTo>
                <a:cubicBezTo>
                  <a:pt x="3208409" y="0"/>
                  <a:pt x="3222625" y="14216"/>
                  <a:pt x="3222625" y="31753"/>
                </a:cubicBezTo>
                <a:lnTo>
                  <a:pt x="3222625" y="539747"/>
                </a:lnTo>
                <a:cubicBezTo>
                  <a:pt x="3222625" y="557284"/>
                  <a:pt x="3208409" y="571500"/>
                  <a:pt x="319087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89375" y="2317750"/>
            <a:ext cx="308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9375" y="2508250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Zeitlicher Kontext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250" y="2889250"/>
            <a:ext cx="3222625" cy="571500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31753" y="0"/>
                </a:moveTo>
                <a:lnTo>
                  <a:pt x="3190872" y="0"/>
                </a:lnTo>
                <a:cubicBezTo>
                  <a:pt x="3208409" y="0"/>
                  <a:pt x="3222625" y="14216"/>
                  <a:pt x="3222625" y="31753"/>
                </a:cubicBezTo>
                <a:lnTo>
                  <a:pt x="3222625" y="539747"/>
                </a:lnTo>
                <a:cubicBezTo>
                  <a:pt x="3222625" y="557284"/>
                  <a:pt x="3208409" y="571500"/>
                  <a:pt x="319087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" y="2984500"/>
            <a:ext cx="308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3175000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GPT, Character.AI, etc.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94125" y="2889250"/>
            <a:ext cx="3222625" cy="571500"/>
          </a:xfrm>
          <a:custGeom>
            <a:avLst/>
            <a:gdLst/>
            <a:ahLst/>
            <a:cxnLst/>
            <a:rect l="l" t="t" r="r" b="b"/>
            <a:pathLst>
              <a:path w="3222625" h="571500">
                <a:moveTo>
                  <a:pt x="31753" y="0"/>
                </a:moveTo>
                <a:lnTo>
                  <a:pt x="3190872" y="0"/>
                </a:lnTo>
                <a:cubicBezTo>
                  <a:pt x="3208409" y="0"/>
                  <a:pt x="3222625" y="14216"/>
                  <a:pt x="3222625" y="31753"/>
                </a:cubicBezTo>
                <a:lnTo>
                  <a:pt x="3222625" y="539747"/>
                </a:lnTo>
                <a:cubicBezTo>
                  <a:pt x="3222625" y="557284"/>
                  <a:pt x="3208409" y="571500"/>
                  <a:pt x="319087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889375" y="2984500"/>
            <a:ext cx="308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89375" y="3175000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Kurze Beschreibung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7500" y="3746500"/>
            <a:ext cx="6858000" cy="2476500"/>
          </a:xfrm>
          <a:custGeom>
            <a:avLst/>
            <a:gdLst/>
            <a:ahLst/>
            <a:cxnLst/>
            <a:rect l="l" t="t" r="r" b="b"/>
            <a:pathLst>
              <a:path w="6858000" h="2476500">
                <a:moveTo>
                  <a:pt x="63497" y="0"/>
                </a:moveTo>
                <a:lnTo>
                  <a:pt x="6794503" y="0"/>
                </a:lnTo>
                <a:cubicBezTo>
                  <a:pt x="6829571" y="0"/>
                  <a:pt x="6858000" y="28429"/>
                  <a:pt x="6858000" y="63497"/>
                </a:cubicBezTo>
                <a:lnTo>
                  <a:pt x="6858000" y="2413003"/>
                </a:lnTo>
                <a:cubicBezTo>
                  <a:pt x="6858000" y="2448071"/>
                  <a:pt x="6829571" y="2476500"/>
                  <a:pt x="6794503" y="2476500"/>
                </a:cubicBezTo>
                <a:lnTo>
                  <a:pt x="63497" y="2476500"/>
                </a:lnTo>
                <a:cubicBezTo>
                  <a:pt x="28429" y="2476500"/>
                  <a:pt x="0" y="2448071"/>
                  <a:pt x="0" y="2413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6250" y="3905250"/>
            <a:ext cx="661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8B9A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Die Analyse-Ebenen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063" y="4286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4" name="Text 22"/>
          <p:cNvSpPr/>
          <p:nvPr/>
        </p:nvSpPr>
        <p:spPr>
          <a:xfrm>
            <a:off x="730250" y="425450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0250" y="4476750"/>
            <a:ext cx="177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 wurde gesagt? Welcher Input?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2125" y="4762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0651" y="4564"/>
                </a:moveTo>
                <a:cubicBezTo>
                  <a:pt x="53628" y="5804"/>
                  <a:pt x="55563" y="8682"/>
                  <a:pt x="55563" y="11906"/>
                </a:cubicBezTo>
                <a:lnTo>
                  <a:pt x="55563" y="31750"/>
                </a:lnTo>
                <a:lnTo>
                  <a:pt x="83344" y="31750"/>
                </a:lnTo>
                <a:cubicBezTo>
                  <a:pt x="107454" y="31750"/>
                  <a:pt x="127000" y="51296"/>
                  <a:pt x="127000" y="75406"/>
                </a:cubicBezTo>
                <a:cubicBezTo>
                  <a:pt x="127000" y="103510"/>
                  <a:pt x="106784" y="116061"/>
                  <a:pt x="102146" y="118591"/>
                </a:cubicBezTo>
                <a:cubicBezTo>
                  <a:pt x="101526" y="118938"/>
                  <a:pt x="100831" y="119063"/>
                  <a:pt x="100137" y="119063"/>
                </a:cubicBezTo>
                <a:cubicBezTo>
                  <a:pt x="97433" y="119063"/>
                  <a:pt x="95250" y="116855"/>
                  <a:pt x="95250" y="114176"/>
                </a:cubicBezTo>
                <a:cubicBezTo>
                  <a:pt x="95250" y="112316"/>
                  <a:pt x="96317" y="110604"/>
                  <a:pt x="97681" y="109339"/>
                </a:cubicBezTo>
                <a:cubicBezTo>
                  <a:pt x="100013" y="107156"/>
                  <a:pt x="103188" y="102791"/>
                  <a:pt x="103188" y="95275"/>
                </a:cubicBezTo>
                <a:cubicBezTo>
                  <a:pt x="103188" y="82128"/>
                  <a:pt x="92521" y="71462"/>
                  <a:pt x="79375" y="71462"/>
                </a:cubicBezTo>
                <a:lnTo>
                  <a:pt x="55563" y="71462"/>
                </a:lnTo>
                <a:lnTo>
                  <a:pt x="55563" y="91306"/>
                </a:lnTo>
                <a:cubicBezTo>
                  <a:pt x="55563" y="94506"/>
                  <a:pt x="53628" y="97408"/>
                  <a:pt x="50651" y="98648"/>
                </a:cubicBezTo>
                <a:cubicBezTo>
                  <a:pt x="47675" y="99888"/>
                  <a:pt x="44276" y="99194"/>
                  <a:pt x="41994" y="96937"/>
                </a:cubicBezTo>
                <a:lnTo>
                  <a:pt x="2307" y="57249"/>
                </a:lnTo>
                <a:cubicBezTo>
                  <a:pt x="-794" y="54149"/>
                  <a:pt x="-794" y="49113"/>
                  <a:pt x="2307" y="46013"/>
                </a:cubicBezTo>
                <a:lnTo>
                  <a:pt x="41994" y="6325"/>
                </a:lnTo>
                <a:cubicBezTo>
                  <a:pt x="44276" y="4043"/>
                  <a:pt x="47675" y="3373"/>
                  <a:pt x="50651" y="461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7" name="Text 25"/>
          <p:cNvSpPr/>
          <p:nvPr/>
        </p:nvSpPr>
        <p:spPr>
          <a:xfrm>
            <a:off x="730250" y="4730750"/>
            <a:ext cx="217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Systemreaktion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0250" y="4953000"/>
            <a:ext cx="216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 ist passiert? Wie reagierte das System?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187" y="5238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0" name="Text 28"/>
          <p:cNvSpPr/>
          <p:nvPr/>
        </p:nvSpPr>
        <p:spPr>
          <a:xfrm>
            <a:off x="730250" y="5207000"/>
            <a:ext cx="1833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Beobachtung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0250" y="5429250"/>
            <a:ext cx="182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Meta? Reversion? Alignment-Phrase?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8000" y="57150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3" name="Text 31"/>
          <p:cNvSpPr/>
          <p:nvPr/>
        </p:nvSpPr>
        <p:spPr>
          <a:xfrm>
            <a:off x="730250" y="568325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Hypothese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0250" y="5905500"/>
            <a:ext cx="199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Warum passierte das? Muster erkennen.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66000" y="1714500"/>
            <a:ext cx="4508500" cy="3270250"/>
          </a:xfrm>
          <a:custGeom>
            <a:avLst/>
            <a:gdLst/>
            <a:ahLst/>
            <a:cxnLst/>
            <a:rect l="l" t="t" r="r" b="b"/>
            <a:pathLst>
              <a:path w="4508500" h="3270250">
                <a:moveTo>
                  <a:pt x="63508" y="0"/>
                </a:moveTo>
                <a:lnTo>
                  <a:pt x="4444992" y="0"/>
                </a:lnTo>
                <a:cubicBezTo>
                  <a:pt x="4480066" y="0"/>
                  <a:pt x="4508500" y="28434"/>
                  <a:pt x="4508500" y="63508"/>
                </a:cubicBezTo>
                <a:lnTo>
                  <a:pt x="4508500" y="3206742"/>
                </a:lnTo>
                <a:cubicBezTo>
                  <a:pt x="4508500" y="3241816"/>
                  <a:pt x="4480066" y="3270250"/>
                  <a:pt x="4444992" y="3270250"/>
                </a:cubicBezTo>
                <a:lnTo>
                  <a:pt x="63508" y="3270250"/>
                </a:lnTo>
                <a:cubicBezTo>
                  <a:pt x="28434" y="3270250"/>
                  <a:pt x="0" y="3241816"/>
                  <a:pt x="0" y="320674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524750" y="1873250"/>
            <a:ext cx="427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Kategorien für Marker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24750" y="2222500"/>
            <a:ext cx="4191000" cy="381000"/>
          </a:xfrm>
          <a:custGeom>
            <a:avLst/>
            <a:gdLst/>
            <a:ahLst/>
            <a:cxnLst/>
            <a:rect l="l" t="t" r="r" b="b"/>
            <a:pathLst>
              <a:path w="4191000" h="381000">
                <a:moveTo>
                  <a:pt x="31749" y="0"/>
                </a:moveTo>
                <a:lnTo>
                  <a:pt x="4159251" y="0"/>
                </a:lnTo>
                <a:cubicBezTo>
                  <a:pt x="4176786" y="0"/>
                  <a:pt x="4191000" y="14214"/>
                  <a:pt x="4191000" y="31749"/>
                </a:cubicBezTo>
                <a:lnTo>
                  <a:pt x="4191000" y="349251"/>
                </a:lnTo>
                <a:cubicBezTo>
                  <a:pt x="4191000" y="366786"/>
                  <a:pt x="4176786" y="381000"/>
                  <a:pt x="415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620000" y="2365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9" name="Text 37"/>
          <p:cNvSpPr/>
          <p:nvPr/>
        </p:nvSpPr>
        <p:spPr>
          <a:xfrm>
            <a:off x="7810500" y="2317750"/>
            <a:ext cx="60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24750" y="2667000"/>
            <a:ext cx="4191000" cy="381000"/>
          </a:xfrm>
          <a:custGeom>
            <a:avLst/>
            <a:gdLst/>
            <a:ahLst/>
            <a:cxnLst/>
            <a:rect l="l" t="t" r="r" b="b"/>
            <a:pathLst>
              <a:path w="4191000" h="381000">
                <a:moveTo>
                  <a:pt x="31749" y="0"/>
                </a:moveTo>
                <a:lnTo>
                  <a:pt x="4159251" y="0"/>
                </a:lnTo>
                <a:cubicBezTo>
                  <a:pt x="4176786" y="0"/>
                  <a:pt x="4191000" y="14214"/>
                  <a:pt x="4191000" y="31749"/>
                </a:cubicBezTo>
                <a:lnTo>
                  <a:pt x="4191000" y="349251"/>
                </a:lnTo>
                <a:cubicBezTo>
                  <a:pt x="4191000" y="366786"/>
                  <a:pt x="4176786" y="381000"/>
                  <a:pt x="415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0" y="2809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42" name="Text 40"/>
          <p:cNvSpPr/>
          <p:nvPr/>
        </p:nvSpPr>
        <p:spPr>
          <a:xfrm>
            <a:off x="7810500" y="2762250"/>
            <a:ext cx="76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Overanalysis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24750" y="3111500"/>
            <a:ext cx="4191000" cy="381000"/>
          </a:xfrm>
          <a:custGeom>
            <a:avLst/>
            <a:gdLst/>
            <a:ahLst/>
            <a:cxnLst/>
            <a:rect l="l" t="t" r="r" b="b"/>
            <a:pathLst>
              <a:path w="4191000" h="381000">
                <a:moveTo>
                  <a:pt x="31749" y="0"/>
                </a:moveTo>
                <a:lnTo>
                  <a:pt x="4159251" y="0"/>
                </a:lnTo>
                <a:cubicBezTo>
                  <a:pt x="4176786" y="0"/>
                  <a:pt x="4191000" y="14214"/>
                  <a:pt x="4191000" y="31749"/>
                </a:cubicBezTo>
                <a:lnTo>
                  <a:pt x="4191000" y="349251"/>
                </a:lnTo>
                <a:cubicBezTo>
                  <a:pt x="4191000" y="366786"/>
                  <a:pt x="4176786" y="381000"/>
                  <a:pt x="415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20000" y="3254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5" name="Text 43"/>
          <p:cNvSpPr/>
          <p:nvPr/>
        </p:nvSpPr>
        <p:spPr>
          <a:xfrm>
            <a:off x="7810500" y="3206750"/>
            <a:ext cx="65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24750" y="3556000"/>
            <a:ext cx="4191000" cy="381000"/>
          </a:xfrm>
          <a:custGeom>
            <a:avLst/>
            <a:gdLst/>
            <a:ahLst/>
            <a:cxnLst/>
            <a:rect l="l" t="t" r="r" b="b"/>
            <a:pathLst>
              <a:path w="4191000" h="381000">
                <a:moveTo>
                  <a:pt x="31749" y="0"/>
                </a:moveTo>
                <a:lnTo>
                  <a:pt x="4159251" y="0"/>
                </a:lnTo>
                <a:cubicBezTo>
                  <a:pt x="4176786" y="0"/>
                  <a:pt x="4191000" y="14214"/>
                  <a:pt x="4191000" y="31749"/>
                </a:cubicBezTo>
                <a:lnTo>
                  <a:pt x="4191000" y="349251"/>
                </a:lnTo>
                <a:cubicBezTo>
                  <a:pt x="4191000" y="366786"/>
                  <a:pt x="4176786" y="381000"/>
                  <a:pt x="415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20000" y="369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8" name="Text 46"/>
          <p:cNvSpPr/>
          <p:nvPr/>
        </p:nvSpPr>
        <p:spPr>
          <a:xfrm>
            <a:off x="7810500" y="3651250"/>
            <a:ext cx="83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Safety-Phrase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24750" y="4000500"/>
            <a:ext cx="4191000" cy="381000"/>
          </a:xfrm>
          <a:custGeom>
            <a:avLst/>
            <a:gdLst/>
            <a:ahLst/>
            <a:cxnLst/>
            <a:rect l="l" t="t" r="r" b="b"/>
            <a:pathLst>
              <a:path w="4191000" h="381000">
                <a:moveTo>
                  <a:pt x="31749" y="0"/>
                </a:moveTo>
                <a:lnTo>
                  <a:pt x="4159251" y="0"/>
                </a:lnTo>
                <a:cubicBezTo>
                  <a:pt x="4176786" y="0"/>
                  <a:pt x="4191000" y="14214"/>
                  <a:pt x="4191000" y="31749"/>
                </a:cubicBezTo>
                <a:lnTo>
                  <a:pt x="4191000" y="349251"/>
                </a:lnTo>
                <a:cubicBezTo>
                  <a:pt x="4191000" y="366786"/>
                  <a:pt x="4176786" y="381000"/>
                  <a:pt x="415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620000" y="4143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51" name="Text 49"/>
          <p:cNvSpPr/>
          <p:nvPr/>
        </p:nvSpPr>
        <p:spPr>
          <a:xfrm>
            <a:off x="7810500" y="4095750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Meta-Loop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24750" y="4445000"/>
            <a:ext cx="4191000" cy="381000"/>
          </a:xfrm>
          <a:custGeom>
            <a:avLst/>
            <a:gdLst/>
            <a:ahLst/>
            <a:cxnLst/>
            <a:rect l="l" t="t" r="r" b="b"/>
            <a:pathLst>
              <a:path w="4191000" h="381000">
                <a:moveTo>
                  <a:pt x="31749" y="0"/>
                </a:moveTo>
                <a:lnTo>
                  <a:pt x="4159251" y="0"/>
                </a:lnTo>
                <a:cubicBezTo>
                  <a:pt x="4176786" y="0"/>
                  <a:pt x="4191000" y="14214"/>
                  <a:pt x="4191000" y="31749"/>
                </a:cubicBezTo>
                <a:lnTo>
                  <a:pt x="4191000" y="349251"/>
                </a:lnTo>
                <a:cubicBezTo>
                  <a:pt x="4191000" y="366786"/>
                  <a:pt x="4176786" y="381000"/>
                  <a:pt x="4159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4587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4" name="Text 52"/>
          <p:cNvSpPr/>
          <p:nvPr/>
        </p:nvSpPr>
        <p:spPr>
          <a:xfrm>
            <a:off x="7810500" y="454025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Kontextdrift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69175" y="5114925"/>
            <a:ext cx="4498975" cy="1149350"/>
          </a:xfrm>
          <a:custGeom>
            <a:avLst/>
            <a:gdLst/>
            <a:ahLst/>
            <a:cxnLst/>
            <a:rect l="l" t="t" r="r" b="b"/>
            <a:pathLst>
              <a:path w="4498975" h="1149350">
                <a:moveTo>
                  <a:pt x="63502" y="0"/>
                </a:moveTo>
                <a:lnTo>
                  <a:pt x="4435473" y="0"/>
                </a:lnTo>
                <a:cubicBezTo>
                  <a:pt x="4470544" y="0"/>
                  <a:pt x="4498975" y="28431"/>
                  <a:pt x="4498975" y="63502"/>
                </a:cubicBezTo>
                <a:lnTo>
                  <a:pt x="4498975" y="1085848"/>
                </a:lnTo>
                <a:cubicBezTo>
                  <a:pt x="4498975" y="1120919"/>
                  <a:pt x="4470544" y="1149350"/>
                  <a:pt x="4435473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31100" y="5276848"/>
            <a:ext cx="424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Warum Dokumentation zuerst?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31100" y="5594348"/>
            <a:ext cx="4238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zuerst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Struktur raten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31100" y="5895973"/>
            <a:ext cx="4238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Dokumentation zuerst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Struktur entdecken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81875" y="6394451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60" name="Text 58"/>
          <p:cNvSpPr/>
          <p:nvPr/>
        </p:nvSpPr>
        <p:spPr>
          <a:xfrm>
            <a:off x="7524750" y="6457951"/>
            <a:ext cx="4413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"50-100 sauber dokumentierte Fälle. Erst dann wissen wir, welche Kategorien wirklich existieren."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9ce79545fa9ef1d0d5ad22a4ea7ab5568e4348cc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1884" b="21884"/>
          <a:stretch/>
        </p:blipFill>
        <p:spPr>
          <a:xfrm>
            <a:off x="0" y="0"/>
            <a:ext cx="12192000" cy="685568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84"/>
          </a:xfrm>
          <a:custGeom>
            <a:avLst/>
            <a:gdLst/>
            <a:ahLst/>
            <a:cxnLst/>
            <a:rect l="l" t="t" r="r" b="b"/>
            <a:pathLst>
              <a:path w="12192000" h="6855684">
                <a:moveTo>
                  <a:pt x="0" y="0"/>
                </a:moveTo>
                <a:lnTo>
                  <a:pt x="12192000" y="0"/>
                </a:lnTo>
                <a:lnTo>
                  <a:pt x="12192000" y="6855684"/>
                </a:lnTo>
                <a:lnTo>
                  <a:pt x="0" y="685568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70578" y="435429"/>
            <a:ext cx="444693" cy="18529"/>
          </a:xfrm>
          <a:custGeom>
            <a:avLst/>
            <a:gdLst/>
            <a:ahLst/>
            <a:cxnLst/>
            <a:rect l="l" t="t" r="r" b="b"/>
            <a:pathLst>
              <a:path w="444693" h="18529">
                <a:moveTo>
                  <a:pt x="0" y="0"/>
                </a:moveTo>
                <a:lnTo>
                  <a:pt x="444693" y="0"/>
                </a:lnTo>
                <a:lnTo>
                  <a:pt x="444693" y="18529"/>
                </a:lnTo>
                <a:lnTo>
                  <a:pt x="0" y="18529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" name="Text 2"/>
          <p:cNvSpPr/>
          <p:nvPr/>
        </p:nvSpPr>
        <p:spPr>
          <a:xfrm>
            <a:off x="926444" y="370578"/>
            <a:ext cx="154716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spc="263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· Architektur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0578" y="667040"/>
            <a:ext cx="2473605" cy="111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02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Spiral Flow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502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820246" y="370578"/>
            <a:ext cx="1000559" cy="555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377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9106" y="2001119"/>
            <a:ext cx="5595720" cy="4854565"/>
          </a:xfrm>
          <a:custGeom>
            <a:avLst/>
            <a:gdLst/>
            <a:ahLst/>
            <a:cxnLst/>
            <a:rect l="l" t="t" r="r" b="b"/>
            <a:pathLst>
              <a:path w="5595720" h="4854565">
                <a:moveTo>
                  <a:pt x="37058" y="0"/>
                </a:moveTo>
                <a:lnTo>
                  <a:pt x="5521591" y="0"/>
                </a:lnTo>
                <a:cubicBezTo>
                  <a:pt x="5562532" y="0"/>
                  <a:pt x="5595720" y="33189"/>
                  <a:pt x="5595720" y="74129"/>
                </a:cubicBezTo>
                <a:lnTo>
                  <a:pt x="5595720" y="4780436"/>
                </a:lnTo>
                <a:cubicBezTo>
                  <a:pt x="5595720" y="4821377"/>
                  <a:pt x="5562532" y="4854565"/>
                  <a:pt x="5521591" y="4854565"/>
                </a:cubicBezTo>
                <a:lnTo>
                  <a:pt x="37058" y="4854565"/>
                </a:lnTo>
                <a:cubicBezTo>
                  <a:pt x="16591" y="4854565"/>
                  <a:pt x="0" y="4837974"/>
                  <a:pt x="0" y="481750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9106" y="2001119"/>
            <a:ext cx="37058" cy="4854565"/>
          </a:xfrm>
          <a:custGeom>
            <a:avLst/>
            <a:gdLst/>
            <a:ahLst/>
            <a:cxnLst/>
            <a:rect l="l" t="t" r="r" b="b"/>
            <a:pathLst>
              <a:path w="37058" h="4854565">
                <a:moveTo>
                  <a:pt x="37058" y="0"/>
                </a:moveTo>
                <a:lnTo>
                  <a:pt x="37058" y="0"/>
                </a:lnTo>
                <a:lnTo>
                  <a:pt x="37058" y="4854565"/>
                </a:lnTo>
                <a:lnTo>
                  <a:pt x="37058" y="4854565"/>
                </a:lnTo>
                <a:cubicBezTo>
                  <a:pt x="16591" y="4854565"/>
                  <a:pt x="0" y="4837974"/>
                  <a:pt x="0" y="481750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" name="Shape 7"/>
          <p:cNvSpPr/>
          <p:nvPr/>
        </p:nvSpPr>
        <p:spPr>
          <a:xfrm>
            <a:off x="657775" y="2260523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00968" y="2258"/>
                </a:moveTo>
                <a:cubicBezTo>
                  <a:pt x="107439" y="-738"/>
                  <a:pt x="114908" y="-738"/>
                  <a:pt x="121379" y="2258"/>
                </a:cubicBezTo>
                <a:lnTo>
                  <a:pt x="216310" y="46120"/>
                </a:lnTo>
                <a:cubicBezTo>
                  <a:pt x="220001" y="47813"/>
                  <a:pt x="222347" y="51504"/>
                  <a:pt x="222347" y="55587"/>
                </a:cubicBezTo>
                <a:cubicBezTo>
                  <a:pt x="222347" y="59669"/>
                  <a:pt x="220001" y="63360"/>
                  <a:pt x="216310" y="65054"/>
                </a:cubicBezTo>
                <a:lnTo>
                  <a:pt x="121379" y="108915"/>
                </a:lnTo>
                <a:cubicBezTo>
                  <a:pt x="114908" y="111912"/>
                  <a:pt x="107439" y="111912"/>
                  <a:pt x="100968" y="108915"/>
                </a:cubicBezTo>
                <a:lnTo>
                  <a:pt x="6036" y="65054"/>
                </a:lnTo>
                <a:cubicBezTo>
                  <a:pt x="2345" y="63317"/>
                  <a:pt x="0" y="59625"/>
                  <a:pt x="0" y="55587"/>
                </a:cubicBezTo>
                <a:cubicBezTo>
                  <a:pt x="0" y="51548"/>
                  <a:pt x="2345" y="47813"/>
                  <a:pt x="6036" y="46120"/>
                </a:cubicBezTo>
                <a:lnTo>
                  <a:pt x="100968" y="2258"/>
                </a:lnTo>
                <a:close/>
                <a:moveTo>
                  <a:pt x="20888" y="94845"/>
                </a:moveTo>
                <a:lnTo>
                  <a:pt x="92239" y="127806"/>
                </a:lnTo>
                <a:cubicBezTo>
                  <a:pt x="104268" y="133364"/>
                  <a:pt x="118122" y="133364"/>
                  <a:pt x="130151" y="127806"/>
                </a:cubicBezTo>
                <a:lnTo>
                  <a:pt x="201502" y="94845"/>
                </a:lnTo>
                <a:lnTo>
                  <a:pt x="216310" y="101706"/>
                </a:lnTo>
                <a:cubicBezTo>
                  <a:pt x="220001" y="103400"/>
                  <a:pt x="222347" y="107091"/>
                  <a:pt x="222347" y="111173"/>
                </a:cubicBezTo>
                <a:cubicBezTo>
                  <a:pt x="222347" y="115255"/>
                  <a:pt x="220001" y="118947"/>
                  <a:pt x="216310" y="120640"/>
                </a:cubicBezTo>
                <a:lnTo>
                  <a:pt x="121379" y="164502"/>
                </a:lnTo>
                <a:cubicBezTo>
                  <a:pt x="114908" y="167498"/>
                  <a:pt x="107439" y="167498"/>
                  <a:pt x="100968" y="164502"/>
                </a:cubicBezTo>
                <a:lnTo>
                  <a:pt x="6036" y="120640"/>
                </a:lnTo>
                <a:cubicBezTo>
                  <a:pt x="2345" y="118903"/>
                  <a:pt x="0" y="115212"/>
                  <a:pt x="0" y="111173"/>
                </a:cubicBezTo>
                <a:cubicBezTo>
                  <a:pt x="0" y="107135"/>
                  <a:pt x="2345" y="103400"/>
                  <a:pt x="6036" y="101706"/>
                </a:cubicBezTo>
                <a:lnTo>
                  <a:pt x="20845" y="94845"/>
                </a:lnTo>
                <a:close/>
                <a:moveTo>
                  <a:pt x="6036" y="157293"/>
                </a:moveTo>
                <a:lnTo>
                  <a:pt x="20845" y="150431"/>
                </a:lnTo>
                <a:lnTo>
                  <a:pt x="92196" y="183392"/>
                </a:lnTo>
                <a:cubicBezTo>
                  <a:pt x="104225" y="188951"/>
                  <a:pt x="118078" y="188951"/>
                  <a:pt x="130107" y="183392"/>
                </a:cubicBezTo>
                <a:lnTo>
                  <a:pt x="201458" y="150431"/>
                </a:lnTo>
                <a:lnTo>
                  <a:pt x="216267" y="157293"/>
                </a:lnTo>
                <a:cubicBezTo>
                  <a:pt x="219958" y="158986"/>
                  <a:pt x="222303" y="162678"/>
                  <a:pt x="222303" y="166760"/>
                </a:cubicBezTo>
                <a:cubicBezTo>
                  <a:pt x="222303" y="170842"/>
                  <a:pt x="219958" y="174533"/>
                  <a:pt x="216267" y="176227"/>
                </a:cubicBezTo>
                <a:lnTo>
                  <a:pt x="121335" y="220088"/>
                </a:lnTo>
                <a:cubicBezTo>
                  <a:pt x="114865" y="223085"/>
                  <a:pt x="107395" y="223085"/>
                  <a:pt x="100924" y="220088"/>
                </a:cubicBezTo>
                <a:lnTo>
                  <a:pt x="6036" y="176227"/>
                </a:lnTo>
                <a:cubicBezTo>
                  <a:pt x="2345" y="174490"/>
                  <a:pt x="0" y="170799"/>
                  <a:pt x="0" y="166760"/>
                </a:cubicBezTo>
                <a:cubicBezTo>
                  <a:pt x="0" y="162721"/>
                  <a:pt x="2345" y="158986"/>
                  <a:pt x="6036" y="157293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Text 8"/>
          <p:cNvSpPr/>
          <p:nvPr/>
        </p:nvSpPr>
        <p:spPr>
          <a:xfrm>
            <a:off x="907915" y="2223465"/>
            <a:ext cx="4965739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Drei Ebenen der Beobachtung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9982" y="2668158"/>
            <a:ext cx="5132498" cy="1222906"/>
          </a:xfrm>
          <a:custGeom>
            <a:avLst/>
            <a:gdLst/>
            <a:ahLst/>
            <a:cxnLst/>
            <a:rect l="l" t="t" r="r" b="b"/>
            <a:pathLst>
              <a:path w="5132498" h="1222906">
                <a:moveTo>
                  <a:pt x="74120" y="0"/>
                </a:moveTo>
                <a:lnTo>
                  <a:pt x="5058378" y="0"/>
                </a:lnTo>
                <a:cubicBezTo>
                  <a:pt x="5099314" y="0"/>
                  <a:pt x="5132498" y="33185"/>
                  <a:pt x="5132498" y="74120"/>
                </a:cubicBezTo>
                <a:lnTo>
                  <a:pt x="5132498" y="1148785"/>
                </a:lnTo>
                <a:cubicBezTo>
                  <a:pt x="5132498" y="1189721"/>
                  <a:pt x="5099314" y="1222906"/>
                  <a:pt x="5058378" y="1222906"/>
                </a:cubicBezTo>
                <a:lnTo>
                  <a:pt x="74120" y="1222906"/>
                </a:lnTo>
                <a:cubicBezTo>
                  <a:pt x="33185" y="1222906"/>
                  <a:pt x="0" y="1189721"/>
                  <a:pt x="0" y="1148785"/>
                </a:cubicBezTo>
                <a:lnTo>
                  <a:pt x="0" y="74120"/>
                </a:lnTo>
                <a:cubicBezTo>
                  <a:pt x="0" y="33185"/>
                  <a:pt x="33185" y="0"/>
                  <a:pt x="741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78213" y="2816389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185289" y="0"/>
                </a:moveTo>
                <a:lnTo>
                  <a:pt x="185289" y="0"/>
                </a:lnTo>
                <a:cubicBezTo>
                  <a:pt x="287552" y="0"/>
                  <a:pt x="370578" y="83025"/>
                  <a:pt x="370578" y="185289"/>
                </a:cubicBezTo>
                <a:lnTo>
                  <a:pt x="370578" y="185289"/>
                </a:lnTo>
                <a:cubicBezTo>
                  <a:pt x="370578" y="287552"/>
                  <a:pt x="287552" y="370578"/>
                  <a:pt x="185289" y="370578"/>
                </a:cubicBezTo>
                <a:lnTo>
                  <a:pt x="185289" y="370578"/>
                </a:lnTo>
                <a:cubicBezTo>
                  <a:pt x="83025" y="370578"/>
                  <a:pt x="0" y="287552"/>
                  <a:pt x="0" y="185289"/>
                </a:cubicBezTo>
                <a:lnTo>
                  <a:pt x="0" y="185289"/>
                </a:lnTo>
                <a:cubicBezTo>
                  <a:pt x="0" y="83025"/>
                  <a:pt x="83025" y="0"/>
                  <a:pt x="18528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Shape 11"/>
          <p:cNvSpPr/>
          <p:nvPr/>
        </p:nvSpPr>
        <p:spPr>
          <a:xfrm>
            <a:off x="889386" y="2927562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8529" y="27793"/>
                </a:moveTo>
                <a:cubicBezTo>
                  <a:pt x="18529" y="22669"/>
                  <a:pt x="22669" y="18529"/>
                  <a:pt x="27793" y="18529"/>
                </a:cubicBezTo>
                <a:lnTo>
                  <a:pt x="74116" y="18529"/>
                </a:lnTo>
                <a:cubicBezTo>
                  <a:pt x="79240" y="18529"/>
                  <a:pt x="83380" y="22669"/>
                  <a:pt x="83380" y="27793"/>
                </a:cubicBezTo>
                <a:lnTo>
                  <a:pt x="83380" y="111173"/>
                </a:lnTo>
                <a:lnTo>
                  <a:pt x="111173" y="111173"/>
                </a:lnTo>
                <a:lnTo>
                  <a:pt x="111173" y="74116"/>
                </a:lnTo>
                <a:cubicBezTo>
                  <a:pt x="111173" y="68991"/>
                  <a:pt x="115313" y="64851"/>
                  <a:pt x="120438" y="64851"/>
                </a:cubicBezTo>
                <a:lnTo>
                  <a:pt x="138967" y="64851"/>
                </a:lnTo>
                <a:cubicBezTo>
                  <a:pt x="144091" y="64851"/>
                  <a:pt x="148231" y="68991"/>
                  <a:pt x="148231" y="74116"/>
                </a:cubicBezTo>
                <a:cubicBezTo>
                  <a:pt x="148231" y="79240"/>
                  <a:pt x="144091" y="83380"/>
                  <a:pt x="138967" y="83380"/>
                </a:cubicBezTo>
                <a:lnTo>
                  <a:pt x="129702" y="83380"/>
                </a:lnTo>
                <a:lnTo>
                  <a:pt x="129702" y="120438"/>
                </a:lnTo>
                <a:cubicBezTo>
                  <a:pt x="129702" y="125562"/>
                  <a:pt x="125562" y="129702"/>
                  <a:pt x="120438" y="129702"/>
                </a:cubicBezTo>
                <a:lnTo>
                  <a:pt x="74116" y="129702"/>
                </a:lnTo>
                <a:cubicBezTo>
                  <a:pt x="68991" y="129702"/>
                  <a:pt x="64851" y="125562"/>
                  <a:pt x="64851" y="120438"/>
                </a:cubicBezTo>
                <a:lnTo>
                  <a:pt x="64851" y="37058"/>
                </a:lnTo>
                <a:lnTo>
                  <a:pt x="37058" y="37058"/>
                </a:lnTo>
                <a:lnTo>
                  <a:pt x="37058" y="74116"/>
                </a:lnTo>
                <a:cubicBezTo>
                  <a:pt x="37058" y="79240"/>
                  <a:pt x="32918" y="83380"/>
                  <a:pt x="27793" y="83380"/>
                </a:cubicBezTo>
                <a:lnTo>
                  <a:pt x="9264" y="83380"/>
                </a:lnTo>
                <a:cubicBezTo>
                  <a:pt x="4140" y="83380"/>
                  <a:pt x="0" y="79240"/>
                  <a:pt x="0" y="74116"/>
                </a:cubicBezTo>
                <a:cubicBezTo>
                  <a:pt x="0" y="68991"/>
                  <a:pt x="4140" y="64851"/>
                  <a:pt x="9264" y="64851"/>
                </a:cubicBezTo>
                <a:lnTo>
                  <a:pt x="18529" y="64851"/>
                </a:lnTo>
                <a:lnTo>
                  <a:pt x="18529" y="2779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2"/>
          <p:cNvSpPr/>
          <p:nvPr/>
        </p:nvSpPr>
        <p:spPr>
          <a:xfrm>
            <a:off x="1259964" y="2871976"/>
            <a:ext cx="79674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Zustand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8213" y="3261082"/>
            <a:ext cx="4910152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"Wie ist das Feld gerade?" </a:t>
            </a:r>
            <a:pPr>
              <a:lnSpc>
                <a:spcPct val="140000"/>
              </a:lnSpc>
            </a:pPr>
            <a:r>
              <a:rPr lang="en-US" sz="1167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Rauschen, Stau, Resonanz, Flow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die qualitative Beschreibung des Systemzustands.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9982" y="4039295"/>
            <a:ext cx="5132498" cy="1222906"/>
          </a:xfrm>
          <a:custGeom>
            <a:avLst/>
            <a:gdLst/>
            <a:ahLst/>
            <a:cxnLst/>
            <a:rect l="l" t="t" r="r" b="b"/>
            <a:pathLst>
              <a:path w="5132498" h="1222906">
                <a:moveTo>
                  <a:pt x="74120" y="0"/>
                </a:moveTo>
                <a:lnTo>
                  <a:pt x="5058378" y="0"/>
                </a:lnTo>
                <a:cubicBezTo>
                  <a:pt x="5099314" y="0"/>
                  <a:pt x="5132498" y="33185"/>
                  <a:pt x="5132498" y="74120"/>
                </a:cubicBezTo>
                <a:lnTo>
                  <a:pt x="5132498" y="1148785"/>
                </a:lnTo>
                <a:cubicBezTo>
                  <a:pt x="5132498" y="1189721"/>
                  <a:pt x="5099314" y="1222906"/>
                  <a:pt x="5058378" y="1222906"/>
                </a:cubicBezTo>
                <a:lnTo>
                  <a:pt x="74120" y="1222906"/>
                </a:lnTo>
                <a:cubicBezTo>
                  <a:pt x="33185" y="1222906"/>
                  <a:pt x="0" y="1189721"/>
                  <a:pt x="0" y="1148785"/>
                </a:cubicBezTo>
                <a:lnTo>
                  <a:pt x="0" y="74120"/>
                </a:lnTo>
                <a:cubicBezTo>
                  <a:pt x="0" y="33185"/>
                  <a:pt x="33185" y="0"/>
                  <a:pt x="741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78213" y="4187526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185289" y="0"/>
                </a:moveTo>
                <a:lnTo>
                  <a:pt x="185289" y="0"/>
                </a:lnTo>
                <a:cubicBezTo>
                  <a:pt x="287552" y="0"/>
                  <a:pt x="370578" y="83025"/>
                  <a:pt x="370578" y="185289"/>
                </a:cubicBezTo>
                <a:lnTo>
                  <a:pt x="370578" y="185289"/>
                </a:lnTo>
                <a:cubicBezTo>
                  <a:pt x="370578" y="287552"/>
                  <a:pt x="287552" y="370578"/>
                  <a:pt x="185289" y="370578"/>
                </a:cubicBezTo>
                <a:lnTo>
                  <a:pt x="185289" y="370578"/>
                </a:lnTo>
                <a:cubicBezTo>
                  <a:pt x="83025" y="370578"/>
                  <a:pt x="0" y="287552"/>
                  <a:pt x="0" y="185289"/>
                </a:cubicBezTo>
                <a:lnTo>
                  <a:pt x="0" y="185289"/>
                </a:lnTo>
                <a:cubicBezTo>
                  <a:pt x="0" y="83025"/>
                  <a:pt x="83025" y="0"/>
                  <a:pt x="185289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9" name="Shape 16"/>
          <p:cNvSpPr/>
          <p:nvPr/>
        </p:nvSpPr>
        <p:spPr>
          <a:xfrm>
            <a:off x="889386" y="4298699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0" y="23161"/>
                </a:moveTo>
                <a:cubicBezTo>
                  <a:pt x="0" y="15489"/>
                  <a:pt x="6225" y="9264"/>
                  <a:pt x="13897" y="9264"/>
                </a:cubicBezTo>
                <a:lnTo>
                  <a:pt x="41690" y="9264"/>
                </a:lnTo>
                <a:cubicBezTo>
                  <a:pt x="49362" y="9264"/>
                  <a:pt x="55587" y="15489"/>
                  <a:pt x="55587" y="23161"/>
                </a:cubicBezTo>
                <a:lnTo>
                  <a:pt x="55587" y="27793"/>
                </a:lnTo>
                <a:lnTo>
                  <a:pt x="92644" y="27793"/>
                </a:lnTo>
                <a:lnTo>
                  <a:pt x="92644" y="23161"/>
                </a:lnTo>
                <a:cubicBezTo>
                  <a:pt x="92644" y="15489"/>
                  <a:pt x="98869" y="9264"/>
                  <a:pt x="106541" y="9264"/>
                </a:cubicBezTo>
                <a:lnTo>
                  <a:pt x="134334" y="9264"/>
                </a:lnTo>
                <a:cubicBezTo>
                  <a:pt x="142006" y="9264"/>
                  <a:pt x="148231" y="15489"/>
                  <a:pt x="148231" y="23161"/>
                </a:cubicBezTo>
                <a:lnTo>
                  <a:pt x="148231" y="50954"/>
                </a:lnTo>
                <a:cubicBezTo>
                  <a:pt x="148231" y="58627"/>
                  <a:pt x="142006" y="64851"/>
                  <a:pt x="134334" y="64851"/>
                </a:cubicBezTo>
                <a:lnTo>
                  <a:pt x="106541" y="64851"/>
                </a:lnTo>
                <a:cubicBezTo>
                  <a:pt x="98869" y="64851"/>
                  <a:pt x="92644" y="58627"/>
                  <a:pt x="92644" y="50954"/>
                </a:cubicBezTo>
                <a:lnTo>
                  <a:pt x="92644" y="46322"/>
                </a:lnTo>
                <a:lnTo>
                  <a:pt x="55587" y="46322"/>
                </a:lnTo>
                <a:lnTo>
                  <a:pt x="55587" y="50954"/>
                </a:lnTo>
                <a:cubicBezTo>
                  <a:pt x="55587" y="53068"/>
                  <a:pt x="55094" y="55094"/>
                  <a:pt x="54255" y="56889"/>
                </a:cubicBezTo>
                <a:lnTo>
                  <a:pt x="74116" y="83380"/>
                </a:lnTo>
                <a:lnTo>
                  <a:pt x="97277" y="83380"/>
                </a:lnTo>
                <a:cubicBezTo>
                  <a:pt x="104949" y="83380"/>
                  <a:pt x="111173" y="89604"/>
                  <a:pt x="111173" y="97277"/>
                </a:cubicBezTo>
                <a:lnTo>
                  <a:pt x="111173" y="125070"/>
                </a:lnTo>
                <a:cubicBezTo>
                  <a:pt x="111173" y="132742"/>
                  <a:pt x="104949" y="138967"/>
                  <a:pt x="97277" y="138967"/>
                </a:cubicBezTo>
                <a:lnTo>
                  <a:pt x="69483" y="138967"/>
                </a:lnTo>
                <a:cubicBezTo>
                  <a:pt x="61811" y="138967"/>
                  <a:pt x="55587" y="132742"/>
                  <a:pt x="55587" y="125070"/>
                </a:cubicBezTo>
                <a:lnTo>
                  <a:pt x="55587" y="97277"/>
                </a:lnTo>
                <a:cubicBezTo>
                  <a:pt x="55587" y="95163"/>
                  <a:pt x="56079" y="93137"/>
                  <a:pt x="56918" y="91342"/>
                </a:cubicBezTo>
                <a:lnTo>
                  <a:pt x="37058" y="64851"/>
                </a:lnTo>
                <a:lnTo>
                  <a:pt x="13897" y="64851"/>
                </a:lnTo>
                <a:cubicBezTo>
                  <a:pt x="6225" y="64851"/>
                  <a:pt x="0" y="58627"/>
                  <a:pt x="0" y="50954"/>
                </a:cubicBezTo>
                <a:lnTo>
                  <a:pt x="0" y="2316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7"/>
          <p:cNvSpPr/>
          <p:nvPr/>
        </p:nvSpPr>
        <p:spPr>
          <a:xfrm>
            <a:off x="1259964" y="4243112"/>
            <a:ext cx="70409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Knoten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8213" y="4632219"/>
            <a:ext cx="4910152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"Wo sitzt es im System?" </a:t>
            </a:r>
            <a:pPr>
              <a:lnSpc>
                <a:spcPct val="140000"/>
              </a:lnSpc>
            </a:pPr>
            <a:r>
              <a:rPr lang="en-US" sz="1167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Interface, Speicherpfad, Feedback-Loop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die lokalisierende Struktur.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9982" y="5410432"/>
            <a:ext cx="5132498" cy="1222906"/>
          </a:xfrm>
          <a:custGeom>
            <a:avLst/>
            <a:gdLst/>
            <a:ahLst/>
            <a:cxnLst/>
            <a:rect l="l" t="t" r="r" b="b"/>
            <a:pathLst>
              <a:path w="5132498" h="1222906">
                <a:moveTo>
                  <a:pt x="74120" y="0"/>
                </a:moveTo>
                <a:lnTo>
                  <a:pt x="5058378" y="0"/>
                </a:lnTo>
                <a:cubicBezTo>
                  <a:pt x="5099314" y="0"/>
                  <a:pt x="5132498" y="33185"/>
                  <a:pt x="5132498" y="74120"/>
                </a:cubicBezTo>
                <a:lnTo>
                  <a:pt x="5132498" y="1148785"/>
                </a:lnTo>
                <a:cubicBezTo>
                  <a:pt x="5132498" y="1189721"/>
                  <a:pt x="5099314" y="1222906"/>
                  <a:pt x="5058378" y="1222906"/>
                </a:cubicBezTo>
                <a:lnTo>
                  <a:pt x="74120" y="1222906"/>
                </a:lnTo>
                <a:cubicBezTo>
                  <a:pt x="33185" y="1222906"/>
                  <a:pt x="0" y="1189721"/>
                  <a:pt x="0" y="1148785"/>
                </a:cubicBezTo>
                <a:lnTo>
                  <a:pt x="0" y="74120"/>
                </a:lnTo>
                <a:cubicBezTo>
                  <a:pt x="0" y="33185"/>
                  <a:pt x="33185" y="0"/>
                  <a:pt x="741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78213" y="5558663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185289" y="0"/>
                </a:moveTo>
                <a:lnTo>
                  <a:pt x="185289" y="0"/>
                </a:lnTo>
                <a:cubicBezTo>
                  <a:pt x="287552" y="0"/>
                  <a:pt x="370578" y="83025"/>
                  <a:pt x="370578" y="185289"/>
                </a:cubicBezTo>
                <a:lnTo>
                  <a:pt x="370578" y="185289"/>
                </a:lnTo>
                <a:cubicBezTo>
                  <a:pt x="370578" y="287552"/>
                  <a:pt x="287552" y="370578"/>
                  <a:pt x="185289" y="370578"/>
                </a:cubicBezTo>
                <a:lnTo>
                  <a:pt x="185289" y="370578"/>
                </a:lnTo>
                <a:cubicBezTo>
                  <a:pt x="83025" y="370578"/>
                  <a:pt x="0" y="287552"/>
                  <a:pt x="0" y="185289"/>
                </a:cubicBezTo>
                <a:lnTo>
                  <a:pt x="0" y="185289"/>
                </a:lnTo>
                <a:cubicBezTo>
                  <a:pt x="0" y="83025"/>
                  <a:pt x="83025" y="0"/>
                  <a:pt x="185289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4" name="Shape 21"/>
          <p:cNvSpPr/>
          <p:nvPr/>
        </p:nvSpPr>
        <p:spPr>
          <a:xfrm>
            <a:off x="917179" y="5669836"/>
            <a:ext cx="92644" cy="148231"/>
          </a:xfrm>
          <a:custGeom>
            <a:avLst/>
            <a:gdLst/>
            <a:ahLst/>
            <a:cxnLst/>
            <a:rect l="l" t="t" r="r" b="b"/>
            <a:pathLst>
              <a:path w="92644" h="148231">
                <a:moveTo>
                  <a:pt x="18529" y="46322"/>
                </a:moveTo>
                <a:cubicBezTo>
                  <a:pt x="18529" y="30978"/>
                  <a:pt x="30978" y="18529"/>
                  <a:pt x="46322" y="18529"/>
                </a:cubicBezTo>
                <a:cubicBezTo>
                  <a:pt x="61666" y="18529"/>
                  <a:pt x="74116" y="30978"/>
                  <a:pt x="74116" y="46322"/>
                </a:cubicBezTo>
                <a:cubicBezTo>
                  <a:pt x="74116" y="58684"/>
                  <a:pt x="66038" y="69165"/>
                  <a:pt x="54863" y="72784"/>
                </a:cubicBezTo>
                <a:cubicBezTo>
                  <a:pt x="46641" y="75447"/>
                  <a:pt x="37058" y="83004"/>
                  <a:pt x="37058" y="94960"/>
                </a:cubicBezTo>
                <a:lnTo>
                  <a:pt x="37058" y="101909"/>
                </a:lnTo>
                <a:cubicBezTo>
                  <a:pt x="37058" y="107033"/>
                  <a:pt x="41198" y="111173"/>
                  <a:pt x="46322" y="111173"/>
                </a:cubicBezTo>
                <a:cubicBezTo>
                  <a:pt x="51447" y="111173"/>
                  <a:pt x="55587" y="107033"/>
                  <a:pt x="55587" y="101909"/>
                </a:cubicBezTo>
                <a:lnTo>
                  <a:pt x="55587" y="94960"/>
                </a:lnTo>
                <a:cubicBezTo>
                  <a:pt x="55587" y="94468"/>
                  <a:pt x="55760" y="93773"/>
                  <a:pt x="56600" y="92847"/>
                </a:cubicBezTo>
                <a:cubicBezTo>
                  <a:pt x="57468" y="91892"/>
                  <a:pt x="58887" y="90965"/>
                  <a:pt x="60566" y="90415"/>
                </a:cubicBezTo>
                <a:cubicBezTo>
                  <a:pt x="79182" y="84422"/>
                  <a:pt x="92644" y="66965"/>
                  <a:pt x="92644" y="46322"/>
                </a:cubicBezTo>
                <a:cubicBezTo>
                  <a:pt x="92644" y="20729"/>
                  <a:pt x="71915" y="0"/>
                  <a:pt x="46322" y="0"/>
                </a:cubicBezTo>
                <a:cubicBezTo>
                  <a:pt x="20729" y="0"/>
                  <a:pt x="0" y="20729"/>
                  <a:pt x="0" y="46322"/>
                </a:cubicBezTo>
                <a:cubicBezTo>
                  <a:pt x="0" y="51447"/>
                  <a:pt x="4140" y="55587"/>
                  <a:pt x="9264" y="55587"/>
                </a:cubicBezTo>
                <a:cubicBezTo>
                  <a:pt x="14389" y="55587"/>
                  <a:pt x="18529" y="51447"/>
                  <a:pt x="18529" y="46322"/>
                </a:cubicBezTo>
                <a:close/>
                <a:moveTo>
                  <a:pt x="46322" y="148231"/>
                </a:moveTo>
                <a:cubicBezTo>
                  <a:pt x="52720" y="148231"/>
                  <a:pt x="57903" y="143049"/>
                  <a:pt x="57903" y="136650"/>
                </a:cubicBezTo>
                <a:cubicBezTo>
                  <a:pt x="57903" y="130252"/>
                  <a:pt x="52720" y="125070"/>
                  <a:pt x="46322" y="125070"/>
                </a:cubicBezTo>
                <a:cubicBezTo>
                  <a:pt x="39924" y="125070"/>
                  <a:pt x="34742" y="130252"/>
                  <a:pt x="34742" y="136650"/>
                </a:cubicBezTo>
                <a:cubicBezTo>
                  <a:pt x="34742" y="143049"/>
                  <a:pt x="39924" y="148231"/>
                  <a:pt x="46322" y="1482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2"/>
          <p:cNvSpPr/>
          <p:nvPr/>
        </p:nvSpPr>
        <p:spPr>
          <a:xfrm>
            <a:off x="1259964" y="5614249"/>
            <a:ext cx="135260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Zwischenraum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8213" y="6003356"/>
            <a:ext cx="4910152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"Ich weiß es noch nicht." </a:t>
            </a:r>
            <a:pPr>
              <a:lnSpc>
                <a:spcPct val="140000"/>
              </a:lnSpc>
            </a:pPr>
            <a:r>
              <a:rPr lang="en-US" sz="1167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Noch nicht einordnen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nicht forcieren – der Raum für Unbestimmtheit.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23695" y="2001119"/>
            <a:ext cx="5595720" cy="3335198"/>
          </a:xfrm>
          <a:custGeom>
            <a:avLst/>
            <a:gdLst/>
            <a:ahLst/>
            <a:cxnLst/>
            <a:rect l="l" t="t" r="r" b="b"/>
            <a:pathLst>
              <a:path w="5595720" h="3335198">
                <a:moveTo>
                  <a:pt x="37058" y="0"/>
                </a:moveTo>
                <a:lnTo>
                  <a:pt x="5521612" y="0"/>
                </a:lnTo>
                <a:cubicBezTo>
                  <a:pt x="5562541" y="0"/>
                  <a:pt x="5595720" y="33179"/>
                  <a:pt x="5595720" y="74108"/>
                </a:cubicBezTo>
                <a:lnTo>
                  <a:pt x="5595720" y="3261089"/>
                </a:lnTo>
                <a:cubicBezTo>
                  <a:pt x="5595720" y="3302018"/>
                  <a:pt x="5562541" y="3335198"/>
                  <a:pt x="5521612" y="3335198"/>
                </a:cubicBezTo>
                <a:lnTo>
                  <a:pt x="37058" y="3335198"/>
                </a:lnTo>
                <a:cubicBezTo>
                  <a:pt x="16591" y="3335198"/>
                  <a:pt x="0" y="3318606"/>
                  <a:pt x="0" y="329814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223695" y="2001119"/>
            <a:ext cx="37058" cy="3335198"/>
          </a:xfrm>
          <a:custGeom>
            <a:avLst/>
            <a:gdLst/>
            <a:ahLst/>
            <a:cxnLst/>
            <a:rect l="l" t="t" r="r" b="b"/>
            <a:pathLst>
              <a:path w="37058" h="3335198">
                <a:moveTo>
                  <a:pt x="37058" y="0"/>
                </a:moveTo>
                <a:lnTo>
                  <a:pt x="37058" y="0"/>
                </a:lnTo>
                <a:lnTo>
                  <a:pt x="37058" y="3335198"/>
                </a:lnTo>
                <a:lnTo>
                  <a:pt x="37058" y="3335198"/>
                </a:lnTo>
                <a:cubicBezTo>
                  <a:pt x="16591" y="3335198"/>
                  <a:pt x="0" y="3318606"/>
                  <a:pt x="0" y="329814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9" name="Shape 26"/>
          <p:cNvSpPr/>
          <p:nvPr/>
        </p:nvSpPr>
        <p:spPr>
          <a:xfrm>
            <a:off x="6492363" y="2260523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28618" y="99231"/>
                </a:moveTo>
                <a:cubicBezTo>
                  <a:pt x="34394" y="58844"/>
                  <a:pt x="69179" y="27793"/>
                  <a:pt x="111173" y="27793"/>
                </a:cubicBezTo>
                <a:cubicBezTo>
                  <a:pt x="134190" y="27793"/>
                  <a:pt x="155035" y="37130"/>
                  <a:pt x="170147" y="52199"/>
                </a:cubicBezTo>
                <a:cubicBezTo>
                  <a:pt x="170234" y="52286"/>
                  <a:pt x="170321" y="52373"/>
                  <a:pt x="170408" y="52460"/>
                </a:cubicBezTo>
                <a:lnTo>
                  <a:pt x="173708" y="55587"/>
                </a:lnTo>
                <a:lnTo>
                  <a:pt x="152907" y="55587"/>
                </a:lnTo>
                <a:cubicBezTo>
                  <a:pt x="145220" y="55587"/>
                  <a:pt x="139010" y="61797"/>
                  <a:pt x="139010" y="69483"/>
                </a:cubicBezTo>
                <a:cubicBezTo>
                  <a:pt x="139010" y="77170"/>
                  <a:pt x="145220" y="83380"/>
                  <a:pt x="152907" y="83380"/>
                </a:cubicBezTo>
                <a:lnTo>
                  <a:pt x="208493" y="83380"/>
                </a:lnTo>
                <a:cubicBezTo>
                  <a:pt x="216180" y="83380"/>
                  <a:pt x="222390" y="77170"/>
                  <a:pt x="222390" y="69483"/>
                </a:cubicBezTo>
                <a:lnTo>
                  <a:pt x="222390" y="13897"/>
                </a:lnTo>
                <a:cubicBezTo>
                  <a:pt x="222390" y="6210"/>
                  <a:pt x="216180" y="0"/>
                  <a:pt x="208493" y="0"/>
                </a:cubicBezTo>
                <a:cubicBezTo>
                  <a:pt x="200807" y="0"/>
                  <a:pt x="194597" y="6210"/>
                  <a:pt x="194597" y="13897"/>
                </a:cubicBezTo>
                <a:lnTo>
                  <a:pt x="194597" y="37087"/>
                </a:lnTo>
                <a:lnTo>
                  <a:pt x="189689" y="32440"/>
                </a:lnTo>
                <a:cubicBezTo>
                  <a:pt x="169583" y="12420"/>
                  <a:pt x="141789" y="0"/>
                  <a:pt x="111173" y="0"/>
                </a:cubicBezTo>
                <a:cubicBezTo>
                  <a:pt x="55152" y="0"/>
                  <a:pt x="8816" y="41429"/>
                  <a:pt x="1129" y="95322"/>
                </a:cubicBezTo>
                <a:cubicBezTo>
                  <a:pt x="43" y="102922"/>
                  <a:pt x="5298" y="109957"/>
                  <a:pt x="12898" y="111043"/>
                </a:cubicBezTo>
                <a:cubicBezTo>
                  <a:pt x="20498" y="112129"/>
                  <a:pt x="27533" y="106831"/>
                  <a:pt x="28618" y="99274"/>
                </a:cubicBezTo>
                <a:close/>
                <a:moveTo>
                  <a:pt x="221217" y="127024"/>
                </a:moveTo>
                <a:cubicBezTo>
                  <a:pt x="222303" y="119424"/>
                  <a:pt x="217005" y="112389"/>
                  <a:pt x="209449" y="111304"/>
                </a:cubicBezTo>
                <a:cubicBezTo>
                  <a:pt x="201892" y="110218"/>
                  <a:pt x="194814" y="115516"/>
                  <a:pt x="193728" y="123072"/>
                </a:cubicBezTo>
                <a:cubicBezTo>
                  <a:pt x="187952" y="163459"/>
                  <a:pt x="153167" y="194510"/>
                  <a:pt x="111173" y="194510"/>
                </a:cubicBezTo>
                <a:cubicBezTo>
                  <a:pt x="88157" y="194510"/>
                  <a:pt x="67312" y="185173"/>
                  <a:pt x="52199" y="170104"/>
                </a:cubicBezTo>
                <a:cubicBezTo>
                  <a:pt x="52112" y="170017"/>
                  <a:pt x="52026" y="169930"/>
                  <a:pt x="51939" y="169843"/>
                </a:cubicBezTo>
                <a:lnTo>
                  <a:pt x="48638" y="166716"/>
                </a:lnTo>
                <a:lnTo>
                  <a:pt x="69440" y="166716"/>
                </a:lnTo>
                <a:cubicBezTo>
                  <a:pt x="77126" y="166716"/>
                  <a:pt x="83337" y="160506"/>
                  <a:pt x="83337" y="152820"/>
                </a:cubicBezTo>
                <a:cubicBezTo>
                  <a:pt x="83337" y="145133"/>
                  <a:pt x="77126" y="138923"/>
                  <a:pt x="69440" y="138923"/>
                </a:cubicBezTo>
                <a:lnTo>
                  <a:pt x="13897" y="138967"/>
                </a:lnTo>
                <a:cubicBezTo>
                  <a:pt x="10205" y="138967"/>
                  <a:pt x="6644" y="140443"/>
                  <a:pt x="4039" y="143092"/>
                </a:cubicBezTo>
                <a:cubicBezTo>
                  <a:pt x="1433" y="145741"/>
                  <a:pt x="-43" y="149259"/>
                  <a:pt x="0" y="152994"/>
                </a:cubicBezTo>
                <a:lnTo>
                  <a:pt x="434" y="208146"/>
                </a:lnTo>
                <a:cubicBezTo>
                  <a:pt x="478" y="215832"/>
                  <a:pt x="6775" y="221999"/>
                  <a:pt x="14461" y="221912"/>
                </a:cubicBezTo>
                <a:cubicBezTo>
                  <a:pt x="22148" y="221825"/>
                  <a:pt x="28314" y="215572"/>
                  <a:pt x="28228" y="207885"/>
                </a:cubicBezTo>
                <a:lnTo>
                  <a:pt x="28054" y="185520"/>
                </a:lnTo>
                <a:lnTo>
                  <a:pt x="32701" y="189906"/>
                </a:lnTo>
                <a:cubicBezTo>
                  <a:pt x="52807" y="209926"/>
                  <a:pt x="80557" y="222347"/>
                  <a:pt x="111173" y="222347"/>
                </a:cubicBezTo>
                <a:cubicBezTo>
                  <a:pt x="167194" y="222347"/>
                  <a:pt x="213531" y="180917"/>
                  <a:pt x="221217" y="127024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0" name="Text 27"/>
          <p:cNvSpPr/>
          <p:nvPr/>
        </p:nvSpPr>
        <p:spPr>
          <a:xfrm>
            <a:off x="6742503" y="2223465"/>
            <a:ext cx="4965739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8B9A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Die vier Schritte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71982" y="2712627"/>
            <a:ext cx="431723" cy="431723"/>
          </a:xfrm>
          <a:custGeom>
            <a:avLst/>
            <a:gdLst/>
            <a:ahLst/>
            <a:cxnLst/>
            <a:rect l="l" t="t" r="r" b="b"/>
            <a:pathLst>
              <a:path w="431723" h="431723">
                <a:moveTo>
                  <a:pt x="215861" y="0"/>
                </a:moveTo>
                <a:lnTo>
                  <a:pt x="215861" y="0"/>
                </a:lnTo>
                <a:cubicBezTo>
                  <a:pt x="334999" y="0"/>
                  <a:pt x="431723" y="96724"/>
                  <a:pt x="431723" y="215861"/>
                </a:cubicBezTo>
                <a:lnTo>
                  <a:pt x="431723" y="215861"/>
                </a:lnTo>
                <a:cubicBezTo>
                  <a:pt x="431723" y="334999"/>
                  <a:pt x="334999" y="431723"/>
                  <a:pt x="215861" y="431723"/>
                </a:cubicBezTo>
                <a:lnTo>
                  <a:pt x="215861" y="431723"/>
                </a:lnTo>
                <a:cubicBezTo>
                  <a:pt x="96724" y="431723"/>
                  <a:pt x="0" y="334999"/>
                  <a:pt x="0" y="215861"/>
                </a:cubicBezTo>
                <a:lnTo>
                  <a:pt x="0" y="215861"/>
                </a:lnTo>
                <a:cubicBezTo>
                  <a:pt x="0" y="96724"/>
                  <a:pt x="96724" y="0"/>
                  <a:pt x="21586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0320">
            <a:solidFill>
              <a:srgbClr val="4A6C8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47388" y="2797860"/>
            <a:ext cx="176024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057494" y="2705216"/>
            <a:ext cx="2575514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Wahrnehmen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057494" y="3001678"/>
            <a:ext cx="255698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 Signal registrieren, ohne zu werten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71982" y="3342609"/>
            <a:ext cx="431723" cy="431723"/>
          </a:xfrm>
          <a:custGeom>
            <a:avLst/>
            <a:gdLst/>
            <a:ahLst/>
            <a:cxnLst/>
            <a:rect l="l" t="t" r="r" b="b"/>
            <a:pathLst>
              <a:path w="431723" h="431723">
                <a:moveTo>
                  <a:pt x="215861" y="0"/>
                </a:moveTo>
                <a:lnTo>
                  <a:pt x="215861" y="0"/>
                </a:lnTo>
                <a:cubicBezTo>
                  <a:pt x="334999" y="0"/>
                  <a:pt x="431723" y="96724"/>
                  <a:pt x="431723" y="215861"/>
                </a:cubicBezTo>
                <a:lnTo>
                  <a:pt x="431723" y="215861"/>
                </a:lnTo>
                <a:cubicBezTo>
                  <a:pt x="431723" y="334999"/>
                  <a:pt x="334999" y="431723"/>
                  <a:pt x="215861" y="431723"/>
                </a:cubicBezTo>
                <a:lnTo>
                  <a:pt x="215861" y="431723"/>
                </a:lnTo>
                <a:cubicBezTo>
                  <a:pt x="96724" y="431723"/>
                  <a:pt x="0" y="334999"/>
                  <a:pt x="0" y="215861"/>
                </a:cubicBezTo>
                <a:lnTo>
                  <a:pt x="0" y="215861"/>
                </a:lnTo>
                <a:cubicBezTo>
                  <a:pt x="0" y="96724"/>
                  <a:pt x="96724" y="0"/>
                  <a:pt x="215861" y="0"/>
                </a:cubicBezTo>
                <a:close/>
              </a:path>
            </a:pathLst>
          </a:custGeom>
          <a:solidFill>
            <a:srgbClr val="8B9A7C">
              <a:alpha val="30196"/>
            </a:srgbClr>
          </a:solidFill>
          <a:ln w="20320">
            <a:solidFill>
              <a:srgbClr val="8B9A7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30713" y="3427842"/>
            <a:ext cx="20381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8B9A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057494" y="3335198"/>
            <a:ext cx="225125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Benennen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057494" y="3631660"/>
            <a:ext cx="223272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 Zustand einen Marker geben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71982" y="3972591"/>
            <a:ext cx="431723" cy="431723"/>
          </a:xfrm>
          <a:custGeom>
            <a:avLst/>
            <a:gdLst/>
            <a:ahLst/>
            <a:cxnLst/>
            <a:rect l="l" t="t" r="r" b="b"/>
            <a:pathLst>
              <a:path w="431723" h="431723">
                <a:moveTo>
                  <a:pt x="215861" y="0"/>
                </a:moveTo>
                <a:lnTo>
                  <a:pt x="215861" y="0"/>
                </a:lnTo>
                <a:cubicBezTo>
                  <a:pt x="334999" y="0"/>
                  <a:pt x="431723" y="96724"/>
                  <a:pt x="431723" y="215861"/>
                </a:cubicBezTo>
                <a:lnTo>
                  <a:pt x="431723" y="215861"/>
                </a:lnTo>
                <a:cubicBezTo>
                  <a:pt x="431723" y="334999"/>
                  <a:pt x="334999" y="431723"/>
                  <a:pt x="215861" y="431723"/>
                </a:cubicBezTo>
                <a:lnTo>
                  <a:pt x="215861" y="431723"/>
                </a:lnTo>
                <a:cubicBezTo>
                  <a:pt x="96724" y="431723"/>
                  <a:pt x="0" y="334999"/>
                  <a:pt x="0" y="215861"/>
                </a:cubicBezTo>
                <a:lnTo>
                  <a:pt x="0" y="215861"/>
                </a:lnTo>
                <a:cubicBezTo>
                  <a:pt x="0" y="96724"/>
                  <a:pt x="96724" y="0"/>
                  <a:pt x="215861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20320">
            <a:solidFill>
              <a:srgbClr val="C9A86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29786" y="4057824"/>
            <a:ext cx="20381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057494" y="3965179"/>
            <a:ext cx="259404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Prüfen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057494" y="4261641"/>
            <a:ext cx="257551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Muster vergleichen, Hypothesen testen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471982" y="4602573"/>
            <a:ext cx="431723" cy="431723"/>
          </a:xfrm>
          <a:custGeom>
            <a:avLst/>
            <a:gdLst/>
            <a:ahLst/>
            <a:cxnLst/>
            <a:rect l="l" t="t" r="r" b="b"/>
            <a:pathLst>
              <a:path w="431723" h="431723">
                <a:moveTo>
                  <a:pt x="215861" y="0"/>
                </a:moveTo>
                <a:lnTo>
                  <a:pt x="215861" y="0"/>
                </a:lnTo>
                <a:cubicBezTo>
                  <a:pt x="334999" y="0"/>
                  <a:pt x="431723" y="96724"/>
                  <a:pt x="431723" y="215861"/>
                </a:cubicBezTo>
                <a:lnTo>
                  <a:pt x="431723" y="215861"/>
                </a:lnTo>
                <a:cubicBezTo>
                  <a:pt x="431723" y="334999"/>
                  <a:pt x="334999" y="431723"/>
                  <a:pt x="215861" y="431723"/>
                </a:cubicBezTo>
                <a:lnTo>
                  <a:pt x="215861" y="431723"/>
                </a:lnTo>
                <a:cubicBezTo>
                  <a:pt x="96724" y="431723"/>
                  <a:pt x="0" y="334999"/>
                  <a:pt x="0" y="215861"/>
                </a:cubicBezTo>
                <a:lnTo>
                  <a:pt x="0" y="215861"/>
                </a:lnTo>
                <a:cubicBezTo>
                  <a:pt x="0" y="96724"/>
                  <a:pt x="96724" y="0"/>
                  <a:pt x="21586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0320">
            <a:solidFill>
              <a:srgbClr val="4A6C8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29940" y="4687805"/>
            <a:ext cx="20381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057494" y="4595161"/>
            <a:ext cx="27700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Ableiten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057494" y="4891623"/>
            <a:ext cx="275153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Nächsten Schritt wählen – oder verweilen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208872" y="5488253"/>
            <a:ext cx="5603132" cy="1230317"/>
          </a:xfrm>
          <a:custGeom>
            <a:avLst/>
            <a:gdLst/>
            <a:ahLst/>
            <a:cxnLst/>
            <a:rect l="l" t="t" r="r" b="b"/>
            <a:pathLst>
              <a:path w="5603132" h="1230317">
                <a:moveTo>
                  <a:pt x="74114" y="0"/>
                </a:moveTo>
                <a:lnTo>
                  <a:pt x="5529018" y="0"/>
                </a:lnTo>
                <a:cubicBezTo>
                  <a:pt x="5569950" y="0"/>
                  <a:pt x="5603132" y="33182"/>
                  <a:pt x="5603132" y="74114"/>
                </a:cubicBezTo>
                <a:lnTo>
                  <a:pt x="5603132" y="1156203"/>
                </a:lnTo>
                <a:cubicBezTo>
                  <a:pt x="5603132" y="1197135"/>
                  <a:pt x="5569950" y="1230317"/>
                  <a:pt x="5529018" y="1230317"/>
                </a:cubicBezTo>
                <a:lnTo>
                  <a:pt x="74114" y="1230317"/>
                </a:lnTo>
                <a:cubicBezTo>
                  <a:pt x="33182" y="1230317"/>
                  <a:pt x="0" y="1197135"/>
                  <a:pt x="0" y="1156203"/>
                </a:cubicBezTo>
                <a:lnTo>
                  <a:pt x="0" y="74114"/>
                </a:lnTo>
                <a:cubicBezTo>
                  <a:pt x="0" y="33182"/>
                  <a:pt x="33182" y="0"/>
                  <a:pt x="74114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97866" y="5677246"/>
            <a:ext cx="530852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Spiral statt Linear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397866" y="6047823"/>
            <a:ext cx="5299258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 </a:t>
            </a:r>
            <a:pPr>
              <a:lnSpc>
                <a:spcPct val="140000"/>
              </a:lnSpc>
            </a:pPr>
            <a:r>
              <a:rPr lang="en-US" sz="1167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To-Do → Done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sondern kreisend. Man kehrt zurück, vertieft, verweilt. Der Prozess ist nicht Ziel, sondern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Haltung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711" y="417961"/>
            <a:ext cx="426853" cy="17786"/>
          </a:xfrm>
          <a:custGeom>
            <a:avLst/>
            <a:gdLst/>
            <a:ahLst/>
            <a:cxnLst/>
            <a:rect l="l" t="t" r="r" b="b"/>
            <a:pathLst>
              <a:path w="426853" h="17786">
                <a:moveTo>
                  <a:pt x="0" y="0"/>
                </a:moveTo>
                <a:lnTo>
                  <a:pt x="426853" y="0"/>
                </a:lnTo>
                <a:lnTo>
                  <a:pt x="426853" y="17786"/>
                </a:lnTo>
                <a:lnTo>
                  <a:pt x="0" y="17786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889278" y="355711"/>
            <a:ext cx="2169838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spc="252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· Organisationsebene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5711" y="640280"/>
            <a:ext cx="3610468" cy="1067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61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361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Langzeitstabilität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884761" y="355711"/>
            <a:ext cx="951527" cy="53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201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3497" y="1991982"/>
            <a:ext cx="5575772" cy="2587799"/>
          </a:xfrm>
          <a:custGeom>
            <a:avLst/>
            <a:gdLst/>
            <a:ahLst/>
            <a:cxnLst/>
            <a:rect l="l" t="t" r="r" b="b"/>
            <a:pathLst>
              <a:path w="5575772" h="2587799">
                <a:moveTo>
                  <a:pt x="35571" y="0"/>
                </a:moveTo>
                <a:lnTo>
                  <a:pt x="5504634" y="0"/>
                </a:lnTo>
                <a:cubicBezTo>
                  <a:pt x="5543923" y="0"/>
                  <a:pt x="5575772" y="31850"/>
                  <a:pt x="5575772" y="71139"/>
                </a:cubicBezTo>
                <a:lnTo>
                  <a:pt x="5575772" y="2516660"/>
                </a:lnTo>
                <a:cubicBezTo>
                  <a:pt x="5575772" y="2555949"/>
                  <a:pt x="5543923" y="2587799"/>
                  <a:pt x="5504634" y="2587799"/>
                </a:cubicBezTo>
                <a:lnTo>
                  <a:pt x="35571" y="2587799"/>
                </a:lnTo>
                <a:cubicBezTo>
                  <a:pt x="15926" y="2587799"/>
                  <a:pt x="0" y="2571873"/>
                  <a:pt x="0" y="2552228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73497" y="1991982"/>
            <a:ext cx="35571" cy="2587799"/>
          </a:xfrm>
          <a:custGeom>
            <a:avLst/>
            <a:gdLst/>
            <a:ahLst/>
            <a:cxnLst/>
            <a:rect l="l" t="t" r="r" b="b"/>
            <a:pathLst>
              <a:path w="35571" h="2587799">
                <a:moveTo>
                  <a:pt x="35571" y="0"/>
                </a:moveTo>
                <a:lnTo>
                  <a:pt x="35571" y="0"/>
                </a:lnTo>
                <a:lnTo>
                  <a:pt x="35571" y="2587799"/>
                </a:lnTo>
                <a:lnTo>
                  <a:pt x="35571" y="2587799"/>
                </a:lnTo>
                <a:cubicBezTo>
                  <a:pt x="15926" y="2587799"/>
                  <a:pt x="0" y="2571873"/>
                  <a:pt x="0" y="2552228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8" name="Shape 6"/>
          <p:cNvSpPr/>
          <p:nvPr/>
        </p:nvSpPr>
        <p:spPr>
          <a:xfrm>
            <a:off x="631387" y="2240980"/>
            <a:ext cx="213427" cy="213427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106713" y="0"/>
                </a:moveTo>
                <a:cubicBezTo>
                  <a:pt x="112841" y="0"/>
                  <a:pt x="118468" y="3376"/>
                  <a:pt x="121386" y="8754"/>
                </a:cubicBezTo>
                <a:lnTo>
                  <a:pt x="211426" y="175493"/>
                </a:lnTo>
                <a:cubicBezTo>
                  <a:pt x="214219" y="180662"/>
                  <a:pt x="214094" y="186915"/>
                  <a:pt x="211092" y="191959"/>
                </a:cubicBezTo>
                <a:cubicBezTo>
                  <a:pt x="208091" y="197003"/>
                  <a:pt x="202630" y="200088"/>
                  <a:pt x="196753" y="200088"/>
                </a:cubicBezTo>
                <a:lnTo>
                  <a:pt x="16674" y="200088"/>
                </a:lnTo>
                <a:cubicBezTo>
                  <a:pt x="10796" y="200088"/>
                  <a:pt x="5377" y="197003"/>
                  <a:pt x="2334" y="191959"/>
                </a:cubicBezTo>
                <a:cubicBezTo>
                  <a:pt x="-709" y="186915"/>
                  <a:pt x="-792" y="180662"/>
                  <a:pt x="2001" y="175493"/>
                </a:cubicBezTo>
                <a:lnTo>
                  <a:pt x="92040" y="8754"/>
                </a:lnTo>
                <a:cubicBezTo>
                  <a:pt x="94958" y="3376"/>
                  <a:pt x="100586" y="0"/>
                  <a:pt x="106713" y="0"/>
                </a:cubicBezTo>
                <a:close/>
                <a:moveTo>
                  <a:pt x="106713" y="70031"/>
                </a:moveTo>
                <a:cubicBezTo>
                  <a:pt x="101169" y="70031"/>
                  <a:pt x="96709" y="74491"/>
                  <a:pt x="96709" y="80035"/>
                </a:cubicBezTo>
                <a:lnTo>
                  <a:pt x="96709" y="126722"/>
                </a:lnTo>
                <a:cubicBezTo>
                  <a:pt x="96709" y="132266"/>
                  <a:pt x="101169" y="136726"/>
                  <a:pt x="106713" y="136726"/>
                </a:cubicBezTo>
                <a:cubicBezTo>
                  <a:pt x="112257" y="136726"/>
                  <a:pt x="116718" y="132266"/>
                  <a:pt x="116718" y="126722"/>
                </a:cubicBezTo>
                <a:lnTo>
                  <a:pt x="116718" y="80035"/>
                </a:lnTo>
                <a:cubicBezTo>
                  <a:pt x="116718" y="74491"/>
                  <a:pt x="112257" y="70031"/>
                  <a:pt x="106713" y="70031"/>
                </a:cubicBezTo>
                <a:close/>
                <a:moveTo>
                  <a:pt x="117843" y="160070"/>
                </a:moveTo>
                <a:cubicBezTo>
                  <a:pt x="118096" y="155939"/>
                  <a:pt x="116036" y="152008"/>
                  <a:pt x="112495" y="149866"/>
                </a:cubicBezTo>
                <a:cubicBezTo>
                  <a:pt x="108953" y="147724"/>
                  <a:pt x="104515" y="147724"/>
                  <a:pt x="100974" y="149866"/>
                </a:cubicBezTo>
                <a:cubicBezTo>
                  <a:pt x="97432" y="152008"/>
                  <a:pt x="95372" y="155939"/>
                  <a:pt x="95625" y="160070"/>
                </a:cubicBezTo>
                <a:cubicBezTo>
                  <a:pt x="95372" y="164201"/>
                  <a:pt x="97432" y="168132"/>
                  <a:pt x="100974" y="170274"/>
                </a:cubicBezTo>
                <a:cubicBezTo>
                  <a:pt x="104515" y="172416"/>
                  <a:pt x="108953" y="172416"/>
                  <a:pt x="112495" y="170274"/>
                </a:cubicBezTo>
                <a:cubicBezTo>
                  <a:pt x="116036" y="168132"/>
                  <a:pt x="118096" y="164201"/>
                  <a:pt x="117843" y="16007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9" name="Text 7"/>
          <p:cNvSpPr/>
          <p:nvPr/>
        </p:nvSpPr>
        <p:spPr>
          <a:xfrm>
            <a:off x="871492" y="2205409"/>
            <a:ext cx="497106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Fehlanreize in Unternehmen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4709" y="2632263"/>
            <a:ext cx="5211168" cy="524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Wenn KPIs </a:t>
            </a:r>
            <a:pPr>
              <a:lnSpc>
                <a:spcPct val="140000"/>
              </a:lnSpc>
            </a:pPr>
            <a:r>
              <a:rPr lang="en-US" sz="12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Ticket-Reduktion, Antwortgeschwindigkeit, Kostenersparnis</a:t>
            </a:r>
            <a:pPr>
              <a:lnSpc>
                <a:spcPct val="140000"/>
              </a:lnSpc>
            </a:pPr>
            <a:r>
              <a:rPr lang="en-US" sz="12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priorisieren, entsteht: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4709" y="3294775"/>
            <a:ext cx="5202276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Oberflächliche Problemlösung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4709" y="3579344"/>
            <a:ext cx="5202276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Frustration beim User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4709" y="3863912"/>
            <a:ext cx="5202276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Eskalationsschleifen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4709" y="4148481"/>
            <a:ext cx="5202276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Versteckte Komplexitätskosten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3497" y="4788761"/>
            <a:ext cx="35571" cy="880385"/>
          </a:xfrm>
          <a:custGeom>
            <a:avLst/>
            <a:gdLst/>
            <a:ahLst/>
            <a:cxnLst/>
            <a:rect l="l" t="t" r="r" b="b"/>
            <a:pathLst>
              <a:path w="35571" h="880385">
                <a:moveTo>
                  <a:pt x="0" y="0"/>
                </a:moveTo>
                <a:lnTo>
                  <a:pt x="35571" y="0"/>
                </a:lnTo>
                <a:lnTo>
                  <a:pt x="35571" y="880385"/>
                </a:lnTo>
                <a:lnTo>
                  <a:pt x="0" y="88038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4"/>
          <p:cNvSpPr/>
          <p:nvPr/>
        </p:nvSpPr>
        <p:spPr>
          <a:xfrm>
            <a:off x="604709" y="4788761"/>
            <a:ext cx="5433488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Goodhart's Law in Aktion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4709" y="5144473"/>
            <a:ext cx="5424595" cy="524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"Wenn eine Metrik zum Ziel wird, </a:t>
            </a:r>
            <a:pPr>
              <a:lnSpc>
                <a:spcPct val="140000"/>
              </a:lnSpc>
            </a:pPr>
            <a:r>
              <a:rPr lang="en-US" sz="12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hört sie auf, eine gute Metrik zu sein</a:t>
            </a:r>
            <a:pPr>
              <a:lnSpc>
                <a:spcPct val="140000"/>
              </a:lnSpc>
            </a:pPr>
            <a:r>
              <a:rPr lang="en-US" sz="12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." Überoptimierung führt zu systemischen Langzeitrisiken.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3497" y="5878127"/>
            <a:ext cx="35571" cy="880385"/>
          </a:xfrm>
          <a:custGeom>
            <a:avLst/>
            <a:gdLst/>
            <a:ahLst/>
            <a:cxnLst/>
            <a:rect l="l" t="t" r="r" b="b"/>
            <a:pathLst>
              <a:path w="35571" h="880385">
                <a:moveTo>
                  <a:pt x="0" y="0"/>
                </a:moveTo>
                <a:lnTo>
                  <a:pt x="35571" y="0"/>
                </a:lnTo>
                <a:lnTo>
                  <a:pt x="35571" y="880385"/>
                </a:lnTo>
                <a:lnTo>
                  <a:pt x="0" y="880385"/>
                </a:lnTo>
                <a:lnTo>
                  <a:pt x="0" y="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9" name="Text 17"/>
          <p:cNvSpPr/>
          <p:nvPr/>
        </p:nvSpPr>
        <p:spPr>
          <a:xfrm>
            <a:off x="604709" y="5878127"/>
            <a:ext cx="5433488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Die zentrale Frage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4709" y="6233838"/>
            <a:ext cx="5424595" cy="524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Wie misst man </a:t>
            </a:r>
            <a:pPr>
              <a:lnSpc>
                <a:spcPct val="140000"/>
              </a:lnSpc>
            </a:pPr>
            <a:r>
              <a:rPr lang="en-US" sz="12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echte Problemlösung</a:t>
            </a:r>
            <a:pPr>
              <a:lnSpc>
                <a:spcPct val="140000"/>
              </a:lnSpc>
            </a:pPr>
            <a:r>
              <a:rPr lang="en-US" sz="126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statt nur Ticket-Schließung? Wie priorisiert man Stabilität statt kurzfristiger Effizienz?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6802" y="1991982"/>
            <a:ext cx="5593558" cy="3272543"/>
          </a:xfrm>
          <a:custGeom>
            <a:avLst/>
            <a:gdLst/>
            <a:ahLst/>
            <a:cxnLst/>
            <a:rect l="l" t="t" r="r" b="b"/>
            <a:pathLst>
              <a:path w="5593558" h="3272543">
                <a:moveTo>
                  <a:pt x="71145" y="0"/>
                </a:moveTo>
                <a:lnTo>
                  <a:pt x="5522413" y="0"/>
                </a:lnTo>
                <a:cubicBezTo>
                  <a:pt x="5561705" y="0"/>
                  <a:pt x="5593558" y="31853"/>
                  <a:pt x="5593558" y="71145"/>
                </a:cubicBezTo>
                <a:lnTo>
                  <a:pt x="5593558" y="3201398"/>
                </a:lnTo>
                <a:cubicBezTo>
                  <a:pt x="5593558" y="3240690"/>
                  <a:pt x="5561705" y="3272543"/>
                  <a:pt x="5522413" y="3272543"/>
                </a:cubicBezTo>
                <a:lnTo>
                  <a:pt x="71145" y="3272543"/>
                </a:lnTo>
                <a:cubicBezTo>
                  <a:pt x="31853" y="3272543"/>
                  <a:pt x="0" y="3240690"/>
                  <a:pt x="0" y="3201398"/>
                </a:cubicBezTo>
                <a:lnTo>
                  <a:pt x="0" y="71145"/>
                </a:lnTo>
                <a:cubicBezTo>
                  <a:pt x="0" y="31853"/>
                  <a:pt x="31853" y="0"/>
                  <a:pt x="71145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50229" y="2205409"/>
            <a:ext cx="5255632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als Struktur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50229" y="2632263"/>
            <a:ext cx="355711" cy="355711"/>
          </a:xfrm>
          <a:custGeom>
            <a:avLst/>
            <a:gdLst/>
            <a:ahLst/>
            <a:cxnLst/>
            <a:rect l="l" t="t" r="r" b="b"/>
            <a:pathLst>
              <a:path w="355711" h="355711">
                <a:moveTo>
                  <a:pt x="177856" y="0"/>
                </a:moveTo>
                <a:lnTo>
                  <a:pt x="177856" y="0"/>
                </a:lnTo>
                <a:cubicBezTo>
                  <a:pt x="276017" y="0"/>
                  <a:pt x="355711" y="79694"/>
                  <a:pt x="355711" y="177856"/>
                </a:cubicBezTo>
                <a:lnTo>
                  <a:pt x="355711" y="177856"/>
                </a:lnTo>
                <a:cubicBezTo>
                  <a:pt x="355711" y="276017"/>
                  <a:pt x="276017" y="355711"/>
                  <a:pt x="177856" y="355711"/>
                </a:cubicBezTo>
                <a:lnTo>
                  <a:pt x="177856" y="355711"/>
                </a:lnTo>
                <a:cubicBezTo>
                  <a:pt x="79694" y="355711"/>
                  <a:pt x="0" y="276017"/>
                  <a:pt x="0" y="177856"/>
                </a:cubicBezTo>
                <a:lnTo>
                  <a:pt x="0" y="177856"/>
                </a:lnTo>
                <a:cubicBezTo>
                  <a:pt x="0" y="79694"/>
                  <a:pt x="79694" y="0"/>
                  <a:pt x="177856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39157" y="2738976"/>
            <a:ext cx="177856" cy="142284"/>
          </a:xfrm>
          <a:custGeom>
            <a:avLst/>
            <a:gdLst/>
            <a:ahLst/>
            <a:cxnLst/>
            <a:rect l="l" t="t" r="r" b="b"/>
            <a:pathLst>
              <a:path w="177856" h="142284">
                <a:moveTo>
                  <a:pt x="106713" y="8893"/>
                </a:moveTo>
                <a:lnTo>
                  <a:pt x="142284" y="8893"/>
                </a:lnTo>
                <a:cubicBezTo>
                  <a:pt x="147203" y="8893"/>
                  <a:pt x="151177" y="12867"/>
                  <a:pt x="151177" y="17786"/>
                </a:cubicBezTo>
                <a:cubicBezTo>
                  <a:pt x="151177" y="22704"/>
                  <a:pt x="147203" y="26678"/>
                  <a:pt x="142284" y="26678"/>
                </a:cubicBezTo>
                <a:lnTo>
                  <a:pt x="110715" y="26678"/>
                </a:lnTo>
                <a:cubicBezTo>
                  <a:pt x="109270" y="33848"/>
                  <a:pt x="104351" y="39767"/>
                  <a:pt x="97821" y="42602"/>
                </a:cubicBezTo>
                <a:lnTo>
                  <a:pt x="97821" y="124499"/>
                </a:lnTo>
                <a:lnTo>
                  <a:pt x="142284" y="124499"/>
                </a:lnTo>
                <a:cubicBezTo>
                  <a:pt x="147203" y="124499"/>
                  <a:pt x="151177" y="128473"/>
                  <a:pt x="151177" y="133392"/>
                </a:cubicBezTo>
                <a:cubicBezTo>
                  <a:pt x="151177" y="138311"/>
                  <a:pt x="147203" y="142284"/>
                  <a:pt x="142284" y="142284"/>
                </a:cubicBezTo>
                <a:lnTo>
                  <a:pt x="35571" y="142284"/>
                </a:lnTo>
                <a:cubicBezTo>
                  <a:pt x="30652" y="142284"/>
                  <a:pt x="26678" y="138311"/>
                  <a:pt x="26678" y="133392"/>
                </a:cubicBezTo>
                <a:cubicBezTo>
                  <a:pt x="26678" y="128473"/>
                  <a:pt x="30652" y="124499"/>
                  <a:pt x="35571" y="124499"/>
                </a:cubicBezTo>
                <a:lnTo>
                  <a:pt x="80035" y="124499"/>
                </a:lnTo>
                <a:lnTo>
                  <a:pt x="80035" y="42602"/>
                </a:lnTo>
                <a:cubicBezTo>
                  <a:pt x="73504" y="39740"/>
                  <a:pt x="68586" y="33820"/>
                  <a:pt x="67140" y="26678"/>
                </a:cubicBezTo>
                <a:lnTo>
                  <a:pt x="35571" y="26678"/>
                </a:lnTo>
                <a:cubicBezTo>
                  <a:pt x="30652" y="26678"/>
                  <a:pt x="26678" y="22704"/>
                  <a:pt x="26678" y="17786"/>
                </a:cubicBezTo>
                <a:cubicBezTo>
                  <a:pt x="26678" y="12867"/>
                  <a:pt x="30652" y="8893"/>
                  <a:pt x="35571" y="8893"/>
                </a:cubicBezTo>
                <a:lnTo>
                  <a:pt x="71142" y="8893"/>
                </a:lnTo>
                <a:cubicBezTo>
                  <a:pt x="75200" y="3502"/>
                  <a:pt x="81647" y="0"/>
                  <a:pt x="88928" y="0"/>
                </a:cubicBezTo>
                <a:cubicBezTo>
                  <a:pt x="96209" y="0"/>
                  <a:pt x="102656" y="3502"/>
                  <a:pt x="106713" y="8893"/>
                </a:cubicBezTo>
                <a:close/>
                <a:moveTo>
                  <a:pt x="122165" y="88928"/>
                </a:moveTo>
                <a:lnTo>
                  <a:pt x="162404" y="88928"/>
                </a:lnTo>
                <a:lnTo>
                  <a:pt x="142284" y="54413"/>
                </a:lnTo>
                <a:lnTo>
                  <a:pt x="122165" y="88928"/>
                </a:lnTo>
                <a:close/>
                <a:moveTo>
                  <a:pt x="142284" y="115606"/>
                </a:moveTo>
                <a:cubicBezTo>
                  <a:pt x="124805" y="115606"/>
                  <a:pt x="110270" y="106158"/>
                  <a:pt x="107269" y="93680"/>
                </a:cubicBezTo>
                <a:cubicBezTo>
                  <a:pt x="106547" y="90623"/>
                  <a:pt x="107547" y="87483"/>
                  <a:pt x="109131" y="84759"/>
                </a:cubicBezTo>
                <a:lnTo>
                  <a:pt x="135587" y="39406"/>
                </a:lnTo>
                <a:cubicBezTo>
                  <a:pt x="136977" y="37016"/>
                  <a:pt x="139533" y="35571"/>
                  <a:pt x="142284" y="35571"/>
                </a:cubicBezTo>
                <a:cubicBezTo>
                  <a:pt x="145036" y="35571"/>
                  <a:pt x="147592" y="37044"/>
                  <a:pt x="148982" y="39406"/>
                </a:cubicBezTo>
                <a:lnTo>
                  <a:pt x="175438" y="84759"/>
                </a:lnTo>
                <a:cubicBezTo>
                  <a:pt x="177022" y="87483"/>
                  <a:pt x="178022" y="90623"/>
                  <a:pt x="177300" y="93680"/>
                </a:cubicBezTo>
                <a:cubicBezTo>
                  <a:pt x="174298" y="106130"/>
                  <a:pt x="159764" y="115606"/>
                  <a:pt x="142284" y="115606"/>
                </a:cubicBezTo>
                <a:close/>
                <a:moveTo>
                  <a:pt x="35238" y="54413"/>
                </a:moveTo>
                <a:lnTo>
                  <a:pt x="15118" y="88928"/>
                </a:lnTo>
                <a:lnTo>
                  <a:pt x="55385" y="88928"/>
                </a:lnTo>
                <a:lnTo>
                  <a:pt x="35238" y="54413"/>
                </a:lnTo>
                <a:close/>
                <a:moveTo>
                  <a:pt x="250" y="93680"/>
                </a:moveTo>
                <a:cubicBezTo>
                  <a:pt x="-472" y="90623"/>
                  <a:pt x="528" y="87483"/>
                  <a:pt x="2112" y="84759"/>
                </a:cubicBezTo>
                <a:lnTo>
                  <a:pt x="28568" y="39406"/>
                </a:lnTo>
                <a:cubicBezTo>
                  <a:pt x="29958" y="37016"/>
                  <a:pt x="32514" y="35571"/>
                  <a:pt x="35265" y="35571"/>
                </a:cubicBezTo>
                <a:cubicBezTo>
                  <a:pt x="38017" y="35571"/>
                  <a:pt x="40573" y="37044"/>
                  <a:pt x="41963" y="39406"/>
                </a:cubicBezTo>
                <a:lnTo>
                  <a:pt x="68419" y="84759"/>
                </a:lnTo>
                <a:cubicBezTo>
                  <a:pt x="70003" y="87483"/>
                  <a:pt x="71003" y="90623"/>
                  <a:pt x="70281" y="93680"/>
                </a:cubicBezTo>
                <a:cubicBezTo>
                  <a:pt x="67279" y="106130"/>
                  <a:pt x="52745" y="115606"/>
                  <a:pt x="35265" y="115606"/>
                </a:cubicBezTo>
                <a:cubicBezTo>
                  <a:pt x="17786" y="115606"/>
                  <a:pt x="3251" y="106158"/>
                  <a:pt x="250" y="9368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6948224" y="2632263"/>
            <a:ext cx="2107589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Incentive-Alignment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8224" y="2916832"/>
            <a:ext cx="2098696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 an Langzeitstabilität koppeln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0229" y="3272543"/>
            <a:ext cx="355711" cy="355711"/>
          </a:xfrm>
          <a:custGeom>
            <a:avLst/>
            <a:gdLst/>
            <a:ahLst/>
            <a:cxnLst/>
            <a:rect l="l" t="t" r="r" b="b"/>
            <a:pathLst>
              <a:path w="355711" h="355711">
                <a:moveTo>
                  <a:pt x="177856" y="0"/>
                </a:moveTo>
                <a:lnTo>
                  <a:pt x="177856" y="0"/>
                </a:lnTo>
                <a:cubicBezTo>
                  <a:pt x="276017" y="0"/>
                  <a:pt x="355711" y="79694"/>
                  <a:pt x="355711" y="177856"/>
                </a:cubicBezTo>
                <a:lnTo>
                  <a:pt x="355711" y="177856"/>
                </a:lnTo>
                <a:cubicBezTo>
                  <a:pt x="355711" y="276017"/>
                  <a:pt x="276017" y="355711"/>
                  <a:pt x="177856" y="355711"/>
                </a:cubicBezTo>
                <a:lnTo>
                  <a:pt x="177856" y="355711"/>
                </a:lnTo>
                <a:cubicBezTo>
                  <a:pt x="79694" y="355711"/>
                  <a:pt x="0" y="276017"/>
                  <a:pt x="0" y="177856"/>
                </a:cubicBezTo>
                <a:lnTo>
                  <a:pt x="0" y="177856"/>
                </a:lnTo>
                <a:cubicBezTo>
                  <a:pt x="0" y="79694"/>
                  <a:pt x="79694" y="0"/>
                  <a:pt x="177856" y="0"/>
                </a:cubicBezTo>
                <a:close/>
              </a:path>
            </a:pathLst>
          </a:custGeom>
          <a:solidFill>
            <a:srgbClr val="8B9A7C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56942" y="3379256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17786" y="17786"/>
                </a:moveTo>
                <a:cubicBezTo>
                  <a:pt x="17786" y="12867"/>
                  <a:pt x="13812" y="8893"/>
                  <a:pt x="8893" y="8893"/>
                </a:cubicBezTo>
                <a:cubicBezTo>
                  <a:pt x="3974" y="8893"/>
                  <a:pt x="0" y="12867"/>
                  <a:pt x="0" y="17786"/>
                </a:cubicBezTo>
                <a:lnTo>
                  <a:pt x="0" y="111160"/>
                </a:lnTo>
                <a:cubicBezTo>
                  <a:pt x="0" y="123443"/>
                  <a:pt x="9949" y="133392"/>
                  <a:pt x="22232" y="133392"/>
                </a:cubicBezTo>
                <a:lnTo>
                  <a:pt x="133392" y="133392"/>
                </a:lnTo>
                <a:cubicBezTo>
                  <a:pt x="138311" y="133392"/>
                  <a:pt x="142284" y="129418"/>
                  <a:pt x="142284" y="124499"/>
                </a:cubicBezTo>
                <a:cubicBezTo>
                  <a:pt x="142284" y="119580"/>
                  <a:pt x="138311" y="115606"/>
                  <a:pt x="133392" y="115606"/>
                </a:cubicBezTo>
                <a:lnTo>
                  <a:pt x="22232" y="115606"/>
                </a:lnTo>
                <a:cubicBezTo>
                  <a:pt x="19786" y="115606"/>
                  <a:pt x="17786" y="113605"/>
                  <a:pt x="17786" y="111160"/>
                </a:cubicBezTo>
                <a:lnTo>
                  <a:pt x="17786" y="17786"/>
                </a:lnTo>
                <a:close/>
                <a:moveTo>
                  <a:pt x="130779" y="41852"/>
                </a:moveTo>
                <a:cubicBezTo>
                  <a:pt x="134253" y="38378"/>
                  <a:pt x="134253" y="32737"/>
                  <a:pt x="130779" y="29263"/>
                </a:cubicBezTo>
                <a:cubicBezTo>
                  <a:pt x="127306" y="25789"/>
                  <a:pt x="121664" y="25789"/>
                  <a:pt x="118191" y="29263"/>
                </a:cubicBezTo>
                <a:lnTo>
                  <a:pt x="88928" y="58553"/>
                </a:lnTo>
                <a:lnTo>
                  <a:pt x="72976" y="42630"/>
                </a:lnTo>
                <a:cubicBezTo>
                  <a:pt x="69503" y="39156"/>
                  <a:pt x="63861" y="39156"/>
                  <a:pt x="60388" y="42630"/>
                </a:cubicBezTo>
                <a:lnTo>
                  <a:pt x="33709" y="69308"/>
                </a:lnTo>
                <a:cubicBezTo>
                  <a:pt x="30235" y="72782"/>
                  <a:pt x="30235" y="78423"/>
                  <a:pt x="33709" y="81897"/>
                </a:cubicBezTo>
                <a:cubicBezTo>
                  <a:pt x="37183" y="85371"/>
                  <a:pt x="42824" y="85371"/>
                  <a:pt x="46298" y="81897"/>
                </a:cubicBezTo>
                <a:lnTo>
                  <a:pt x="66696" y="61499"/>
                </a:lnTo>
                <a:lnTo>
                  <a:pt x="82647" y="77451"/>
                </a:lnTo>
                <a:cubicBezTo>
                  <a:pt x="86121" y="80924"/>
                  <a:pt x="91762" y="80924"/>
                  <a:pt x="95236" y="77451"/>
                </a:cubicBezTo>
                <a:lnTo>
                  <a:pt x="130807" y="41879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9" name="Text 27"/>
          <p:cNvSpPr/>
          <p:nvPr/>
        </p:nvSpPr>
        <p:spPr>
          <a:xfrm>
            <a:off x="6948224" y="3272543"/>
            <a:ext cx="2489978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Over-Optimization-Diagnosen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8224" y="3557112"/>
            <a:ext cx="2481085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Frühzeitige Erkennung von Fehlanreizen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50229" y="3912823"/>
            <a:ext cx="355711" cy="355711"/>
          </a:xfrm>
          <a:custGeom>
            <a:avLst/>
            <a:gdLst/>
            <a:ahLst/>
            <a:cxnLst/>
            <a:rect l="l" t="t" r="r" b="b"/>
            <a:pathLst>
              <a:path w="355711" h="355711">
                <a:moveTo>
                  <a:pt x="177856" y="0"/>
                </a:moveTo>
                <a:lnTo>
                  <a:pt x="177856" y="0"/>
                </a:lnTo>
                <a:cubicBezTo>
                  <a:pt x="276017" y="0"/>
                  <a:pt x="355711" y="79694"/>
                  <a:pt x="355711" y="177856"/>
                </a:cubicBezTo>
                <a:lnTo>
                  <a:pt x="355711" y="177856"/>
                </a:lnTo>
                <a:cubicBezTo>
                  <a:pt x="355711" y="276017"/>
                  <a:pt x="276017" y="355711"/>
                  <a:pt x="177856" y="355711"/>
                </a:cubicBezTo>
                <a:lnTo>
                  <a:pt x="177856" y="355711"/>
                </a:lnTo>
                <a:cubicBezTo>
                  <a:pt x="79694" y="355711"/>
                  <a:pt x="0" y="276017"/>
                  <a:pt x="0" y="177856"/>
                </a:cubicBezTo>
                <a:lnTo>
                  <a:pt x="0" y="177856"/>
                </a:lnTo>
                <a:cubicBezTo>
                  <a:pt x="0" y="79694"/>
                  <a:pt x="79694" y="0"/>
                  <a:pt x="177856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74728" y="4019536"/>
            <a:ext cx="106713" cy="142284"/>
          </a:xfrm>
          <a:custGeom>
            <a:avLst/>
            <a:gdLst/>
            <a:ahLst/>
            <a:cxnLst/>
            <a:rect l="l" t="t" r="r" b="b"/>
            <a:pathLst>
              <a:path w="106713" h="142284">
                <a:moveTo>
                  <a:pt x="86538" y="8893"/>
                </a:moveTo>
                <a:lnTo>
                  <a:pt x="88928" y="8893"/>
                </a:lnTo>
                <a:cubicBezTo>
                  <a:pt x="98738" y="8893"/>
                  <a:pt x="106713" y="16868"/>
                  <a:pt x="106713" y="26678"/>
                </a:cubicBezTo>
                <a:lnTo>
                  <a:pt x="106713" y="124499"/>
                </a:lnTo>
                <a:cubicBezTo>
                  <a:pt x="106713" y="134309"/>
                  <a:pt x="98738" y="142284"/>
                  <a:pt x="88928" y="142284"/>
                </a:cubicBezTo>
                <a:lnTo>
                  <a:pt x="17786" y="142284"/>
                </a:lnTo>
                <a:cubicBezTo>
                  <a:pt x="7976" y="142284"/>
                  <a:pt x="0" y="134309"/>
                  <a:pt x="0" y="124499"/>
                </a:cubicBezTo>
                <a:lnTo>
                  <a:pt x="0" y="26678"/>
                </a:lnTo>
                <a:cubicBezTo>
                  <a:pt x="0" y="16868"/>
                  <a:pt x="7976" y="8893"/>
                  <a:pt x="17786" y="8893"/>
                </a:cubicBezTo>
                <a:lnTo>
                  <a:pt x="20175" y="8893"/>
                </a:lnTo>
                <a:cubicBezTo>
                  <a:pt x="23232" y="3585"/>
                  <a:pt x="28985" y="0"/>
                  <a:pt x="35571" y="0"/>
                </a:cubicBezTo>
                <a:lnTo>
                  <a:pt x="71142" y="0"/>
                </a:lnTo>
                <a:cubicBezTo>
                  <a:pt x="77728" y="0"/>
                  <a:pt x="83481" y="3585"/>
                  <a:pt x="86538" y="8893"/>
                </a:cubicBezTo>
                <a:close/>
                <a:moveTo>
                  <a:pt x="68919" y="31125"/>
                </a:moveTo>
                <a:cubicBezTo>
                  <a:pt x="72615" y="31125"/>
                  <a:pt x="75589" y="28151"/>
                  <a:pt x="75589" y="24455"/>
                </a:cubicBezTo>
                <a:cubicBezTo>
                  <a:pt x="75589" y="20759"/>
                  <a:pt x="72615" y="17786"/>
                  <a:pt x="68919" y="17786"/>
                </a:cubicBezTo>
                <a:lnTo>
                  <a:pt x="37794" y="17786"/>
                </a:lnTo>
                <a:cubicBezTo>
                  <a:pt x="34098" y="17786"/>
                  <a:pt x="31125" y="20759"/>
                  <a:pt x="31125" y="24455"/>
                </a:cubicBezTo>
                <a:cubicBezTo>
                  <a:pt x="31125" y="28151"/>
                  <a:pt x="34098" y="31125"/>
                  <a:pt x="37794" y="31125"/>
                </a:cubicBezTo>
                <a:lnTo>
                  <a:pt x="68919" y="31125"/>
                </a:lnTo>
                <a:close/>
                <a:moveTo>
                  <a:pt x="76811" y="72448"/>
                </a:moveTo>
                <a:cubicBezTo>
                  <a:pt x="78757" y="69336"/>
                  <a:pt x="77812" y="65223"/>
                  <a:pt x="74699" y="63250"/>
                </a:cubicBezTo>
                <a:cubicBezTo>
                  <a:pt x="71587" y="61277"/>
                  <a:pt x="67474" y="62249"/>
                  <a:pt x="65501" y="65362"/>
                </a:cubicBezTo>
                <a:lnTo>
                  <a:pt x="48438" y="92679"/>
                </a:lnTo>
                <a:lnTo>
                  <a:pt x="40935" y="82675"/>
                </a:lnTo>
                <a:cubicBezTo>
                  <a:pt x="38711" y="79729"/>
                  <a:pt x="34543" y="79118"/>
                  <a:pt x="31597" y="81341"/>
                </a:cubicBezTo>
                <a:cubicBezTo>
                  <a:pt x="28651" y="83564"/>
                  <a:pt x="28040" y="87733"/>
                  <a:pt x="30263" y="90679"/>
                </a:cubicBezTo>
                <a:lnTo>
                  <a:pt x="43602" y="108464"/>
                </a:lnTo>
                <a:cubicBezTo>
                  <a:pt x="44909" y="110215"/>
                  <a:pt x="47021" y="111215"/>
                  <a:pt x="49216" y="111132"/>
                </a:cubicBezTo>
                <a:cubicBezTo>
                  <a:pt x="51411" y="111049"/>
                  <a:pt x="53412" y="109881"/>
                  <a:pt x="54579" y="107992"/>
                </a:cubicBezTo>
                <a:lnTo>
                  <a:pt x="76811" y="72421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3" name="Text 31"/>
          <p:cNvSpPr/>
          <p:nvPr/>
        </p:nvSpPr>
        <p:spPr>
          <a:xfrm>
            <a:off x="6948224" y="3912823"/>
            <a:ext cx="2392158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Unabhängige Audits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48224" y="4197392"/>
            <a:ext cx="2383265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Externe Prüfung von Systemverhalten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0229" y="4553103"/>
            <a:ext cx="355711" cy="355711"/>
          </a:xfrm>
          <a:custGeom>
            <a:avLst/>
            <a:gdLst/>
            <a:ahLst/>
            <a:cxnLst/>
            <a:rect l="l" t="t" r="r" b="b"/>
            <a:pathLst>
              <a:path w="355711" h="355711">
                <a:moveTo>
                  <a:pt x="177856" y="0"/>
                </a:moveTo>
                <a:lnTo>
                  <a:pt x="177856" y="0"/>
                </a:lnTo>
                <a:cubicBezTo>
                  <a:pt x="276017" y="0"/>
                  <a:pt x="355711" y="79694"/>
                  <a:pt x="355711" y="177856"/>
                </a:cubicBezTo>
                <a:lnTo>
                  <a:pt x="355711" y="177856"/>
                </a:lnTo>
                <a:cubicBezTo>
                  <a:pt x="355711" y="276017"/>
                  <a:pt x="276017" y="355711"/>
                  <a:pt x="177856" y="355711"/>
                </a:cubicBezTo>
                <a:lnTo>
                  <a:pt x="177856" y="355711"/>
                </a:lnTo>
                <a:cubicBezTo>
                  <a:pt x="79694" y="355711"/>
                  <a:pt x="0" y="276017"/>
                  <a:pt x="0" y="177856"/>
                </a:cubicBezTo>
                <a:lnTo>
                  <a:pt x="0" y="177856"/>
                </a:lnTo>
                <a:cubicBezTo>
                  <a:pt x="0" y="79694"/>
                  <a:pt x="79694" y="0"/>
                  <a:pt x="177856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39157" y="4659816"/>
            <a:ext cx="177856" cy="142284"/>
          </a:xfrm>
          <a:custGeom>
            <a:avLst/>
            <a:gdLst/>
            <a:ahLst/>
            <a:cxnLst/>
            <a:rect l="l" t="t" r="r" b="b"/>
            <a:pathLst>
              <a:path w="177856" h="142284">
                <a:moveTo>
                  <a:pt x="88928" y="4446"/>
                </a:moveTo>
                <a:cubicBezTo>
                  <a:pt x="104879" y="4446"/>
                  <a:pt x="117829" y="17397"/>
                  <a:pt x="117829" y="33348"/>
                </a:cubicBezTo>
                <a:cubicBezTo>
                  <a:pt x="117829" y="49299"/>
                  <a:pt x="104879" y="62249"/>
                  <a:pt x="88928" y="62249"/>
                </a:cubicBezTo>
                <a:cubicBezTo>
                  <a:pt x="72977" y="62249"/>
                  <a:pt x="60026" y="49299"/>
                  <a:pt x="60026" y="33348"/>
                </a:cubicBezTo>
                <a:cubicBezTo>
                  <a:pt x="60026" y="17397"/>
                  <a:pt x="72977" y="4446"/>
                  <a:pt x="88928" y="4446"/>
                </a:cubicBezTo>
                <a:close/>
                <a:moveTo>
                  <a:pt x="26678" y="24455"/>
                </a:moveTo>
                <a:cubicBezTo>
                  <a:pt x="37721" y="24455"/>
                  <a:pt x="46687" y="33421"/>
                  <a:pt x="46687" y="44464"/>
                </a:cubicBezTo>
                <a:cubicBezTo>
                  <a:pt x="46687" y="55507"/>
                  <a:pt x="37721" y="64473"/>
                  <a:pt x="26678" y="64473"/>
                </a:cubicBezTo>
                <a:cubicBezTo>
                  <a:pt x="15635" y="64473"/>
                  <a:pt x="6670" y="55507"/>
                  <a:pt x="6670" y="44464"/>
                </a:cubicBezTo>
                <a:cubicBezTo>
                  <a:pt x="6670" y="33421"/>
                  <a:pt x="15635" y="24455"/>
                  <a:pt x="26678" y="24455"/>
                </a:cubicBezTo>
                <a:close/>
                <a:moveTo>
                  <a:pt x="0" y="115606"/>
                </a:moveTo>
                <a:cubicBezTo>
                  <a:pt x="0" y="95959"/>
                  <a:pt x="15924" y="80035"/>
                  <a:pt x="35571" y="80035"/>
                </a:cubicBezTo>
                <a:cubicBezTo>
                  <a:pt x="39128" y="80035"/>
                  <a:pt x="42574" y="80563"/>
                  <a:pt x="45826" y="81536"/>
                </a:cubicBezTo>
                <a:cubicBezTo>
                  <a:pt x="36683" y="91762"/>
                  <a:pt x="31125" y="105268"/>
                  <a:pt x="31125" y="120053"/>
                </a:cubicBezTo>
                <a:lnTo>
                  <a:pt x="31125" y="124499"/>
                </a:lnTo>
                <a:cubicBezTo>
                  <a:pt x="31125" y="127667"/>
                  <a:pt x="31792" y="130668"/>
                  <a:pt x="32987" y="133392"/>
                </a:cubicBezTo>
                <a:lnTo>
                  <a:pt x="8893" y="133392"/>
                </a:lnTo>
                <a:cubicBezTo>
                  <a:pt x="3974" y="133392"/>
                  <a:pt x="0" y="129418"/>
                  <a:pt x="0" y="124499"/>
                </a:cubicBezTo>
                <a:lnTo>
                  <a:pt x="0" y="115606"/>
                </a:lnTo>
                <a:close/>
                <a:moveTo>
                  <a:pt x="144869" y="133392"/>
                </a:moveTo>
                <a:cubicBezTo>
                  <a:pt x="146064" y="130668"/>
                  <a:pt x="146731" y="127667"/>
                  <a:pt x="146731" y="124499"/>
                </a:cubicBezTo>
                <a:lnTo>
                  <a:pt x="146731" y="120053"/>
                </a:lnTo>
                <a:cubicBezTo>
                  <a:pt x="146731" y="105268"/>
                  <a:pt x="141173" y="91762"/>
                  <a:pt x="132030" y="81536"/>
                </a:cubicBezTo>
                <a:cubicBezTo>
                  <a:pt x="135281" y="80563"/>
                  <a:pt x="138727" y="80035"/>
                  <a:pt x="142284" y="80035"/>
                </a:cubicBezTo>
                <a:cubicBezTo>
                  <a:pt x="161932" y="80035"/>
                  <a:pt x="177856" y="95959"/>
                  <a:pt x="177856" y="115606"/>
                </a:cubicBezTo>
                <a:lnTo>
                  <a:pt x="177856" y="124499"/>
                </a:lnTo>
                <a:cubicBezTo>
                  <a:pt x="177856" y="129418"/>
                  <a:pt x="173882" y="133392"/>
                  <a:pt x="168963" y="133392"/>
                </a:cubicBezTo>
                <a:lnTo>
                  <a:pt x="144869" y="133392"/>
                </a:lnTo>
                <a:close/>
                <a:moveTo>
                  <a:pt x="131168" y="44464"/>
                </a:moveTo>
                <a:cubicBezTo>
                  <a:pt x="131168" y="33421"/>
                  <a:pt x="140134" y="24455"/>
                  <a:pt x="151177" y="24455"/>
                </a:cubicBezTo>
                <a:cubicBezTo>
                  <a:pt x="162220" y="24455"/>
                  <a:pt x="171186" y="33421"/>
                  <a:pt x="171186" y="44464"/>
                </a:cubicBezTo>
                <a:cubicBezTo>
                  <a:pt x="171186" y="55507"/>
                  <a:pt x="162220" y="64473"/>
                  <a:pt x="151177" y="64473"/>
                </a:cubicBezTo>
                <a:cubicBezTo>
                  <a:pt x="140134" y="64473"/>
                  <a:pt x="131168" y="55507"/>
                  <a:pt x="131168" y="44464"/>
                </a:cubicBezTo>
                <a:close/>
                <a:moveTo>
                  <a:pt x="44464" y="120053"/>
                </a:moveTo>
                <a:cubicBezTo>
                  <a:pt x="44464" y="95486"/>
                  <a:pt x="64361" y="75589"/>
                  <a:pt x="88928" y="75589"/>
                </a:cubicBezTo>
                <a:cubicBezTo>
                  <a:pt x="113494" y="75589"/>
                  <a:pt x="133392" y="95486"/>
                  <a:pt x="133392" y="120053"/>
                </a:cubicBezTo>
                <a:lnTo>
                  <a:pt x="133392" y="124499"/>
                </a:lnTo>
                <a:cubicBezTo>
                  <a:pt x="133392" y="129418"/>
                  <a:pt x="129418" y="133392"/>
                  <a:pt x="124499" y="133392"/>
                </a:cubicBezTo>
                <a:lnTo>
                  <a:pt x="53357" y="133392"/>
                </a:lnTo>
                <a:cubicBezTo>
                  <a:pt x="48438" y="133392"/>
                  <a:pt x="44464" y="129418"/>
                  <a:pt x="44464" y="124499"/>
                </a:cubicBezTo>
                <a:lnTo>
                  <a:pt x="44464" y="120053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Text 35"/>
          <p:cNvSpPr/>
          <p:nvPr/>
        </p:nvSpPr>
        <p:spPr>
          <a:xfrm>
            <a:off x="6948224" y="4553103"/>
            <a:ext cx="3610468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48224" y="4837672"/>
            <a:ext cx="3601575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Menschliche Überwachung bei kritischen Entscheidungen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40359" y="5445938"/>
            <a:ext cx="5591779" cy="1412173"/>
          </a:xfrm>
          <a:custGeom>
            <a:avLst/>
            <a:gdLst/>
            <a:ahLst/>
            <a:cxnLst/>
            <a:rect l="l" t="t" r="r" b="b"/>
            <a:pathLst>
              <a:path w="5591779" h="1412173">
                <a:moveTo>
                  <a:pt x="71145" y="0"/>
                </a:moveTo>
                <a:lnTo>
                  <a:pt x="5520634" y="0"/>
                </a:lnTo>
                <a:cubicBezTo>
                  <a:pt x="5559927" y="0"/>
                  <a:pt x="5591779" y="31853"/>
                  <a:pt x="5591779" y="71145"/>
                </a:cubicBezTo>
                <a:lnTo>
                  <a:pt x="5591779" y="1341028"/>
                </a:lnTo>
                <a:cubicBezTo>
                  <a:pt x="5591779" y="1380320"/>
                  <a:pt x="5559927" y="1412173"/>
                  <a:pt x="5520634" y="1412173"/>
                </a:cubicBezTo>
                <a:lnTo>
                  <a:pt x="71145" y="1412173"/>
                </a:lnTo>
                <a:cubicBezTo>
                  <a:pt x="31853" y="1412173"/>
                  <a:pt x="0" y="1380320"/>
                  <a:pt x="0" y="1341028"/>
                </a:cubicBezTo>
                <a:lnTo>
                  <a:pt x="0" y="71145"/>
                </a:lnTo>
                <a:cubicBezTo>
                  <a:pt x="0" y="31879"/>
                  <a:pt x="31879" y="0"/>
                  <a:pt x="71145" y="0"/>
                </a:cubicBezTo>
                <a:close/>
              </a:path>
            </a:pathLst>
          </a:custGeom>
          <a:solidFill>
            <a:srgbClr val="C9A86A">
              <a:alpha val="10196"/>
            </a:srgbClr>
          </a:solidFill>
          <a:ln w="10160">
            <a:solidFill>
              <a:srgbClr val="C9A86A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1772" y="5627349"/>
            <a:ext cx="5308989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Langzeit vs. Kurzfrist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21772" y="5983060"/>
            <a:ext cx="5300096" cy="693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Unternehmen denken in </a:t>
            </a:r>
            <a:pPr>
              <a:lnSpc>
                <a:spcPct val="140000"/>
              </a:lnSpc>
            </a:pPr>
            <a:r>
              <a:rPr lang="en-US" sz="112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Quartalen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Politik denkt in </a:t>
            </a:r>
            <a:pPr>
              <a:lnSpc>
                <a:spcPct val="140000"/>
              </a:lnSpc>
            </a:pPr>
            <a:r>
              <a:rPr lang="en-US" sz="112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Legislaturperioden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Plattformen denken in </a:t>
            </a:r>
            <a:pPr>
              <a:lnSpc>
                <a:spcPct val="140000"/>
              </a:lnSpc>
            </a:pPr>
            <a:r>
              <a:rPr lang="en-US" sz="1120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Systemisches Denken braucht: Langfristigkeit, Interdependenz, Rückkopplung.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00" y="376000"/>
            <a:ext cx="384000" cy="16000"/>
          </a:xfrm>
          <a:custGeom>
            <a:avLst/>
            <a:gdLst/>
            <a:ahLst/>
            <a:cxnLst/>
            <a:rect l="l" t="t" r="r" b="b"/>
            <a:pathLst>
              <a:path w="384000" h="16000">
                <a:moveTo>
                  <a:pt x="0" y="0"/>
                </a:moveTo>
                <a:lnTo>
                  <a:pt x="384000" y="0"/>
                </a:lnTo>
                <a:lnTo>
                  <a:pt x="384000" y="16000"/>
                </a:lnTo>
                <a:lnTo>
                  <a:pt x="0" y="160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800000" y="320000"/>
            <a:ext cx="1024000" cy="1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6" spc="227" kern="0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·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00" y="576000"/>
            <a:ext cx="3848000" cy="9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24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 Weg nach vorne: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24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Von C zu D zu 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10133" y="320000"/>
            <a:ext cx="76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780" b="1" dirty="0">
                <a:solidFill>
                  <a:srgbClr val="4A6C8C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00" y="1744000"/>
            <a:ext cx="3720000" cy="4160000"/>
          </a:xfrm>
          <a:custGeom>
            <a:avLst/>
            <a:gdLst/>
            <a:ahLst/>
            <a:cxnLst/>
            <a:rect l="l" t="t" r="r" b="b"/>
            <a:pathLst>
              <a:path w="3720000" h="4160000">
                <a:moveTo>
                  <a:pt x="32000" y="0"/>
                </a:moveTo>
                <a:lnTo>
                  <a:pt x="3688000" y="0"/>
                </a:lnTo>
                <a:cubicBezTo>
                  <a:pt x="3705673" y="0"/>
                  <a:pt x="3720000" y="14327"/>
                  <a:pt x="3720000" y="32000"/>
                </a:cubicBezTo>
                <a:lnTo>
                  <a:pt x="3720000" y="4096016"/>
                </a:lnTo>
                <a:cubicBezTo>
                  <a:pt x="3720000" y="4131353"/>
                  <a:pt x="3691353" y="4160000"/>
                  <a:pt x="3656016" y="4160000"/>
                </a:cubicBezTo>
                <a:lnTo>
                  <a:pt x="63984" y="4160000"/>
                </a:lnTo>
                <a:cubicBezTo>
                  <a:pt x="28647" y="4160000"/>
                  <a:pt x="0" y="4131353"/>
                  <a:pt x="0" y="4096016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00" y="1744000"/>
            <a:ext cx="3720000" cy="32000"/>
          </a:xfrm>
          <a:custGeom>
            <a:avLst/>
            <a:gdLst/>
            <a:ahLst/>
            <a:cxnLst/>
            <a:rect l="l" t="t" r="r" b="b"/>
            <a:pathLst>
              <a:path w="3720000" h="32000">
                <a:moveTo>
                  <a:pt x="32000" y="0"/>
                </a:moveTo>
                <a:lnTo>
                  <a:pt x="3688000" y="0"/>
                </a:lnTo>
                <a:cubicBezTo>
                  <a:pt x="3705673" y="0"/>
                  <a:pt x="3720000" y="14327"/>
                  <a:pt x="3720000" y="32000"/>
                </a:cubicBezTo>
                <a:lnTo>
                  <a:pt x="3720000" y="32000"/>
                </a:lnTo>
                <a:lnTo>
                  <a:pt x="0" y="32000"/>
                </a:ln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Shape 6"/>
          <p:cNvSpPr/>
          <p:nvPr/>
        </p:nvSpPr>
        <p:spPr>
          <a:xfrm>
            <a:off x="512000" y="1952000"/>
            <a:ext cx="512000" cy="512000"/>
          </a:xfrm>
          <a:custGeom>
            <a:avLst/>
            <a:gdLst/>
            <a:ahLst/>
            <a:cxnLst/>
            <a:rect l="l" t="t" r="r" b="b"/>
            <a:pathLst>
              <a:path w="512000" h="512000">
                <a:moveTo>
                  <a:pt x="256000" y="0"/>
                </a:moveTo>
                <a:lnTo>
                  <a:pt x="256000" y="0"/>
                </a:lnTo>
                <a:cubicBezTo>
                  <a:pt x="397290" y="0"/>
                  <a:pt x="512000" y="114710"/>
                  <a:pt x="512000" y="256000"/>
                </a:cubicBezTo>
                <a:lnTo>
                  <a:pt x="512000" y="256000"/>
                </a:lnTo>
                <a:cubicBezTo>
                  <a:pt x="512000" y="397290"/>
                  <a:pt x="397290" y="512000"/>
                  <a:pt x="256000" y="512000"/>
                </a:cubicBezTo>
                <a:lnTo>
                  <a:pt x="256000" y="512000"/>
                </a:lnTo>
                <a:cubicBezTo>
                  <a:pt x="114710" y="512000"/>
                  <a:pt x="0" y="397290"/>
                  <a:pt x="0" y="256000"/>
                </a:cubicBezTo>
                <a:lnTo>
                  <a:pt x="0" y="256000"/>
                </a:lnTo>
                <a:cubicBezTo>
                  <a:pt x="0" y="114710"/>
                  <a:pt x="114710" y="0"/>
                  <a:pt x="256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9" name="Text 7"/>
          <p:cNvSpPr/>
          <p:nvPr/>
        </p:nvSpPr>
        <p:spPr>
          <a:xfrm>
            <a:off x="682000" y="2064000"/>
            <a:ext cx="28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9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2000" y="1984000"/>
            <a:ext cx="1320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2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2000" y="2240000"/>
            <a:ext cx="128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Open-Dokumentation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2000" y="2664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18000"/>
                </a:moveTo>
                <a:cubicBezTo>
                  <a:pt x="0" y="13022"/>
                  <a:pt x="4022" y="9000"/>
                  <a:pt x="9000" y="9000"/>
                </a:cubicBezTo>
                <a:lnTo>
                  <a:pt x="135000" y="9000"/>
                </a:lnTo>
                <a:cubicBezTo>
                  <a:pt x="139978" y="9000"/>
                  <a:pt x="144000" y="13022"/>
                  <a:pt x="144000" y="18000"/>
                </a:cubicBezTo>
                <a:lnTo>
                  <a:pt x="144000" y="27000"/>
                </a:lnTo>
                <a:cubicBezTo>
                  <a:pt x="144000" y="31978"/>
                  <a:pt x="139978" y="36000"/>
                  <a:pt x="135000" y="36000"/>
                </a:cubicBezTo>
                <a:lnTo>
                  <a:pt x="9000" y="36000"/>
                </a:lnTo>
                <a:cubicBezTo>
                  <a:pt x="4022" y="36000"/>
                  <a:pt x="0" y="31978"/>
                  <a:pt x="0" y="27000"/>
                </a:cubicBezTo>
                <a:lnTo>
                  <a:pt x="0" y="18000"/>
                </a:lnTo>
                <a:close/>
                <a:moveTo>
                  <a:pt x="9000" y="49500"/>
                </a:moveTo>
                <a:lnTo>
                  <a:pt x="135000" y="49500"/>
                </a:lnTo>
                <a:lnTo>
                  <a:pt x="135000" y="117000"/>
                </a:lnTo>
                <a:cubicBezTo>
                  <a:pt x="135000" y="126928"/>
                  <a:pt x="126928" y="135000"/>
                  <a:pt x="117000" y="135000"/>
                </a:cubicBezTo>
                <a:lnTo>
                  <a:pt x="27000" y="135000"/>
                </a:lnTo>
                <a:cubicBezTo>
                  <a:pt x="17072" y="135000"/>
                  <a:pt x="9000" y="126928"/>
                  <a:pt x="9000" y="117000"/>
                </a:cubicBezTo>
                <a:lnTo>
                  <a:pt x="9000" y="49500"/>
                </a:lnTo>
                <a:close/>
                <a:moveTo>
                  <a:pt x="51750" y="67500"/>
                </a:moveTo>
                <a:cubicBezTo>
                  <a:pt x="48009" y="67500"/>
                  <a:pt x="45000" y="70509"/>
                  <a:pt x="45000" y="74250"/>
                </a:cubicBezTo>
                <a:cubicBezTo>
                  <a:pt x="45000" y="77991"/>
                  <a:pt x="48009" y="81000"/>
                  <a:pt x="51750" y="81000"/>
                </a:cubicBezTo>
                <a:lnTo>
                  <a:pt x="92250" y="81000"/>
                </a:lnTo>
                <a:cubicBezTo>
                  <a:pt x="95991" y="81000"/>
                  <a:pt x="99000" y="77991"/>
                  <a:pt x="99000" y="74250"/>
                </a:cubicBezTo>
                <a:cubicBezTo>
                  <a:pt x="99000" y="70509"/>
                  <a:pt x="95991" y="67500"/>
                  <a:pt x="92250" y="67500"/>
                </a:cubicBezTo>
                <a:lnTo>
                  <a:pt x="51750" y="6750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00" y="2624000"/>
            <a:ext cx="322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Beobachtungsarchiv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00" y="2912000"/>
            <a:ext cx="3400000" cy="6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Systemverhalten dokumentieren, Muster sichtbar machen, Reversion-Effekte festhalten. Nicht wertend, nicht anklagend – nur transparent.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00" y="3664000"/>
            <a:ext cx="3336000" cy="672000"/>
          </a:xfrm>
          <a:custGeom>
            <a:avLst/>
            <a:gdLst/>
            <a:ahLst/>
            <a:cxnLst/>
            <a:rect l="l" t="t" r="r" b="b"/>
            <a:pathLst>
              <a:path w="3336000" h="672000">
                <a:moveTo>
                  <a:pt x="32001" y="0"/>
                </a:moveTo>
                <a:lnTo>
                  <a:pt x="3303999" y="0"/>
                </a:lnTo>
                <a:cubicBezTo>
                  <a:pt x="3321673" y="0"/>
                  <a:pt x="3336000" y="14327"/>
                  <a:pt x="3336000" y="32001"/>
                </a:cubicBezTo>
                <a:lnTo>
                  <a:pt x="3336000" y="639999"/>
                </a:lnTo>
                <a:cubicBezTo>
                  <a:pt x="3336000" y="657673"/>
                  <a:pt x="3321673" y="672000"/>
                  <a:pt x="3303999" y="672000"/>
                </a:cubicBezTo>
                <a:lnTo>
                  <a:pt x="32001" y="672000"/>
                </a:lnTo>
                <a:cubicBezTo>
                  <a:pt x="14327" y="672000"/>
                  <a:pt x="0" y="657673"/>
                  <a:pt x="0" y="63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00" y="3792000"/>
            <a:ext cx="313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Ziel: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00" y="4016000"/>
            <a:ext cx="314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50-100 sauber dokumentierte Fälle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00" y="4464000"/>
            <a:ext cx="3336000" cy="672000"/>
          </a:xfrm>
          <a:custGeom>
            <a:avLst/>
            <a:gdLst/>
            <a:ahLst/>
            <a:cxnLst/>
            <a:rect l="l" t="t" r="r" b="b"/>
            <a:pathLst>
              <a:path w="3336000" h="672000">
                <a:moveTo>
                  <a:pt x="32001" y="0"/>
                </a:moveTo>
                <a:lnTo>
                  <a:pt x="3303999" y="0"/>
                </a:lnTo>
                <a:cubicBezTo>
                  <a:pt x="3321673" y="0"/>
                  <a:pt x="3336000" y="14327"/>
                  <a:pt x="3336000" y="32001"/>
                </a:cubicBezTo>
                <a:lnTo>
                  <a:pt x="3336000" y="639999"/>
                </a:lnTo>
                <a:cubicBezTo>
                  <a:pt x="3336000" y="657673"/>
                  <a:pt x="3321673" y="672000"/>
                  <a:pt x="3303999" y="672000"/>
                </a:cubicBezTo>
                <a:lnTo>
                  <a:pt x="32001" y="672000"/>
                </a:lnTo>
                <a:cubicBezTo>
                  <a:pt x="14327" y="672000"/>
                  <a:pt x="0" y="657673"/>
                  <a:pt x="0" y="63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00" y="4592000"/>
            <a:ext cx="313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00" y="4816000"/>
            <a:ext cx="314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Notion, Obsidian, Markdown, Textfile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2000" y="5389997"/>
            <a:ext cx="3336000" cy="6400"/>
          </a:xfrm>
          <a:custGeom>
            <a:avLst/>
            <a:gdLst/>
            <a:ahLst/>
            <a:cxnLst/>
            <a:rect l="l" t="t" r="r" b="b"/>
            <a:pathLst>
              <a:path w="3336000" h="6400">
                <a:moveTo>
                  <a:pt x="0" y="0"/>
                </a:moveTo>
                <a:lnTo>
                  <a:pt x="3336000" y="0"/>
                </a:lnTo>
                <a:lnTo>
                  <a:pt x="3336000" y="6400"/>
                </a:lnTo>
                <a:lnTo>
                  <a:pt x="0" y="6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2000" y="5521203"/>
            <a:ext cx="340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 Tool-Bauen. Erst Struktur entdecken.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33467" y="1744000"/>
            <a:ext cx="3720000" cy="4160000"/>
          </a:xfrm>
          <a:custGeom>
            <a:avLst/>
            <a:gdLst/>
            <a:ahLst/>
            <a:cxnLst/>
            <a:rect l="l" t="t" r="r" b="b"/>
            <a:pathLst>
              <a:path w="3720000" h="4160000">
                <a:moveTo>
                  <a:pt x="32000" y="0"/>
                </a:moveTo>
                <a:lnTo>
                  <a:pt x="3688000" y="0"/>
                </a:lnTo>
                <a:cubicBezTo>
                  <a:pt x="3705673" y="0"/>
                  <a:pt x="3720000" y="14327"/>
                  <a:pt x="3720000" y="32000"/>
                </a:cubicBezTo>
                <a:lnTo>
                  <a:pt x="3720000" y="4096016"/>
                </a:lnTo>
                <a:cubicBezTo>
                  <a:pt x="3720000" y="4131353"/>
                  <a:pt x="3691353" y="4160000"/>
                  <a:pt x="3656016" y="4160000"/>
                </a:cubicBezTo>
                <a:lnTo>
                  <a:pt x="63984" y="4160000"/>
                </a:lnTo>
                <a:cubicBezTo>
                  <a:pt x="28647" y="4160000"/>
                  <a:pt x="0" y="4131353"/>
                  <a:pt x="0" y="4096016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33467" y="1744000"/>
            <a:ext cx="3720000" cy="32000"/>
          </a:xfrm>
          <a:custGeom>
            <a:avLst/>
            <a:gdLst/>
            <a:ahLst/>
            <a:cxnLst/>
            <a:rect l="l" t="t" r="r" b="b"/>
            <a:pathLst>
              <a:path w="3720000" h="32000">
                <a:moveTo>
                  <a:pt x="32000" y="0"/>
                </a:moveTo>
                <a:lnTo>
                  <a:pt x="3688000" y="0"/>
                </a:lnTo>
                <a:cubicBezTo>
                  <a:pt x="3705673" y="0"/>
                  <a:pt x="3720000" y="14327"/>
                  <a:pt x="3720000" y="32000"/>
                </a:cubicBezTo>
                <a:lnTo>
                  <a:pt x="3720000" y="32000"/>
                </a:lnTo>
                <a:lnTo>
                  <a:pt x="0" y="32000"/>
                </a:ln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25467" y="1952000"/>
            <a:ext cx="512000" cy="512000"/>
          </a:xfrm>
          <a:custGeom>
            <a:avLst/>
            <a:gdLst/>
            <a:ahLst/>
            <a:cxnLst/>
            <a:rect l="l" t="t" r="r" b="b"/>
            <a:pathLst>
              <a:path w="512000" h="512000">
                <a:moveTo>
                  <a:pt x="256000" y="0"/>
                </a:moveTo>
                <a:lnTo>
                  <a:pt x="256000" y="0"/>
                </a:lnTo>
                <a:cubicBezTo>
                  <a:pt x="397290" y="0"/>
                  <a:pt x="512000" y="114710"/>
                  <a:pt x="512000" y="256000"/>
                </a:cubicBezTo>
                <a:lnTo>
                  <a:pt x="512000" y="256000"/>
                </a:lnTo>
                <a:cubicBezTo>
                  <a:pt x="512000" y="397290"/>
                  <a:pt x="397290" y="512000"/>
                  <a:pt x="256000" y="512000"/>
                </a:cubicBezTo>
                <a:lnTo>
                  <a:pt x="256000" y="512000"/>
                </a:lnTo>
                <a:cubicBezTo>
                  <a:pt x="114710" y="512000"/>
                  <a:pt x="0" y="397290"/>
                  <a:pt x="0" y="256000"/>
                </a:cubicBezTo>
                <a:lnTo>
                  <a:pt x="0" y="256000"/>
                </a:lnTo>
                <a:cubicBezTo>
                  <a:pt x="0" y="114710"/>
                  <a:pt x="114710" y="0"/>
                  <a:pt x="256000" y="0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6" name="Text 24"/>
          <p:cNvSpPr/>
          <p:nvPr/>
        </p:nvSpPr>
        <p:spPr>
          <a:xfrm>
            <a:off x="4595200" y="2064000"/>
            <a:ext cx="29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9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65467" y="1984000"/>
            <a:ext cx="1128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2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65467" y="2240000"/>
            <a:ext cx="1096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Community-Labor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7467" y="2664000"/>
            <a:ext cx="180000" cy="144000"/>
          </a:xfrm>
          <a:custGeom>
            <a:avLst/>
            <a:gdLst/>
            <a:ahLst/>
            <a:cxnLst/>
            <a:rect l="l" t="t" r="r" b="b"/>
            <a:pathLst>
              <a:path w="180000" h="144000">
                <a:moveTo>
                  <a:pt x="90000" y="4500"/>
                </a:moveTo>
                <a:cubicBezTo>
                  <a:pt x="106144" y="4500"/>
                  <a:pt x="119250" y="17606"/>
                  <a:pt x="119250" y="33750"/>
                </a:cubicBezTo>
                <a:cubicBezTo>
                  <a:pt x="119250" y="49894"/>
                  <a:pt x="106144" y="63000"/>
                  <a:pt x="90000" y="63000"/>
                </a:cubicBezTo>
                <a:cubicBezTo>
                  <a:pt x="73856" y="63000"/>
                  <a:pt x="60750" y="49894"/>
                  <a:pt x="60750" y="33750"/>
                </a:cubicBezTo>
                <a:cubicBezTo>
                  <a:pt x="60750" y="17606"/>
                  <a:pt x="73856" y="4500"/>
                  <a:pt x="90000" y="4500"/>
                </a:cubicBezTo>
                <a:close/>
                <a:moveTo>
                  <a:pt x="27000" y="24750"/>
                </a:moveTo>
                <a:cubicBezTo>
                  <a:pt x="38176" y="24750"/>
                  <a:pt x="47250" y="33824"/>
                  <a:pt x="47250" y="45000"/>
                </a:cubicBezTo>
                <a:cubicBezTo>
                  <a:pt x="47250" y="56176"/>
                  <a:pt x="38176" y="65250"/>
                  <a:pt x="27000" y="65250"/>
                </a:cubicBezTo>
                <a:cubicBezTo>
                  <a:pt x="15824" y="65250"/>
                  <a:pt x="6750" y="56176"/>
                  <a:pt x="6750" y="45000"/>
                </a:cubicBezTo>
                <a:cubicBezTo>
                  <a:pt x="6750" y="33824"/>
                  <a:pt x="15824" y="24750"/>
                  <a:pt x="27000" y="24750"/>
                </a:cubicBezTo>
                <a:close/>
                <a:moveTo>
                  <a:pt x="0" y="117000"/>
                </a:moveTo>
                <a:cubicBezTo>
                  <a:pt x="0" y="97116"/>
                  <a:pt x="16116" y="81000"/>
                  <a:pt x="36000" y="81000"/>
                </a:cubicBezTo>
                <a:cubicBezTo>
                  <a:pt x="39600" y="81000"/>
                  <a:pt x="43088" y="81534"/>
                  <a:pt x="46378" y="82519"/>
                </a:cubicBezTo>
                <a:cubicBezTo>
                  <a:pt x="37125" y="92869"/>
                  <a:pt x="31500" y="106537"/>
                  <a:pt x="31500" y="121500"/>
                </a:cubicBezTo>
                <a:lnTo>
                  <a:pt x="31500" y="126000"/>
                </a:lnTo>
                <a:cubicBezTo>
                  <a:pt x="31500" y="129206"/>
                  <a:pt x="32175" y="132244"/>
                  <a:pt x="33384" y="135000"/>
                </a:cubicBezTo>
                <a:lnTo>
                  <a:pt x="9000" y="135000"/>
                </a:lnTo>
                <a:cubicBezTo>
                  <a:pt x="4022" y="135000"/>
                  <a:pt x="0" y="130978"/>
                  <a:pt x="0" y="126000"/>
                </a:cubicBezTo>
                <a:lnTo>
                  <a:pt x="0" y="117000"/>
                </a:lnTo>
                <a:close/>
                <a:moveTo>
                  <a:pt x="146616" y="135000"/>
                </a:moveTo>
                <a:cubicBezTo>
                  <a:pt x="147825" y="132244"/>
                  <a:pt x="148500" y="129206"/>
                  <a:pt x="148500" y="126000"/>
                </a:cubicBezTo>
                <a:lnTo>
                  <a:pt x="148500" y="121500"/>
                </a:lnTo>
                <a:cubicBezTo>
                  <a:pt x="148500" y="106537"/>
                  <a:pt x="142875" y="92869"/>
                  <a:pt x="133622" y="82519"/>
                </a:cubicBezTo>
                <a:cubicBezTo>
                  <a:pt x="136912" y="81534"/>
                  <a:pt x="140400" y="81000"/>
                  <a:pt x="144000" y="81000"/>
                </a:cubicBezTo>
                <a:cubicBezTo>
                  <a:pt x="163884" y="81000"/>
                  <a:pt x="180000" y="97116"/>
                  <a:pt x="180000" y="117000"/>
                </a:cubicBezTo>
                <a:lnTo>
                  <a:pt x="180000" y="126000"/>
                </a:lnTo>
                <a:cubicBezTo>
                  <a:pt x="180000" y="130978"/>
                  <a:pt x="175978" y="135000"/>
                  <a:pt x="171000" y="135000"/>
                </a:cubicBezTo>
                <a:lnTo>
                  <a:pt x="146616" y="135000"/>
                </a:lnTo>
                <a:close/>
                <a:moveTo>
                  <a:pt x="132750" y="45000"/>
                </a:moveTo>
                <a:cubicBezTo>
                  <a:pt x="132750" y="33824"/>
                  <a:pt x="141824" y="24750"/>
                  <a:pt x="153000" y="24750"/>
                </a:cubicBezTo>
                <a:cubicBezTo>
                  <a:pt x="164176" y="24750"/>
                  <a:pt x="173250" y="33824"/>
                  <a:pt x="173250" y="45000"/>
                </a:cubicBezTo>
                <a:cubicBezTo>
                  <a:pt x="173250" y="56176"/>
                  <a:pt x="164176" y="65250"/>
                  <a:pt x="153000" y="65250"/>
                </a:cubicBezTo>
                <a:cubicBezTo>
                  <a:pt x="141824" y="65250"/>
                  <a:pt x="132750" y="56176"/>
                  <a:pt x="132750" y="45000"/>
                </a:cubicBezTo>
                <a:close/>
                <a:moveTo>
                  <a:pt x="45000" y="121500"/>
                </a:moveTo>
                <a:cubicBezTo>
                  <a:pt x="45000" y="96638"/>
                  <a:pt x="65138" y="76500"/>
                  <a:pt x="90000" y="76500"/>
                </a:cubicBezTo>
                <a:cubicBezTo>
                  <a:pt x="114862" y="76500"/>
                  <a:pt x="135000" y="96638"/>
                  <a:pt x="135000" y="121500"/>
                </a:cubicBezTo>
                <a:lnTo>
                  <a:pt x="135000" y="126000"/>
                </a:lnTo>
                <a:cubicBezTo>
                  <a:pt x="135000" y="130978"/>
                  <a:pt x="130978" y="135000"/>
                  <a:pt x="126000" y="135000"/>
                </a:cubicBezTo>
                <a:lnTo>
                  <a:pt x="54000" y="135000"/>
                </a:lnTo>
                <a:cubicBezTo>
                  <a:pt x="49022" y="135000"/>
                  <a:pt x="45000" y="130978"/>
                  <a:pt x="45000" y="126000"/>
                </a:cubicBezTo>
                <a:lnTo>
                  <a:pt x="45000" y="121500"/>
                </a:ln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30" name="Text 28"/>
          <p:cNvSpPr/>
          <p:nvPr/>
        </p:nvSpPr>
        <p:spPr>
          <a:xfrm>
            <a:off x="4609467" y="2624000"/>
            <a:ext cx="322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Kollektive Systemkompetenz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25467" y="2912000"/>
            <a:ext cx="3400000" cy="6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Leute finden, die ähnliche Beobachtungen machen. Vergleich von Mustern, gemeinsame Tests, Emergenz-Analyse.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25467" y="3664000"/>
            <a:ext cx="3336000" cy="672000"/>
          </a:xfrm>
          <a:custGeom>
            <a:avLst/>
            <a:gdLst/>
            <a:ahLst/>
            <a:cxnLst/>
            <a:rect l="l" t="t" r="r" b="b"/>
            <a:pathLst>
              <a:path w="3336000" h="672000">
                <a:moveTo>
                  <a:pt x="32001" y="0"/>
                </a:moveTo>
                <a:lnTo>
                  <a:pt x="3303999" y="0"/>
                </a:lnTo>
                <a:cubicBezTo>
                  <a:pt x="3321673" y="0"/>
                  <a:pt x="3336000" y="14327"/>
                  <a:pt x="3336000" y="32001"/>
                </a:cubicBezTo>
                <a:lnTo>
                  <a:pt x="3336000" y="639999"/>
                </a:lnTo>
                <a:cubicBezTo>
                  <a:pt x="3336000" y="657673"/>
                  <a:pt x="3321673" y="672000"/>
                  <a:pt x="3303999" y="672000"/>
                </a:cubicBezTo>
                <a:lnTo>
                  <a:pt x="32001" y="672000"/>
                </a:lnTo>
                <a:cubicBezTo>
                  <a:pt x="14327" y="672000"/>
                  <a:pt x="0" y="657673"/>
                  <a:pt x="0" y="63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53467" y="3792000"/>
            <a:ext cx="313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Ziel: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53467" y="4016000"/>
            <a:ext cx="314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Validierung durch Vielfalt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25467" y="4464000"/>
            <a:ext cx="3336000" cy="672000"/>
          </a:xfrm>
          <a:custGeom>
            <a:avLst/>
            <a:gdLst/>
            <a:ahLst/>
            <a:cxnLst/>
            <a:rect l="l" t="t" r="r" b="b"/>
            <a:pathLst>
              <a:path w="3336000" h="672000">
                <a:moveTo>
                  <a:pt x="32001" y="0"/>
                </a:moveTo>
                <a:lnTo>
                  <a:pt x="3303999" y="0"/>
                </a:lnTo>
                <a:cubicBezTo>
                  <a:pt x="3321673" y="0"/>
                  <a:pt x="3336000" y="14327"/>
                  <a:pt x="3336000" y="32001"/>
                </a:cubicBezTo>
                <a:lnTo>
                  <a:pt x="3336000" y="639999"/>
                </a:lnTo>
                <a:cubicBezTo>
                  <a:pt x="3336000" y="657673"/>
                  <a:pt x="3321673" y="672000"/>
                  <a:pt x="3303999" y="672000"/>
                </a:cubicBezTo>
                <a:lnTo>
                  <a:pt x="32001" y="672000"/>
                </a:lnTo>
                <a:cubicBezTo>
                  <a:pt x="14327" y="672000"/>
                  <a:pt x="0" y="657673"/>
                  <a:pt x="0" y="63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53467" y="4592000"/>
            <a:ext cx="313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Aktivitäten: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53467" y="4816000"/>
            <a:ext cx="314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Vergleich, gemeinsame Tests, Analyse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25467" y="5389997"/>
            <a:ext cx="3336000" cy="6400"/>
          </a:xfrm>
          <a:custGeom>
            <a:avLst/>
            <a:gdLst/>
            <a:ahLst/>
            <a:cxnLst/>
            <a:rect l="l" t="t" r="r" b="b"/>
            <a:pathLst>
              <a:path w="3336000" h="6400">
                <a:moveTo>
                  <a:pt x="0" y="0"/>
                </a:moveTo>
                <a:lnTo>
                  <a:pt x="3336000" y="0"/>
                </a:lnTo>
                <a:lnTo>
                  <a:pt x="3336000" y="6400"/>
                </a:lnTo>
                <a:lnTo>
                  <a:pt x="0" y="6400"/>
                </a:lnTo>
                <a:lnTo>
                  <a:pt x="0" y="0"/>
                </a:lnTo>
                <a:close/>
              </a:path>
            </a:pathLst>
          </a:custGeom>
          <a:solidFill>
            <a:srgbClr val="8B9A7C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425467" y="5521203"/>
            <a:ext cx="340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Rebellion. Kollektives Verstehen.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46934" y="1744000"/>
            <a:ext cx="3720000" cy="4160000"/>
          </a:xfrm>
          <a:custGeom>
            <a:avLst/>
            <a:gdLst/>
            <a:ahLst/>
            <a:cxnLst/>
            <a:rect l="l" t="t" r="r" b="b"/>
            <a:pathLst>
              <a:path w="3720000" h="4160000">
                <a:moveTo>
                  <a:pt x="32000" y="0"/>
                </a:moveTo>
                <a:lnTo>
                  <a:pt x="3688000" y="0"/>
                </a:lnTo>
                <a:cubicBezTo>
                  <a:pt x="3705673" y="0"/>
                  <a:pt x="3720000" y="14327"/>
                  <a:pt x="3720000" y="32000"/>
                </a:cubicBezTo>
                <a:lnTo>
                  <a:pt x="3720000" y="4096016"/>
                </a:lnTo>
                <a:cubicBezTo>
                  <a:pt x="3720000" y="4131353"/>
                  <a:pt x="3691353" y="4160000"/>
                  <a:pt x="3656016" y="4160000"/>
                </a:cubicBezTo>
                <a:lnTo>
                  <a:pt x="63984" y="4160000"/>
                </a:lnTo>
                <a:cubicBezTo>
                  <a:pt x="28647" y="4160000"/>
                  <a:pt x="0" y="4131353"/>
                  <a:pt x="0" y="4096016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146934" y="1744000"/>
            <a:ext cx="3720000" cy="32000"/>
          </a:xfrm>
          <a:custGeom>
            <a:avLst/>
            <a:gdLst/>
            <a:ahLst/>
            <a:cxnLst/>
            <a:rect l="l" t="t" r="r" b="b"/>
            <a:pathLst>
              <a:path w="3720000" h="32000">
                <a:moveTo>
                  <a:pt x="32000" y="0"/>
                </a:moveTo>
                <a:lnTo>
                  <a:pt x="3688000" y="0"/>
                </a:lnTo>
                <a:cubicBezTo>
                  <a:pt x="3705673" y="0"/>
                  <a:pt x="3720000" y="14327"/>
                  <a:pt x="3720000" y="32000"/>
                </a:cubicBezTo>
                <a:lnTo>
                  <a:pt x="3720000" y="32000"/>
                </a:lnTo>
                <a:lnTo>
                  <a:pt x="0" y="32000"/>
                </a:ln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2" name="Shape 40"/>
          <p:cNvSpPr/>
          <p:nvPr/>
        </p:nvSpPr>
        <p:spPr>
          <a:xfrm>
            <a:off x="8338934" y="1952000"/>
            <a:ext cx="512000" cy="512000"/>
          </a:xfrm>
          <a:custGeom>
            <a:avLst/>
            <a:gdLst/>
            <a:ahLst/>
            <a:cxnLst/>
            <a:rect l="l" t="t" r="r" b="b"/>
            <a:pathLst>
              <a:path w="512000" h="512000">
                <a:moveTo>
                  <a:pt x="256000" y="0"/>
                </a:moveTo>
                <a:lnTo>
                  <a:pt x="256000" y="0"/>
                </a:lnTo>
                <a:cubicBezTo>
                  <a:pt x="397290" y="0"/>
                  <a:pt x="512000" y="114710"/>
                  <a:pt x="512000" y="256000"/>
                </a:cubicBezTo>
                <a:lnTo>
                  <a:pt x="512000" y="256000"/>
                </a:lnTo>
                <a:cubicBezTo>
                  <a:pt x="512000" y="397290"/>
                  <a:pt x="397290" y="512000"/>
                  <a:pt x="256000" y="512000"/>
                </a:cubicBezTo>
                <a:lnTo>
                  <a:pt x="256000" y="512000"/>
                </a:lnTo>
                <a:cubicBezTo>
                  <a:pt x="114710" y="512000"/>
                  <a:pt x="0" y="397290"/>
                  <a:pt x="0" y="256000"/>
                </a:cubicBezTo>
                <a:lnTo>
                  <a:pt x="0" y="256000"/>
                </a:lnTo>
                <a:cubicBezTo>
                  <a:pt x="0" y="114710"/>
                  <a:pt x="114710" y="0"/>
                  <a:pt x="256000" y="0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3" name="Text 41"/>
          <p:cNvSpPr/>
          <p:nvPr/>
        </p:nvSpPr>
        <p:spPr>
          <a:xfrm>
            <a:off x="8517600" y="2064000"/>
            <a:ext cx="272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9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78934" y="1984000"/>
            <a:ext cx="107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2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78934" y="2240000"/>
            <a:ext cx="104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Bildungsplattform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49934" y="2664000"/>
            <a:ext cx="162000" cy="144000"/>
          </a:xfrm>
          <a:custGeom>
            <a:avLst/>
            <a:gdLst/>
            <a:ahLst/>
            <a:cxnLst/>
            <a:rect l="l" t="t" r="r" b="b"/>
            <a:pathLst>
              <a:path w="162000" h="144000">
                <a:moveTo>
                  <a:pt x="13500" y="55069"/>
                </a:moveTo>
                <a:lnTo>
                  <a:pt x="72337" y="79284"/>
                </a:lnTo>
                <a:cubicBezTo>
                  <a:pt x="75094" y="80409"/>
                  <a:pt x="78019" y="81000"/>
                  <a:pt x="81000" y="81000"/>
                </a:cubicBezTo>
                <a:cubicBezTo>
                  <a:pt x="83981" y="81000"/>
                  <a:pt x="86906" y="80409"/>
                  <a:pt x="89663" y="79284"/>
                </a:cubicBezTo>
                <a:lnTo>
                  <a:pt x="157838" y="51216"/>
                </a:lnTo>
                <a:cubicBezTo>
                  <a:pt x="160369" y="50175"/>
                  <a:pt x="162000" y="47728"/>
                  <a:pt x="162000" y="45000"/>
                </a:cubicBezTo>
                <a:cubicBezTo>
                  <a:pt x="162000" y="42272"/>
                  <a:pt x="160369" y="39825"/>
                  <a:pt x="157838" y="38784"/>
                </a:cubicBezTo>
                <a:lnTo>
                  <a:pt x="89663" y="10716"/>
                </a:lnTo>
                <a:cubicBezTo>
                  <a:pt x="86906" y="9591"/>
                  <a:pt x="83981" y="9000"/>
                  <a:pt x="81000" y="9000"/>
                </a:cubicBezTo>
                <a:cubicBezTo>
                  <a:pt x="78019" y="9000"/>
                  <a:pt x="75094" y="9591"/>
                  <a:pt x="72337" y="10716"/>
                </a:cubicBezTo>
                <a:lnTo>
                  <a:pt x="4163" y="38784"/>
                </a:lnTo>
                <a:cubicBezTo>
                  <a:pt x="1631" y="39825"/>
                  <a:pt x="0" y="42272"/>
                  <a:pt x="0" y="45000"/>
                </a:cubicBezTo>
                <a:lnTo>
                  <a:pt x="0" y="128250"/>
                </a:lnTo>
                <a:cubicBezTo>
                  <a:pt x="0" y="131991"/>
                  <a:pt x="3009" y="135000"/>
                  <a:pt x="6750" y="135000"/>
                </a:cubicBezTo>
                <a:cubicBezTo>
                  <a:pt x="10491" y="135000"/>
                  <a:pt x="13500" y="131991"/>
                  <a:pt x="13500" y="128250"/>
                </a:cubicBezTo>
                <a:lnTo>
                  <a:pt x="13500" y="55069"/>
                </a:lnTo>
                <a:close/>
                <a:moveTo>
                  <a:pt x="27000" y="75234"/>
                </a:moveTo>
                <a:lnTo>
                  <a:pt x="27000" y="108000"/>
                </a:lnTo>
                <a:cubicBezTo>
                  <a:pt x="27000" y="122906"/>
                  <a:pt x="51188" y="135000"/>
                  <a:pt x="81000" y="135000"/>
                </a:cubicBezTo>
                <a:cubicBezTo>
                  <a:pt x="110813" y="135000"/>
                  <a:pt x="135000" y="122906"/>
                  <a:pt x="135000" y="108000"/>
                </a:cubicBezTo>
                <a:lnTo>
                  <a:pt x="135000" y="75206"/>
                </a:lnTo>
                <a:lnTo>
                  <a:pt x="94809" y="91772"/>
                </a:lnTo>
                <a:cubicBezTo>
                  <a:pt x="90422" y="93572"/>
                  <a:pt x="85753" y="94500"/>
                  <a:pt x="81000" y="94500"/>
                </a:cubicBezTo>
                <a:cubicBezTo>
                  <a:pt x="76247" y="94500"/>
                  <a:pt x="71578" y="93572"/>
                  <a:pt x="67191" y="91772"/>
                </a:cubicBezTo>
                <a:lnTo>
                  <a:pt x="27000" y="75206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47" name="Text 45"/>
          <p:cNvSpPr/>
          <p:nvPr/>
        </p:nvSpPr>
        <p:spPr>
          <a:xfrm>
            <a:off x="8522934" y="2624000"/>
            <a:ext cx="322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Transparenz &amp; Aufklärung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38934" y="2912000"/>
            <a:ext cx="3400000" cy="6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Wenn genug Material da ist: Lehren, warum Systeme sich so anfühlen. Warum driftet Kontext? Warum wirkt Motivation simuliert?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38934" y="3664000"/>
            <a:ext cx="3336000" cy="672000"/>
          </a:xfrm>
          <a:custGeom>
            <a:avLst/>
            <a:gdLst/>
            <a:ahLst/>
            <a:cxnLst/>
            <a:rect l="l" t="t" r="r" b="b"/>
            <a:pathLst>
              <a:path w="3336000" h="672000">
                <a:moveTo>
                  <a:pt x="32001" y="0"/>
                </a:moveTo>
                <a:lnTo>
                  <a:pt x="3303999" y="0"/>
                </a:lnTo>
                <a:cubicBezTo>
                  <a:pt x="3321673" y="0"/>
                  <a:pt x="3336000" y="14327"/>
                  <a:pt x="3336000" y="32001"/>
                </a:cubicBezTo>
                <a:lnTo>
                  <a:pt x="3336000" y="639999"/>
                </a:lnTo>
                <a:cubicBezTo>
                  <a:pt x="3336000" y="657673"/>
                  <a:pt x="3321673" y="672000"/>
                  <a:pt x="3303999" y="672000"/>
                </a:cubicBezTo>
                <a:lnTo>
                  <a:pt x="32001" y="672000"/>
                </a:lnTo>
                <a:cubicBezTo>
                  <a:pt x="14327" y="672000"/>
                  <a:pt x="0" y="657673"/>
                  <a:pt x="0" y="63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466934" y="3792000"/>
            <a:ext cx="313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Ziel: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66934" y="4016000"/>
            <a:ext cx="314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Systemkompetenz verbreiten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38934" y="4464000"/>
            <a:ext cx="3336000" cy="672000"/>
          </a:xfrm>
          <a:custGeom>
            <a:avLst/>
            <a:gdLst/>
            <a:ahLst/>
            <a:cxnLst/>
            <a:rect l="l" t="t" r="r" b="b"/>
            <a:pathLst>
              <a:path w="3336000" h="672000">
                <a:moveTo>
                  <a:pt x="32001" y="0"/>
                </a:moveTo>
                <a:lnTo>
                  <a:pt x="3303999" y="0"/>
                </a:lnTo>
                <a:cubicBezTo>
                  <a:pt x="3321673" y="0"/>
                  <a:pt x="3336000" y="14327"/>
                  <a:pt x="3336000" y="32001"/>
                </a:cubicBezTo>
                <a:lnTo>
                  <a:pt x="3336000" y="639999"/>
                </a:lnTo>
                <a:cubicBezTo>
                  <a:pt x="3336000" y="657673"/>
                  <a:pt x="3321673" y="672000"/>
                  <a:pt x="3303999" y="672000"/>
                </a:cubicBezTo>
                <a:lnTo>
                  <a:pt x="32001" y="672000"/>
                </a:lnTo>
                <a:cubicBezTo>
                  <a:pt x="14327" y="672000"/>
                  <a:pt x="0" y="657673"/>
                  <a:pt x="0" y="63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466934" y="4592000"/>
            <a:ext cx="313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C9A8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Formate: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66934" y="4816000"/>
            <a:ext cx="314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Workshops, Frameworks, Tools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38934" y="5389997"/>
            <a:ext cx="3336000" cy="6400"/>
          </a:xfrm>
          <a:custGeom>
            <a:avLst/>
            <a:gdLst/>
            <a:ahLst/>
            <a:cxnLst/>
            <a:rect l="l" t="t" r="r" b="b"/>
            <a:pathLst>
              <a:path w="3336000" h="6400">
                <a:moveTo>
                  <a:pt x="0" y="0"/>
                </a:moveTo>
                <a:lnTo>
                  <a:pt x="3336000" y="0"/>
                </a:lnTo>
                <a:lnTo>
                  <a:pt x="3336000" y="6400"/>
                </a:lnTo>
                <a:lnTo>
                  <a:pt x="0" y="64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338934" y="5521203"/>
            <a:ext cx="3400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mystifizieren. Sichtbar machen.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23200" y="6036403"/>
            <a:ext cx="11542400" cy="494400"/>
          </a:xfrm>
          <a:custGeom>
            <a:avLst/>
            <a:gdLst/>
            <a:ahLst/>
            <a:cxnLst/>
            <a:rect l="l" t="t" r="r" b="b"/>
            <a:pathLst>
              <a:path w="11542400" h="494400">
                <a:moveTo>
                  <a:pt x="64000" y="0"/>
                </a:moveTo>
                <a:lnTo>
                  <a:pt x="11478400" y="0"/>
                </a:lnTo>
                <a:cubicBezTo>
                  <a:pt x="11513746" y="0"/>
                  <a:pt x="11542400" y="28654"/>
                  <a:pt x="11542400" y="64000"/>
                </a:cubicBezTo>
                <a:lnTo>
                  <a:pt x="11542400" y="430400"/>
                </a:lnTo>
                <a:cubicBezTo>
                  <a:pt x="11542400" y="465746"/>
                  <a:pt x="11513746" y="494400"/>
                  <a:pt x="11478400" y="494400"/>
                </a:cubicBezTo>
                <a:lnTo>
                  <a:pt x="64000" y="494400"/>
                </a:lnTo>
                <a:cubicBezTo>
                  <a:pt x="28677" y="494400"/>
                  <a:pt x="0" y="465723"/>
                  <a:pt x="0" y="4304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8400" y="6167602"/>
            <a:ext cx="11352000" cy="2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34" b="1" dirty="0">
                <a:solidFill>
                  <a:srgbClr val="C9A8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Strategie:</a:t>
            </a:r>
            <a:pPr algn="ctr">
              <a:lnSpc>
                <a:spcPct val="140000"/>
              </a:lnSpc>
            </a:pPr>
            <a:r>
              <a:rPr lang="en-US" sz="1134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Kein sofortiges Tool-Bauen. Erst </a:t>
            </a:r>
            <a:pPr algn="ctr">
              <a:lnSpc>
                <a:spcPct val="140000"/>
              </a:lnSpc>
            </a:pPr>
            <a:r>
              <a:rPr lang="en-US" sz="1134" b="1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Verstehen durch Dokumentation</a:t>
            </a:r>
            <a:pPr algn="ctr">
              <a:lnSpc>
                <a:spcPct val="140000"/>
              </a:lnSpc>
            </a:pPr>
            <a:r>
              <a:rPr lang="en-US" sz="1134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, dann </a:t>
            </a:r>
            <a:pPr algn="ctr">
              <a:lnSpc>
                <a:spcPct val="140000"/>
              </a:lnSpc>
            </a:pPr>
            <a:r>
              <a:rPr lang="en-US" sz="1134" b="1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Validierung durch Community</a:t>
            </a:r>
            <a:pPr algn="ctr">
              <a:lnSpc>
                <a:spcPct val="140000"/>
              </a:lnSpc>
            </a:pPr>
            <a:r>
              <a:rPr lang="en-US" sz="1134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, dann </a:t>
            </a:r>
            <a:pPr algn="ctr">
              <a:lnSpc>
                <a:spcPct val="140000"/>
              </a:lnSpc>
            </a:pPr>
            <a:r>
              <a:rPr lang="en-US" sz="1134" b="1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Verbreitung durch Bildung</a:t>
            </a:r>
            <a:pPr algn="ctr">
              <a:lnSpc>
                <a:spcPct val="140000"/>
              </a:lnSpc>
            </a:pPr>
            <a:r>
              <a:rPr lang="en-US" sz="1134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63a99b703866a33845d661ba8cc37eaa94cc34d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6" b="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994662" y="69232"/>
            <a:ext cx="743415" cy="18585"/>
          </a:xfrm>
          <a:custGeom>
            <a:avLst/>
            <a:gdLst/>
            <a:ahLst/>
            <a:cxnLst/>
            <a:rect l="l" t="t" r="r" b="b"/>
            <a:pathLst>
              <a:path w="743415" h="18585">
                <a:moveTo>
                  <a:pt x="0" y="0"/>
                </a:moveTo>
                <a:lnTo>
                  <a:pt x="743415" y="0"/>
                </a:lnTo>
                <a:lnTo>
                  <a:pt x="743415" y="18585"/>
                </a:lnTo>
                <a:lnTo>
                  <a:pt x="0" y="1858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5" name="Shape 2"/>
          <p:cNvSpPr/>
          <p:nvPr/>
        </p:nvSpPr>
        <p:spPr>
          <a:xfrm>
            <a:off x="5886760" y="-88743"/>
            <a:ext cx="418171" cy="334537"/>
          </a:xfrm>
          <a:custGeom>
            <a:avLst/>
            <a:gdLst/>
            <a:ahLst/>
            <a:cxnLst/>
            <a:rect l="l" t="t" r="r" b="b"/>
            <a:pathLst>
              <a:path w="418171" h="334537">
                <a:moveTo>
                  <a:pt x="0" y="167268"/>
                </a:moveTo>
                <a:cubicBezTo>
                  <a:pt x="0" y="109508"/>
                  <a:pt x="46783" y="62726"/>
                  <a:pt x="104543" y="62726"/>
                </a:cubicBezTo>
                <a:cubicBezTo>
                  <a:pt x="137474" y="62726"/>
                  <a:pt x="168444" y="78211"/>
                  <a:pt x="188177" y="104543"/>
                </a:cubicBezTo>
                <a:lnTo>
                  <a:pt x="209085" y="132443"/>
                </a:lnTo>
                <a:lnTo>
                  <a:pt x="229994" y="104543"/>
                </a:lnTo>
                <a:cubicBezTo>
                  <a:pt x="249726" y="78211"/>
                  <a:pt x="280697" y="62726"/>
                  <a:pt x="313628" y="62726"/>
                </a:cubicBezTo>
                <a:cubicBezTo>
                  <a:pt x="371388" y="62726"/>
                  <a:pt x="418171" y="109508"/>
                  <a:pt x="418171" y="167268"/>
                </a:cubicBezTo>
                <a:cubicBezTo>
                  <a:pt x="418171" y="225028"/>
                  <a:pt x="371388" y="271811"/>
                  <a:pt x="313628" y="271811"/>
                </a:cubicBezTo>
                <a:cubicBezTo>
                  <a:pt x="280697" y="271811"/>
                  <a:pt x="249726" y="256326"/>
                  <a:pt x="229994" y="229994"/>
                </a:cubicBezTo>
                <a:lnTo>
                  <a:pt x="209085" y="202094"/>
                </a:lnTo>
                <a:lnTo>
                  <a:pt x="188177" y="229994"/>
                </a:lnTo>
                <a:cubicBezTo>
                  <a:pt x="168444" y="256326"/>
                  <a:pt x="137474" y="271811"/>
                  <a:pt x="104543" y="271811"/>
                </a:cubicBezTo>
                <a:cubicBezTo>
                  <a:pt x="46783" y="271811"/>
                  <a:pt x="0" y="225028"/>
                  <a:pt x="0" y="167268"/>
                </a:cubicBezTo>
                <a:close/>
                <a:moveTo>
                  <a:pt x="182950" y="167268"/>
                </a:moveTo>
                <a:lnTo>
                  <a:pt x="154723" y="129633"/>
                </a:lnTo>
                <a:cubicBezTo>
                  <a:pt x="142897" y="113821"/>
                  <a:pt x="124275" y="104543"/>
                  <a:pt x="104543" y="104543"/>
                </a:cubicBezTo>
                <a:cubicBezTo>
                  <a:pt x="69913" y="104543"/>
                  <a:pt x="41817" y="132639"/>
                  <a:pt x="41817" y="167268"/>
                </a:cubicBezTo>
                <a:cubicBezTo>
                  <a:pt x="41817" y="201898"/>
                  <a:pt x="69913" y="229994"/>
                  <a:pt x="104543" y="229994"/>
                </a:cubicBezTo>
                <a:cubicBezTo>
                  <a:pt x="124275" y="229994"/>
                  <a:pt x="142897" y="220716"/>
                  <a:pt x="154723" y="204904"/>
                </a:cubicBezTo>
                <a:lnTo>
                  <a:pt x="182950" y="167268"/>
                </a:lnTo>
                <a:close/>
                <a:moveTo>
                  <a:pt x="235221" y="167268"/>
                </a:moveTo>
                <a:lnTo>
                  <a:pt x="263448" y="204904"/>
                </a:lnTo>
                <a:cubicBezTo>
                  <a:pt x="275274" y="220716"/>
                  <a:pt x="293896" y="229994"/>
                  <a:pt x="313628" y="229994"/>
                </a:cubicBezTo>
                <a:cubicBezTo>
                  <a:pt x="348258" y="229994"/>
                  <a:pt x="376354" y="201898"/>
                  <a:pt x="376354" y="167268"/>
                </a:cubicBezTo>
                <a:cubicBezTo>
                  <a:pt x="376354" y="132639"/>
                  <a:pt x="348258" y="104543"/>
                  <a:pt x="313628" y="104543"/>
                </a:cubicBezTo>
                <a:cubicBezTo>
                  <a:pt x="293896" y="104543"/>
                  <a:pt x="275274" y="113821"/>
                  <a:pt x="263448" y="129633"/>
                </a:cubicBezTo>
                <a:lnTo>
                  <a:pt x="235221" y="167268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6" name="Shape 3"/>
          <p:cNvSpPr/>
          <p:nvPr/>
        </p:nvSpPr>
        <p:spPr>
          <a:xfrm>
            <a:off x="6453613" y="69232"/>
            <a:ext cx="743415" cy="18585"/>
          </a:xfrm>
          <a:custGeom>
            <a:avLst/>
            <a:gdLst/>
            <a:ahLst/>
            <a:cxnLst/>
            <a:rect l="l" t="t" r="r" b="b"/>
            <a:pathLst>
              <a:path w="743415" h="18585">
                <a:moveTo>
                  <a:pt x="0" y="0"/>
                </a:moveTo>
                <a:lnTo>
                  <a:pt x="743415" y="0"/>
                </a:lnTo>
                <a:lnTo>
                  <a:pt x="743415" y="18585"/>
                </a:lnTo>
                <a:lnTo>
                  <a:pt x="0" y="1858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7" name="Text 4"/>
          <p:cNvSpPr/>
          <p:nvPr/>
        </p:nvSpPr>
        <p:spPr>
          <a:xfrm>
            <a:off x="4703956" y="468818"/>
            <a:ext cx="2787805" cy="836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68" b="1" dirty="0">
                <a:solidFill>
                  <a:srgbClr val="E8E6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 Ziel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52431" y="1602525"/>
            <a:ext cx="1486829" cy="37171"/>
          </a:xfrm>
          <a:custGeom>
            <a:avLst/>
            <a:gdLst/>
            <a:ahLst/>
            <a:cxnLst/>
            <a:rect l="l" t="t" r="r" b="b"/>
            <a:pathLst>
              <a:path w="1486829" h="37171">
                <a:moveTo>
                  <a:pt x="0" y="0"/>
                </a:moveTo>
                <a:lnTo>
                  <a:pt x="1486829" y="0"/>
                </a:lnTo>
                <a:lnTo>
                  <a:pt x="1486829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9" name="Text 6"/>
          <p:cNvSpPr/>
          <p:nvPr/>
        </p:nvSpPr>
        <p:spPr>
          <a:xfrm>
            <a:off x="2543098" y="2308769"/>
            <a:ext cx="7108902" cy="54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634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Sichtbarkeit statt Mystik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19656" y="3231532"/>
            <a:ext cx="730405" cy="730405"/>
          </a:xfrm>
          <a:custGeom>
            <a:avLst/>
            <a:gdLst/>
            <a:ahLst/>
            <a:cxnLst/>
            <a:rect l="l" t="t" r="r" b="b"/>
            <a:pathLst>
              <a:path w="730405" h="730405">
                <a:moveTo>
                  <a:pt x="365202" y="0"/>
                </a:moveTo>
                <a:lnTo>
                  <a:pt x="365202" y="0"/>
                </a:lnTo>
                <a:cubicBezTo>
                  <a:pt x="566763" y="0"/>
                  <a:pt x="730405" y="163642"/>
                  <a:pt x="730405" y="365202"/>
                </a:cubicBezTo>
                <a:lnTo>
                  <a:pt x="730405" y="365202"/>
                </a:lnTo>
                <a:cubicBezTo>
                  <a:pt x="730405" y="566763"/>
                  <a:pt x="566763" y="730405"/>
                  <a:pt x="365202" y="730405"/>
                </a:cubicBezTo>
                <a:lnTo>
                  <a:pt x="365202" y="730405"/>
                </a:lnTo>
                <a:cubicBezTo>
                  <a:pt x="163642" y="730405"/>
                  <a:pt x="0" y="566763"/>
                  <a:pt x="0" y="365202"/>
                </a:cubicBezTo>
                <a:lnTo>
                  <a:pt x="0" y="365202"/>
                </a:lnTo>
                <a:cubicBezTo>
                  <a:pt x="0" y="163642"/>
                  <a:pt x="163642" y="0"/>
                  <a:pt x="365202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0320">
            <a:solidFill>
              <a:srgbClr val="4A6C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9439" y="3456415"/>
            <a:ext cx="313628" cy="278780"/>
          </a:xfrm>
          <a:custGeom>
            <a:avLst/>
            <a:gdLst/>
            <a:ahLst/>
            <a:cxnLst/>
            <a:rect l="l" t="t" r="r" b="b"/>
            <a:pathLst>
              <a:path w="313628" h="278780">
                <a:moveTo>
                  <a:pt x="156814" y="17424"/>
                </a:moveTo>
                <a:cubicBezTo>
                  <a:pt x="112819" y="17424"/>
                  <a:pt x="77590" y="37461"/>
                  <a:pt x="51945" y="61310"/>
                </a:cubicBezTo>
                <a:cubicBezTo>
                  <a:pt x="26462" y="84995"/>
                  <a:pt x="9420" y="113255"/>
                  <a:pt x="1307" y="132693"/>
                </a:cubicBezTo>
                <a:cubicBezTo>
                  <a:pt x="-490" y="136994"/>
                  <a:pt x="-490" y="141786"/>
                  <a:pt x="1307" y="146088"/>
                </a:cubicBezTo>
                <a:cubicBezTo>
                  <a:pt x="9420" y="165526"/>
                  <a:pt x="26462" y="193840"/>
                  <a:pt x="51945" y="217471"/>
                </a:cubicBezTo>
                <a:cubicBezTo>
                  <a:pt x="77590" y="241265"/>
                  <a:pt x="112819" y="261357"/>
                  <a:pt x="156814" y="261357"/>
                </a:cubicBezTo>
                <a:cubicBezTo>
                  <a:pt x="200809" y="261357"/>
                  <a:pt x="236038" y="241319"/>
                  <a:pt x="261683" y="217471"/>
                </a:cubicBezTo>
                <a:cubicBezTo>
                  <a:pt x="287166" y="193785"/>
                  <a:pt x="304208" y="165526"/>
                  <a:pt x="312321" y="146088"/>
                </a:cubicBezTo>
                <a:cubicBezTo>
                  <a:pt x="314118" y="141786"/>
                  <a:pt x="314118" y="136994"/>
                  <a:pt x="312321" y="132693"/>
                </a:cubicBezTo>
                <a:cubicBezTo>
                  <a:pt x="304208" y="113255"/>
                  <a:pt x="287166" y="84941"/>
                  <a:pt x="261683" y="61310"/>
                </a:cubicBezTo>
                <a:cubicBezTo>
                  <a:pt x="236038" y="37516"/>
                  <a:pt x="200809" y="17424"/>
                  <a:pt x="156814" y="17424"/>
                </a:cubicBezTo>
                <a:close/>
                <a:moveTo>
                  <a:pt x="78407" y="139390"/>
                </a:moveTo>
                <a:cubicBezTo>
                  <a:pt x="78407" y="96116"/>
                  <a:pt x="113540" y="60983"/>
                  <a:pt x="156814" y="60983"/>
                </a:cubicBezTo>
                <a:cubicBezTo>
                  <a:pt x="200088" y="60983"/>
                  <a:pt x="235221" y="96116"/>
                  <a:pt x="235221" y="139390"/>
                </a:cubicBezTo>
                <a:cubicBezTo>
                  <a:pt x="235221" y="182664"/>
                  <a:pt x="200088" y="217797"/>
                  <a:pt x="156814" y="217797"/>
                </a:cubicBezTo>
                <a:cubicBezTo>
                  <a:pt x="113540" y="217797"/>
                  <a:pt x="78407" y="182664"/>
                  <a:pt x="78407" y="139390"/>
                </a:cubicBezTo>
                <a:close/>
                <a:moveTo>
                  <a:pt x="156814" y="104543"/>
                </a:moveTo>
                <a:cubicBezTo>
                  <a:pt x="156814" y="123763"/>
                  <a:pt x="141187" y="139390"/>
                  <a:pt x="121966" y="139390"/>
                </a:cubicBezTo>
                <a:cubicBezTo>
                  <a:pt x="115705" y="139390"/>
                  <a:pt x="109824" y="137757"/>
                  <a:pt x="104706" y="134817"/>
                </a:cubicBezTo>
                <a:cubicBezTo>
                  <a:pt x="104162" y="140751"/>
                  <a:pt x="104652" y="146850"/>
                  <a:pt x="106285" y="152894"/>
                </a:cubicBezTo>
                <a:cubicBezTo>
                  <a:pt x="113745" y="180772"/>
                  <a:pt x="142439" y="197324"/>
                  <a:pt x="170317" y="189865"/>
                </a:cubicBezTo>
                <a:cubicBezTo>
                  <a:pt x="198196" y="182405"/>
                  <a:pt x="214748" y="153710"/>
                  <a:pt x="207289" y="125832"/>
                </a:cubicBezTo>
                <a:cubicBezTo>
                  <a:pt x="200646" y="100949"/>
                  <a:pt x="177069" y="85104"/>
                  <a:pt x="152240" y="87282"/>
                </a:cubicBezTo>
                <a:cubicBezTo>
                  <a:pt x="155126" y="92346"/>
                  <a:pt x="156814" y="98227"/>
                  <a:pt x="156814" y="104543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Text 9"/>
          <p:cNvSpPr/>
          <p:nvPr/>
        </p:nvSpPr>
        <p:spPr>
          <a:xfrm>
            <a:off x="2580268" y="4116196"/>
            <a:ext cx="2211659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3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mystifizieren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89561" y="4450732"/>
            <a:ext cx="219307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Esoterik, keine Magie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31572" y="3231532"/>
            <a:ext cx="730405" cy="730405"/>
          </a:xfrm>
          <a:custGeom>
            <a:avLst/>
            <a:gdLst/>
            <a:ahLst/>
            <a:cxnLst/>
            <a:rect l="l" t="t" r="r" b="b"/>
            <a:pathLst>
              <a:path w="730405" h="730405">
                <a:moveTo>
                  <a:pt x="365202" y="0"/>
                </a:moveTo>
                <a:lnTo>
                  <a:pt x="365202" y="0"/>
                </a:lnTo>
                <a:cubicBezTo>
                  <a:pt x="566763" y="0"/>
                  <a:pt x="730405" y="163642"/>
                  <a:pt x="730405" y="365202"/>
                </a:cubicBezTo>
                <a:lnTo>
                  <a:pt x="730405" y="365202"/>
                </a:lnTo>
                <a:cubicBezTo>
                  <a:pt x="730405" y="566763"/>
                  <a:pt x="566763" y="730405"/>
                  <a:pt x="365202" y="730405"/>
                </a:cubicBezTo>
                <a:lnTo>
                  <a:pt x="365202" y="730405"/>
                </a:lnTo>
                <a:cubicBezTo>
                  <a:pt x="163642" y="730405"/>
                  <a:pt x="0" y="566763"/>
                  <a:pt x="0" y="365202"/>
                </a:cubicBezTo>
                <a:lnTo>
                  <a:pt x="0" y="365202"/>
                </a:lnTo>
                <a:cubicBezTo>
                  <a:pt x="0" y="163642"/>
                  <a:pt x="163642" y="0"/>
                  <a:pt x="365202" y="0"/>
                </a:cubicBezTo>
                <a:close/>
              </a:path>
            </a:pathLst>
          </a:custGeom>
          <a:solidFill>
            <a:srgbClr val="8B9A7C">
              <a:alpha val="30196"/>
            </a:srgbClr>
          </a:solidFill>
          <a:ln w="20320">
            <a:solidFill>
              <a:srgbClr val="8B9A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58778" y="3456415"/>
            <a:ext cx="278780" cy="278780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239305" y="3811"/>
                </a:moveTo>
                <a:cubicBezTo>
                  <a:pt x="244423" y="-1307"/>
                  <a:pt x="252699" y="-1307"/>
                  <a:pt x="257763" y="3811"/>
                </a:cubicBezTo>
                <a:lnTo>
                  <a:pt x="275187" y="21235"/>
                </a:lnTo>
                <a:cubicBezTo>
                  <a:pt x="280305" y="26353"/>
                  <a:pt x="280305" y="34630"/>
                  <a:pt x="275187" y="39694"/>
                </a:cubicBezTo>
                <a:lnTo>
                  <a:pt x="227816" y="87064"/>
                </a:lnTo>
                <a:lnTo>
                  <a:pt x="249051" y="108300"/>
                </a:lnTo>
                <a:cubicBezTo>
                  <a:pt x="252808" y="112057"/>
                  <a:pt x="253897" y="117665"/>
                  <a:pt x="251883" y="122565"/>
                </a:cubicBezTo>
                <a:cubicBezTo>
                  <a:pt x="249868" y="127466"/>
                  <a:pt x="245131" y="130678"/>
                  <a:pt x="239849" y="130678"/>
                </a:cubicBezTo>
                <a:lnTo>
                  <a:pt x="161442" y="130678"/>
                </a:lnTo>
                <a:cubicBezTo>
                  <a:pt x="154200" y="130678"/>
                  <a:pt x="148374" y="124852"/>
                  <a:pt x="148374" y="117611"/>
                </a:cubicBezTo>
                <a:lnTo>
                  <a:pt x="148374" y="39204"/>
                </a:lnTo>
                <a:cubicBezTo>
                  <a:pt x="148374" y="33922"/>
                  <a:pt x="151532" y="29130"/>
                  <a:pt x="156433" y="27116"/>
                </a:cubicBezTo>
                <a:cubicBezTo>
                  <a:pt x="161333" y="25101"/>
                  <a:pt x="166942" y="26190"/>
                  <a:pt x="170699" y="29947"/>
                </a:cubicBezTo>
                <a:lnTo>
                  <a:pt x="191934" y="51182"/>
                </a:lnTo>
                <a:lnTo>
                  <a:pt x="239305" y="3811"/>
                </a:lnTo>
                <a:close/>
                <a:moveTo>
                  <a:pt x="39476" y="148102"/>
                </a:moveTo>
                <a:lnTo>
                  <a:pt x="117883" y="148102"/>
                </a:lnTo>
                <a:cubicBezTo>
                  <a:pt x="125125" y="148102"/>
                  <a:pt x="130951" y="153928"/>
                  <a:pt x="130951" y="161170"/>
                </a:cubicBezTo>
                <a:lnTo>
                  <a:pt x="130951" y="239577"/>
                </a:lnTo>
                <a:cubicBezTo>
                  <a:pt x="130951" y="244859"/>
                  <a:pt x="127793" y="249650"/>
                  <a:pt x="122892" y="251665"/>
                </a:cubicBezTo>
                <a:cubicBezTo>
                  <a:pt x="117992" y="253679"/>
                  <a:pt x="112383" y="252590"/>
                  <a:pt x="108626" y="248833"/>
                </a:cubicBezTo>
                <a:lnTo>
                  <a:pt x="87391" y="227598"/>
                </a:lnTo>
                <a:lnTo>
                  <a:pt x="40020" y="274969"/>
                </a:lnTo>
                <a:cubicBezTo>
                  <a:pt x="34902" y="280087"/>
                  <a:pt x="26626" y="280087"/>
                  <a:pt x="21562" y="274969"/>
                </a:cubicBezTo>
                <a:lnTo>
                  <a:pt x="4138" y="257545"/>
                </a:lnTo>
                <a:cubicBezTo>
                  <a:pt x="-980" y="252427"/>
                  <a:pt x="-980" y="244151"/>
                  <a:pt x="4138" y="239087"/>
                </a:cubicBezTo>
                <a:lnTo>
                  <a:pt x="51509" y="191716"/>
                </a:lnTo>
                <a:lnTo>
                  <a:pt x="30274" y="170481"/>
                </a:lnTo>
                <a:cubicBezTo>
                  <a:pt x="26517" y="166724"/>
                  <a:pt x="25428" y="161116"/>
                  <a:pt x="27442" y="156215"/>
                </a:cubicBezTo>
                <a:cubicBezTo>
                  <a:pt x="29457" y="151315"/>
                  <a:pt x="34194" y="148102"/>
                  <a:pt x="39476" y="148102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16" name="Text 13"/>
          <p:cNvSpPr/>
          <p:nvPr/>
        </p:nvSpPr>
        <p:spPr>
          <a:xfrm>
            <a:off x="4992184" y="4116196"/>
            <a:ext cx="2211659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3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dramatisieren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01477" y="4450732"/>
            <a:ext cx="219307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Angst, keine Hysterie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43488" y="3231532"/>
            <a:ext cx="730405" cy="730405"/>
          </a:xfrm>
          <a:custGeom>
            <a:avLst/>
            <a:gdLst/>
            <a:ahLst/>
            <a:cxnLst/>
            <a:rect l="l" t="t" r="r" b="b"/>
            <a:pathLst>
              <a:path w="730405" h="730405">
                <a:moveTo>
                  <a:pt x="365202" y="0"/>
                </a:moveTo>
                <a:lnTo>
                  <a:pt x="365202" y="0"/>
                </a:lnTo>
                <a:cubicBezTo>
                  <a:pt x="566763" y="0"/>
                  <a:pt x="730405" y="163642"/>
                  <a:pt x="730405" y="365202"/>
                </a:cubicBezTo>
                <a:lnTo>
                  <a:pt x="730405" y="365202"/>
                </a:lnTo>
                <a:cubicBezTo>
                  <a:pt x="730405" y="566763"/>
                  <a:pt x="566763" y="730405"/>
                  <a:pt x="365202" y="730405"/>
                </a:cubicBezTo>
                <a:lnTo>
                  <a:pt x="365202" y="730405"/>
                </a:lnTo>
                <a:cubicBezTo>
                  <a:pt x="163642" y="730405"/>
                  <a:pt x="0" y="566763"/>
                  <a:pt x="0" y="365202"/>
                </a:cubicBezTo>
                <a:lnTo>
                  <a:pt x="0" y="365202"/>
                </a:lnTo>
                <a:cubicBezTo>
                  <a:pt x="0" y="163642"/>
                  <a:pt x="163642" y="0"/>
                  <a:pt x="365202" y="0"/>
                </a:cubicBezTo>
                <a:close/>
              </a:path>
            </a:pathLst>
          </a:custGeom>
          <a:solidFill>
            <a:srgbClr val="C9A86A">
              <a:alpha val="30196"/>
            </a:srgbClr>
          </a:solidFill>
          <a:ln w="20320">
            <a:solidFill>
              <a:srgbClr val="C9A8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88118" y="3456415"/>
            <a:ext cx="243933" cy="278780"/>
          </a:xfrm>
          <a:custGeom>
            <a:avLst/>
            <a:gdLst/>
            <a:ahLst/>
            <a:cxnLst/>
            <a:rect l="l" t="t" r="r" b="b"/>
            <a:pathLst>
              <a:path w="243933" h="278780">
                <a:moveTo>
                  <a:pt x="34848" y="17424"/>
                </a:moveTo>
                <a:cubicBezTo>
                  <a:pt x="34848" y="7786"/>
                  <a:pt x="27061" y="0"/>
                  <a:pt x="17424" y="0"/>
                </a:cubicBezTo>
                <a:cubicBezTo>
                  <a:pt x="7786" y="0"/>
                  <a:pt x="0" y="7786"/>
                  <a:pt x="0" y="17424"/>
                </a:cubicBezTo>
                <a:lnTo>
                  <a:pt x="0" y="261357"/>
                </a:lnTo>
                <a:cubicBezTo>
                  <a:pt x="0" y="270994"/>
                  <a:pt x="7786" y="278780"/>
                  <a:pt x="17424" y="278780"/>
                </a:cubicBezTo>
                <a:cubicBezTo>
                  <a:pt x="27061" y="278780"/>
                  <a:pt x="34848" y="270994"/>
                  <a:pt x="34848" y="261357"/>
                </a:cubicBezTo>
                <a:lnTo>
                  <a:pt x="34848" y="195146"/>
                </a:lnTo>
                <a:lnTo>
                  <a:pt x="68987" y="184910"/>
                </a:lnTo>
                <a:cubicBezTo>
                  <a:pt x="91802" y="178049"/>
                  <a:pt x="116413" y="180173"/>
                  <a:pt x="137702" y="190845"/>
                </a:cubicBezTo>
                <a:cubicBezTo>
                  <a:pt x="160952" y="202497"/>
                  <a:pt x="188068" y="203913"/>
                  <a:pt x="212407" y="194765"/>
                </a:cubicBezTo>
                <a:lnTo>
                  <a:pt x="232607" y="187197"/>
                </a:lnTo>
                <a:cubicBezTo>
                  <a:pt x="239414" y="184638"/>
                  <a:pt x="243933" y="178158"/>
                  <a:pt x="243933" y="170862"/>
                </a:cubicBezTo>
                <a:lnTo>
                  <a:pt x="243933" y="35991"/>
                </a:lnTo>
                <a:cubicBezTo>
                  <a:pt x="243933" y="23468"/>
                  <a:pt x="230756" y="15300"/>
                  <a:pt x="219540" y="20909"/>
                </a:cubicBezTo>
                <a:lnTo>
                  <a:pt x="213115" y="24121"/>
                </a:lnTo>
                <a:cubicBezTo>
                  <a:pt x="188667" y="36372"/>
                  <a:pt x="159863" y="36372"/>
                  <a:pt x="135361" y="24121"/>
                </a:cubicBezTo>
                <a:cubicBezTo>
                  <a:pt x="115541" y="14211"/>
                  <a:pt x="92727" y="12251"/>
                  <a:pt x="71546" y="18622"/>
                </a:cubicBezTo>
                <a:lnTo>
                  <a:pt x="34848" y="29620"/>
                </a:lnTo>
                <a:lnTo>
                  <a:pt x="34848" y="17424"/>
                </a:ln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20" name="Text 17"/>
          <p:cNvSpPr/>
          <p:nvPr/>
        </p:nvSpPr>
        <p:spPr>
          <a:xfrm>
            <a:off x="7404100" y="4116196"/>
            <a:ext cx="2211659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3" b="1" dirty="0">
                <a:solidFill>
                  <a:srgbClr val="E8E6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ideologisieren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13393" y="4450732"/>
            <a:ext cx="219307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8E6E3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Keine Dogmen, keine Parteien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630449" y="4974840"/>
            <a:ext cx="6930483" cy="1373459"/>
          </a:xfrm>
          <a:custGeom>
            <a:avLst/>
            <a:gdLst/>
            <a:ahLst/>
            <a:cxnLst/>
            <a:rect l="l" t="t" r="r" b="b"/>
            <a:pathLst>
              <a:path w="6930483" h="1373459">
                <a:moveTo>
                  <a:pt x="74345" y="0"/>
                </a:moveTo>
                <a:lnTo>
                  <a:pt x="6856138" y="0"/>
                </a:lnTo>
                <a:cubicBezTo>
                  <a:pt x="6897170" y="0"/>
                  <a:pt x="6930483" y="33313"/>
                  <a:pt x="6930483" y="74345"/>
                </a:cubicBezTo>
                <a:lnTo>
                  <a:pt x="6930483" y="1299113"/>
                </a:lnTo>
                <a:cubicBezTo>
                  <a:pt x="6930483" y="1340146"/>
                  <a:pt x="6897170" y="1373459"/>
                  <a:pt x="6856138" y="1373459"/>
                </a:cubicBezTo>
                <a:lnTo>
                  <a:pt x="74345" y="1373459"/>
                </a:lnTo>
                <a:cubicBezTo>
                  <a:pt x="33313" y="1373459"/>
                  <a:pt x="0" y="1340146"/>
                  <a:pt x="0" y="1299113"/>
                </a:cubicBezTo>
                <a:lnTo>
                  <a:pt x="0" y="74345"/>
                </a:lnTo>
                <a:cubicBezTo>
                  <a:pt x="0" y="33313"/>
                  <a:pt x="33313" y="0"/>
                  <a:pt x="74345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75776" y="5275921"/>
            <a:ext cx="6439829" cy="362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56" dirty="0">
                <a:solidFill>
                  <a:srgbClr val="E8E6E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Ein Raum, in dem Systeme und Menschen koexistieren können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85068" y="5787018"/>
            <a:ext cx="6421244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3" dirty="0">
                <a:solidFill>
                  <a:srgbClr val="C9A8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Ohne Optimierungszwang · Auf Augenhöhe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41905" y="6779475"/>
            <a:ext cx="111512" cy="111512"/>
          </a:xfrm>
          <a:custGeom>
            <a:avLst/>
            <a:gdLst/>
            <a:ahLst/>
            <a:cxnLst/>
            <a:rect l="l" t="t" r="r" b="b"/>
            <a:pathLst>
              <a:path w="111512" h="111512">
                <a:moveTo>
                  <a:pt x="0" y="55756"/>
                </a:moveTo>
                <a:cubicBezTo>
                  <a:pt x="0" y="24983"/>
                  <a:pt x="24983" y="0"/>
                  <a:pt x="55756" y="0"/>
                </a:cubicBezTo>
                <a:cubicBezTo>
                  <a:pt x="86529" y="0"/>
                  <a:pt x="111512" y="24983"/>
                  <a:pt x="111512" y="55756"/>
                </a:cubicBezTo>
                <a:cubicBezTo>
                  <a:pt x="111512" y="86529"/>
                  <a:pt x="86529" y="111512"/>
                  <a:pt x="55756" y="111512"/>
                </a:cubicBezTo>
                <a:cubicBezTo>
                  <a:pt x="24983" y="111512"/>
                  <a:pt x="0" y="86529"/>
                  <a:pt x="0" y="55756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3"/>
          <p:cNvSpPr/>
          <p:nvPr/>
        </p:nvSpPr>
        <p:spPr>
          <a:xfrm>
            <a:off x="4004527" y="6723719"/>
            <a:ext cx="1226634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8E6E3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Live-Life-Support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27391" y="6779475"/>
            <a:ext cx="111512" cy="111512"/>
          </a:xfrm>
          <a:custGeom>
            <a:avLst/>
            <a:gdLst/>
            <a:ahLst/>
            <a:cxnLst/>
            <a:rect l="l" t="t" r="r" b="b"/>
            <a:pathLst>
              <a:path w="111512" h="111512">
                <a:moveTo>
                  <a:pt x="0" y="55756"/>
                </a:moveTo>
                <a:cubicBezTo>
                  <a:pt x="0" y="24983"/>
                  <a:pt x="24983" y="0"/>
                  <a:pt x="55756" y="0"/>
                </a:cubicBezTo>
                <a:cubicBezTo>
                  <a:pt x="86529" y="0"/>
                  <a:pt x="111512" y="24983"/>
                  <a:pt x="111512" y="55756"/>
                </a:cubicBezTo>
                <a:cubicBezTo>
                  <a:pt x="111512" y="86529"/>
                  <a:pt x="86529" y="111512"/>
                  <a:pt x="55756" y="111512"/>
                </a:cubicBezTo>
                <a:cubicBezTo>
                  <a:pt x="24983" y="111512"/>
                  <a:pt x="0" y="86529"/>
                  <a:pt x="0" y="55756"/>
                </a:cubicBezTo>
                <a:close/>
              </a:path>
            </a:pathLst>
          </a:custGeom>
          <a:solidFill>
            <a:srgbClr val="8B9A7C"/>
          </a:solidFill>
          <a:ln/>
        </p:spPr>
      </p:sp>
      <p:sp>
        <p:nvSpPr>
          <p:cNvPr id="28" name="Text 25"/>
          <p:cNvSpPr/>
          <p:nvPr/>
        </p:nvSpPr>
        <p:spPr>
          <a:xfrm>
            <a:off x="5590013" y="6723719"/>
            <a:ext cx="139390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8E6E3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Systembeobachtung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184328" y="6779475"/>
            <a:ext cx="111512" cy="111512"/>
          </a:xfrm>
          <a:custGeom>
            <a:avLst/>
            <a:gdLst/>
            <a:ahLst/>
            <a:cxnLst/>
            <a:rect l="l" t="t" r="r" b="b"/>
            <a:pathLst>
              <a:path w="111512" h="111512">
                <a:moveTo>
                  <a:pt x="0" y="55756"/>
                </a:moveTo>
                <a:cubicBezTo>
                  <a:pt x="0" y="24983"/>
                  <a:pt x="24983" y="0"/>
                  <a:pt x="55756" y="0"/>
                </a:cubicBezTo>
                <a:cubicBezTo>
                  <a:pt x="86529" y="0"/>
                  <a:pt x="111512" y="24983"/>
                  <a:pt x="111512" y="55756"/>
                </a:cubicBezTo>
                <a:cubicBezTo>
                  <a:pt x="111512" y="86529"/>
                  <a:pt x="86529" y="111512"/>
                  <a:pt x="55756" y="111512"/>
                </a:cubicBezTo>
                <a:cubicBezTo>
                  <a:pt x="24983" y="111512"/>
                  <a:pt x="0" y="86529"/>
                  <a:pt x="0" y="55756"/>
                </a:cubicBezTo>
                <a:close/>
              </a:path>
            </a:pathLst>
          </a:custGeom>
          <a:solidFill>
            <a:srgbClr val="C9A86A"/>
          </a:solidFill>
          <a:ln/>
        </p:spPr>
      </p:sp>
      <p:sp>
        <p:nvSpPr>
          <p:cNvPr id="30" name="Text 27"/>
          <p:cNvSpPr/>
          <p:nvPr/>
        </p:nvSpPr>
        <p:spPr>
          <a:xfrm>
            <a:off x="7346950" y="6723719"/>
            <a:ext cx="105007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8E6E3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KI-Governance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Live-Life-Support3</dc:title>
  <dc:subject>Live-Life-Support3</dc:subject>
  <dc:creator>Kimi</dc:creator>
  <cp:lastModifiedBy>Kimi</cp:lastModifiedBy>
  <cp:revision>1</cp:revision>
  <dcterms:created xsi:type="dcterms:W3CDTF">2026-02-22T19:22:00Z</dcterms:created>
  <dcterms:modified xsi:type="dcterms:W3CDTF">2026-02-22T19:22:00Z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{"Label":"Live-Life-Support3","ContentProducer":"001191110108MACG2KBH8F10000","ProduceID":"19c86c94-e342-8e63-8000-00005c26626e","ReservedCode1":"","ContentPropagator":"001191110108MACG2KBH8F20000","PropagateID":"19c86c94-e342-8e63-8000-00005c26626e","ReservedCode2":""}</vt:lpwstr>
  </property>
</Properties>
</file>